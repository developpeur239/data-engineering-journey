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jet" id="{332ec4e3-3d97-67e8-172b-761eba18260a}">
          <p14:sldIdLst>
            <p14:sldId id="256"/>
            <p14:sldId id="257"/>
            <p14:sldId id="258"/>
          </p14:sldIdLst>
        </p14:section>
        <p14:section name="Sources" id="{9739c062-4b95-55f6-215a-12113b824230}">
          <p14:sldIdLst>
            <p14:sldId id="259"/>
            <p14:sldId id="260"/>
          </p14:sldIdLst>
        </p14:section>
        <p14:section name="Architecture" id="{c70b37a5-bbb2-b73f-eced-840d7ee9015f}">
          <p14:sldIdLst>
            <p14:sldId id="261"/>
            <p14:sldId id="262"/>
          </p14:sldIdLst>
        </p14:section>
        <p14:section name="Analyse" id="{1cb659ac-f383-dd16-3bbb-131884df6b6c}">
          <p14:sldIdLst>
            <p14:sldId id="263"/>
            <p14:sldId id="264"/>
          </p14:sldIdLst>
        </p14:section>
        <p14:section name="Risques" id="{e9835895-f0c5-8ec0-b8a8-b3d9e181121d}">
          <p14:sldIdLst>
            <p14:sldId id="265"/>
            <p14:sldId id="266"/>
            <p14:sldId id="267"/>
          </p14:sldIdLst>
        </p14:section>
        <p14:section name="Conclusion" id="{cc1f61fd-d005-9213-dfc5-a94c99175ef3}">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sujet du projet Datalake Azure. Sujet : les pénuries (aucun vélo) et saturations (aucune borne libre) des stations Vélib’, et le rôle de la météo.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métier telle que formulée dans la fiche. Utilité : aider l’exploitant à décider où et quand rééquilibrer les stations (camions de redistribution) et informer les usagers des zones à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Cadrage : 1 semaine de collecte (7 jours), Paris intra-muros et petite couronne (environ 1 500 stations), un appel toutes les 5 minutes. 464 Ko par appel, environ 134 Mo par jour, environ 1 Go brut sur la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API Vélib’ GBFS station_status (JSON imbriqué, mis à jour chaque minute, collecté toutes les 5 minutes), station_information (quasi statique, 1 collecte par jour), Open-Meteo (horaire, 1 collecte par jour) et un CSV calendrier (fériés, vacances).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un datalake : Vélib’ ne conserve aucun historique, il faut le construire soi-même par collecte régulière. Les données ont des formats et des rythmes différents (JSON imbriqué à la minute, JSON horaire, CSV) et le brut doit être conservé pour pouvoir rejouer les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 : Sources (appels HTTP publics) → Bronze (Azure Functions déclenchée toutes les 5 minutes, écriture dans ADLS Gen2, conteneur bronze) → Silver (script Python pandas/DuckDB une fois par jour, Parquet) → Gold (agrégations Python, Parquet) → Power BI Desktop. Choix : stockage LRS, un seul groupe de ressources pour tout supprimer en fin de projet, pas de cluster de calcul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 copies brutes des réponses JSON, partitionnées par date et heure de collecte, avec un manifeste par fichier (URL source, heure de collecte UTC, code HTTP, taille, empreinte sha256, nombre de stations). Silver : stations normalisées, horodatage corrigé, identifiant en bigint, jointure météo à l’heure de Paris. Gold : taux de pénurie et de saturation par station et par heure, par arrondissement, par météo.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de la fiche : taux de pénurie (part des relevés sans vélo disponible), taux de saturation (part des relevés sans borne libre), durée moyenne d’un épisode de pénurie, nombre de stations critiques par heure. Les formules en italique sont une proposition de calcul à partir des relevés toutes les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 heure de la journée, jour de la semaine et week-end/férié, arrondissement ou zone, météo (pluie ou non, tranches de température), type de vélo. Visualisations : carte des stations colorée par taux de pénurie, heatmap heure × jour, courbes de pénurie pluie/sec, classement des 20 stations les plus critiques. La recommandation est un exemple, à valider sur les données réellement collectées.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Risques qualité constatés lors des tests du 5 octobre 2026 : last_reported mis à jour par lots avec environ 20 minutes de retard ; stations hors service (is_installed ou is_renting à 0) ; ttl annoncé de 3 600 s qui ne reflète pas la fréquence réelle ; identifiants de station supérieurs à 2^31.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RGPD : aucune donnée personnelle, seulement des compteurs agrégés par station. Limites : une seule semaine d’historique, un seul point météo pour tout Paris, quota gratuit d’Open-Meteo, et la corrélation observée n’est pas une preuve de causalité.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Coût : crédit étudiant limité à 100 dollars. Le stockage est quasi gratuit à ce volume ; le risque principal est un service de calcul laissé allumé. Parades : pas de cluster permanent, alertes de budget à 20, 50 et 80 dollars, suppression du groupe de ressources en fin de projet. Estimation : 5 à 15 dollars sur la semaine, à confirmer avec le calculateur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Sortie attendue : page de cadrage à valider avant de construire. Les sources ont été testées le 5 octobre 2026 (accès, format, jointure Vélib’ ↔ météo : 1 519 stations sur 1 519 jointes).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65960"/>
            <a:ext cx="76809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86200"/>
            <a:ext cx="7680960" cy="82296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731520" y="5760720"/>
            <a:ext cx="10698480" cy="41148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tx2"/>
                </a:solidFill>
              </a:rPr>
              <a:t>Datalake Azure · Vélib’ × météo · M2 Data</a:t>
            </a:r>
            <a:endParaRPr lang="en-US" sz="1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teinté">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tx2"/>
                </a:solidFill>
              </a:rPr>
              <a:t>Datalake Azure · Vélib’ × météo · M2 Data</a:t>
            </a:r>
            <a:endParaRPr lang="en-US" sz="1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Datalake Azure · Vélib’ × météo · M2 Data</a:t>
            </a:r>
            <a:endParaRPr lang="en-US" sz="1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38160" y="1005840"/>
            <a:ext cx="3657600" cy="3657600"/>
          </a:xfrm>
          <a:prstGeom prst="rect">
            <a:avLst/>
          </a:prstGeom>
        </p:spPr>
      </p:pic>
      <p:sp>
        <p:nvSpPr>
          <p:cNvPr id="3" name="Motif vélo"/>
          <p:cNvSpPr/>
          <p:nvPr/>
        </p:nvSpPr>
        <p:spPr>
          <a:xfrm>
            <a:off x="731520" y="960120"/>
            <a:ext cx="685800" cy="685800"/>
          </a:xfrm>
          <a:prstGeom prst="ellipse">
            <a:avLst/>
          </a:prstGeom>
          <a:solidFill>
            <a:schemeClr val="accent1"/>
          </a:solidFill>
          <a:ln/>
        </p:spPr>
      </p:sp>
      <p:pic>
        <p:nvPicPr>
          <p:cNvPr id="4" name="Image 1" descr="preencoded.png">    </p:cNvPr>
          <p:cNvPicPr>
            <a:picLocks noChangeAspect="1"/>
          </p:cNvPicPr>
          <p:nvPr/>
        </p:nvPicPr>
        <p:blipFill>
          <a:blip r:embed="rId2"/>
          <a:stretch>
            <a:fillRect/>
          </a:stretch>
        </p:blipFill>
        <p:spPr>
          <a:xfrm>
            <a:off x="902970" y="1131570"/>
            <a:ext cx="342900" cy="342900"/>
          </a:xfrm>
          <a:prstGeom prst="rect">
            <a:avLst/>
          </a:prstGeom>
        </p:spPr>
      </p:pic>
      <p:sp>
        <p:nvSpPr>
          <p:cNvPr id="5" name="Motif météo"/>
          <p:cNvSpPr/>
          <p:nvPr/>
        </p:nvSpPr>
        <p:spPr>
          <a:xfrm>
            <a:off x="1600200" y="960120"/>
            <a:ext cx="685800" cy="685800"/>
          </a:xfrm>
          <a:prstGeom prst="ellipse">
            <a:avLst/>
          </a:prstGeom>
          <a:solidFill>
            <a:schemeClr val="accent2"/>
          </a:solidFill>
          <a:ln/>
        </p:spPr>
      </p:sp>
      <p:pic>
        <p:nvPicPr>
          <p:cNvPr id="6" name="Image 2" descr="preencoded.png">    </p:cNvPr>
          <p:cNvPicPr>
            <a:picLocks noChangeAspect="1"/>
          </p:cNvPicPr>
          <p:nvPr/>
        </p:nvPicPr>
        <p:blipFill>
          <a:blip r:embed="rId3"/>
          <a:stretch>
            <a:fillRect/>
          </a:stretch>
        </p:blipFill>
        <p:spPr>
          <a:xfrm>
            <a:off x="1771650" y="1131570"/>
            <a:ext cx="342900" cy="342900"/>
          </a:xfrm>
          <a:prstGeom prst="rect">
            <a:avLst/>
          </a:prstGeom>
        </p:spPr>
      </p:pic>
      <p:sp>
        <p:nvSpPr>
          <p:cNvPr id="7" name="Motif datalake"/>
          <p:cNvSpPr/>
          <p:nvPr/>
        </p:nvSpPr>
        <p:spPr>
          <a:xfrm>
            <a:off x="2468880" y="960120"/>
            <a:ext cx="685800" cy="685800"/>
          </a:xfrm>
          <a:prstGeom prst="ellipse">
            <a:avLst/>
          </a:prstGeom>
          <a:solidFill>
            <a:schemeClr val="accent3"/>
          </a:solidFill>
          <a:ln/>
        </p:spPr>
      </p:sp>
      <p:pic>
        <p:nvPicPr>
          <p:cNvPr id="8" name="Image 3" descr="preencoded.png">    </p:cNvPr>
          <p:cNvPicPr>
            <a:picLocks noChangeAspect="1"/>
          </p:cNvPicPr>
          <p:nvPr/>
        </p:nvPicPr>
        <p:blipFill>
          <a:blip r:embed="rId4"/>
          <a:stretch>
            <a:fillRect/>
          </a:stretch>
        </p:blipFill>
        <p:spPr>
          <a:xfrm>
            <a:off x="2640330" y="1131570"/>
            <a:ext cx="342900" cy="342900"/>
          </a:xfrm>
          <a:prstGeom prst="rect">
            <a:avLst/>
          </a:prstGeom>
        </p:spPr>
      </p:pic>
      <p:sp>
        <p:nvSpPr>
          <p:cNvPr id="9" name="Text 0"/>
          <p:cNvSpPr/>
          <p:nvPr>
            <p:ph idx="100" type="title" hasCustomPrompt="1"/>
          </p:nvPr>
        </p:nvSpPr>
        <p:spPr>
          <a:xfrm>
            <a:off x="731520" y="1965960"/>
            <a:ext cx="7680960" cy="1737360"/>
          </a:xfrm>
          <a:prstGeom prst="rect">
            <a:avLst/>
          </a:prstGeom>
          <a:noFill/>
          <a:ln/>
        </p:spPr>
        <p:txBody>
          <a:bodyPr wrap="square" lIns="0" tIns="0" rIns="0" bIns="0" rtlCol="0" anchor="b"/>
          <a:lstStyle/>
          <a:p>
            <a:pPr algn="l" indent="0" marL="0">
              <a:buNone/>
            </a:pPr>
            <a:r>
              <a:rPr lang="en-US" sz="4400" b="1" dirty="0">
                <a:solidFill>
                  <a:schemeClr val="bg1"/>
                </a:solidFill>
              </a:rPr>
              <a:t>Pénuries et saturations des stations Vélib’</a:t>
            </a:r>
            <a:endParaRPr lang="en-US" sz="4400" dirty="0"/>
          </a:p>
        </p:txBody>
      </p:sp>
      <p:sp>
        <p:nvSpPr>
          <p:cNvPr id="10" name="Text 0"/>
          <p:cNvSpPr/>
          <p:nvPr>
            <p:ph idx="101" type="body" hasCustomPrompt="1"/>
          </p:nvPr>
        </p:nvSpPr>
        <p:spPr>
          <a:xfrm>
            <a:off x="731520" y="3886200"/>
            <a:ext cx="7680960" cy="822960"/>
          </a:xfrm>
          <a:prstGeom prst="rect">
            <a:avLst/>
          </a:prstGeom>
          <a:noFill/>
          <a:ln/>
        </p:spPr>
        <p:txBody>
          <a:bodyPr wrap="square" lIns="0" tIns="0" rIns="0" bIns="0" rtlCol="0" anchor="t"/>
          <a:lstStyle/>
          <a:p>
            <a:pPr indent="0" marL="0">
              <a:buNone/>
            </a:pPr>
            <a:r>
              <a:rPr lang="en-US" sz="2200" dirty="0">
                <a:solidFill>
                  <a:schemeClr val="bg2"/>
                </a:solidFill>
              </a:rPr>
              <a:t>Le rôle de la météo : fiche sujet du projet Datalake Azure</a:t>
            </a:r>
            <a:endParaRPr lang="en-US" sz="2200" dirty="0"/>
          </a:p>
        </p:txBody>
      </p:sp>
      <p:sp>
        <p:nvSpPr>
          <p:cNvPr id="11" name="Text 0"/>
          <p:cNvSpPr/>
          <p:nvPr>
            <p:ph idx="102" type="body" hasCustomPrompt="1"/>
          </p:nvPr>
        </p:nvSpPr>
        <p:spPr>
          <a:xfrm>
            <a:off x="731520" y="5760720"/>
            <a:ext cx="10698480" cy="411480"/>
          </a:xfrm>
          <a:prstGeom prst="rect">
            <a:avLst/>
          </a:prstGeom>
          <a:noFill/>
          <a:ln/>
        </p:spPr>
        <p:txBody>
          <a:bodyPr wrap="square" lIns="0" tIns="0" rIns="0" bIns="0" rtlCol="0" anchor="ctr"/>
          <a:lstStyle/>
          <a:p>
            <a:pPr indent="0" marL="0">
              <a:buNone/>
            </a:pPr>
            <a:r>
              <a:rPr lang="en-US" sz="1400" dirty="0">
                <a:solidFill>
                  <a:schemeClr val="accent6"/>
                </a:solidFill>
              </a:rPr>
              <a:t>Cours Datalake Azure · M2 Data   |   Nom : [à compléter]   |   5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La question métier</a:t>
            </a:r>
            <a:endParaRPr lang="en-US" sz="3400" dirty="0"/>
          </a:p>
        </p:txBody>
      </p:sp>
      <p:sp>
        <p:nvSpPr>
          <p:cNvPr id="3" name="Carte question"/>
          <p:cNvSpPr/>
          <p:nvPr/>
        </p:nvSpPr>
        <p:spPr>
          <a:xfrm>
            <a:off x="548640" y="1417320"/>
            <a:ext cx="6766560" cy="4663440"/>
          </a:xfrm>
          <a:prstGeom prst="roundRect">
            <a:avLst>
              <a:gd name="adj" fmla="val 1961"/>
            </a:avLst>
          </a:prstGeom>
          <a:solidFill>
            <a:schemeClr val="bg2"/>
          </a:solidFill>
          <a:ln/>
        </p:spPr>
      </p:sp>
      <p:sp>
        <p:nvSpPr>
          <p:cNvPr id="4" name="Icône citation"/>
          <p:cNvSpPr/>
          <p:nvPr/>
        </p:nvSpPr>
        <p:spPr>
          <a:xfrm>
            <a:off x="960120" y="1783080"/>
            <a:ext cx="685800" cy="685800"/>
          </a:xfrm>
          <a:prstGeom prst="ellipse">
            <a:avLst/>
          </a:prstGeom>
          <a:solidFill>
            <a:schemeClr val="tx1"/>
          </a:solidFill>
          <a:ln/>
        </p:spPr>
      </p:sp>
      <p:pic>
        <p:nvPicPr>
          <p:cNvPr id="5" name="Image 0" descr="preencoded.png">    </p:cNvPr>
          <p:cNvPicPr>
            <a:picLocks noChangeAspect="1"/>
          </p:cNvPicPr>
          <p:nvPr/>
        </p:nvPicPr>
        <p:blipFill>
          <a:blip r:embed="rId1"/>
          <a:stretch>
            <a:fillRect/>
          </a:stretch>
        </p:blipFill>
        <p:spPr>
          <a:xfrm>
            <a:off x="1131570" y="1954530"/>
            <a:ext cx="342900" cy="342900"/>
          </a:xfrm>
          <a:prstGeom prst="rect">
            <a:avLst/>
          </a:prstGeom>
        </p:spPr>
      </p:pic>
      <p:sp>
        <p:nvSpPr>
          <p:cNvPr id="6" name="Text 3"/>
          <p:cNvSpPr txBox="1"/>
          <p:nvPr/>
        </p:nvSpPr>
        <p:spPr>
          <a:xfrm>
            <a:off x="960120" y="2697480"/>
            <a:ext cx="5943600" cy="3108960"/>
          </a:xfrm>
          <a:prstGeom prst="rect">
            <a:avLst/>
          </a:prstGeom>
          <a:noFill/>
          <a:ln/>
        </p:spPr>
        <p:txBody>
          <a:bodyPr wrap="square" lIns="0" tIns="0" rIns="0" bIns="0" rtlCol="0" anchor="t"/>
          <a:lstStyle/>
          <a:p>
            <a:pPr indent="0" marL="0">
              <a:lnSpc>
                <a:spcPct val="110000"/>
              </a:lnSpc>
              <a:buNone/>
            </a:pPr>
            <a:r>
              <a:rPr lang="en-US" sz="2400" i="1" dirty="0">
                <a:solidFill>
                  <a:schemeClr val="tx1"/>
                </a:solidFill>
                <a:latin typeface="+mj-lt" pitchFamily="34" charset="0"/>
                <a:ea typeface="+mj-lt" pitchFamily="34" charset="-122"/>
                <a:cs typeface="+mj-lt" pitchFamily="34" charset="-120"/>
              </a:rPr>
              <a:t>« Quelles stations Vélib’ et quels créneaux horaires concentrent les pénuries (aucun vélo) et les saturations (aucune borne libre), et dans quelle mesure la pluie et la température les expliquent-elles ? »</a:t>
            </a:r>
            <a:endParaRPr lang="en-US" sz="2400" dirty="0"/>
          </a:p>
        </p:txBody>
      </p:sp>
      <p:sp>
        <p:nvSpPr>
          <p:cNvPr id="7" name="Icône Pénurie"/>
          <p:cNvSpPr/>
          <p:nvPr/>
        </p:nvSpPr>
        <p:spPr>
          <a:xfrm>
            <a:off x="7726680" y="1463040"/>
            <a:ext cx="594360" cy="594360"/>
          </a:xfrm>
          <a:prstGeom prst="ellipse">
            <a:avLst/>
          </a:prstGeom>
          <a:solidFill>
            <a:schemeClr val="accent4"/>
          </a:solidFill>
          <a:ln/>
        </p:spPr>
      </p:sp>
      <p:pic>
        <p:nvPicPr>
          <p:cNvPr id="8" name="Image 1" descr="preencoded.png">    </p:cNvPr>
          <p:cNvPicPr>
            <a:picLocks noChangeAspect="1"/>
          </p:cNvPicPr>
          <p:nvPr/>
        </p:nvPicPr>
        <p:blipFill>
          <a:blip r:embed="rId2"/>
          <a:stretch>
            <a:fillRect/>
          </a:stretch>
        </p:blipFill>
        <p:spPr>
          <a:xfrm>
            <a:off x="7875270" y="1611630"/>
            <a:ext cx="297180" cy="297180"/>
          </a:xfrm>
          <a:prstGeom prst="rect">
            <a:avLst/>
          </a:prstGeom>
        </p:spPr>
      </p:pic>
      <p:sp>
        <p:nvSpPr>
          <p:cNvPr id="9" name="Text 5"/>
          <p:cNvSpPr txBox="1"/>
          <p:nvPr/>
        </p:nvSpPr>
        <p:spPr>
          <a:xfrm>
            <a:off x="8503920" y="1444752"/>
            <a:ext cx="3136392"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Pénurie</a:t>
            </a:r>
            <a:endParaRPr lang="en-US" sz="1800" dirty="0"/>
          </a:p>
        </p:txBody>
      </p:sp>
      <p:sp>
        <p:nvSpPr>
          <p:cNvPr id="10" name="Text 6"/>
          <p:cNvSpPr txBox="1"/>
          <p:nvPr/>
        </p:nvSpPr>
        <p:spPr>
          <a:xfrm>
            <a:off x="8503920" y="1828800"/>
            <a:ext cx="3136392" cy="685800"/>
          </a:xfrm>
          <a:prstGeom prst="rect">
            <a:avLst/>
          </a:prstGeom>
          <a:noFill/>
          <a:ln/>
        </p:spPr>
        <p:txBody>
          <a:bodyPr wrap="square" lIns="0" tIns="0" rIns="0" bIns="0" rtlCol="0" anchor="t"/>
          <a:lstStyle/>
          <a:p>
            <a:pPr indent="0" marL="0">
              <a:buNone/>
            </a:pPr>
            <a:r>
              <a:rPr lang="en-US" sz="1400" dirty="0">
                <a:solidFill>
                  <a:schemeClr val="tx2"/>
                </a:solidFill>
              </a:rPr>
              <a:t>Aucun vélo disponible à la station</a:t>
            </a:r>
            <a:endParaRPr lang="en-US" sz="1400" dirty="0"/>
          </a:p>
        </p:txBody>
      </p:sp>
      <p:sp>
        <p:nvSpPr>
          <p:cNvPr id="11" name="Icône Saturation"/>
          <p:cNvSpPr/>
          <p:nvPr/>
        </p:nvSpPr>
        <p:spPr>
          <a:xfrm>
            <a:off x="7726680" y="2633472"/>
            <a:ext cx="594360" cy="594360"/>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7875270" y="2782062"/>
            <a:ext cx="297180" cy="297180"/>
          </a:xfrm>
          <a:prstGeom prst="rect">
            <a:avLst/>
          </a:prstGeom>
        </p:spPr>
      </p:pic>
      <p:sp>
        <p:nvSpPr>
          <p:cNvPr id="13" name="Text 8"/>
          <p:cNvSpPr txBox="1"/>
          <p:nvPr/>
        </p:nvSpPr>
        <p:spPr>
          <a:xfrm>
            <a:off x="8503920" y="2615184"/>
            <a:ext cx="3136392"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Saturation</a:t>
            </a:r>
            <a:endParaRPr lang="en-US" sz="1800" dirty="0"/>
          </a:p>
        </p:txBody>
      </p:sp>
      <p:sp>
        <p:nvSpPr>
          <p:cNvPr id="14" name="Text 9"/>
          <p:cNvSpPr txBox="1"/>
          <p:nvPr/>
        </p:nvSpPr>
        <p:spPr>
          <a:xfrm>
            <a:off x="8503920" y="2999232"/>
            <a:ext cx="3136392" cy="685800"/>
          </a:xfrm>
          <a:prstGeom prst="rect">
            <a:avLst/>
          </a:prstGeom>
          <a:noFill/>
          <a:ln/>
        </p:spPr>
        <p:txBody>
          <a:bodyPr wrap="square" lIns="0" tIns="0" rIns="0" bIns="0" rtlCol="0" anchor="t"/>
          <a:lstStyle/>
          <a:p>
            <a:pPr indent="0" marL="0">
              <a:buNone/>
            </a:pPr>
            <a:r>
              <a:rPr lang="en-US" sz="1400" dirty="0">
                <a:solidFill>
                  <a:schemeClr val="tx2"/>
                </a:solidFill>
              </a:rPr>
              <a:t>Aucune borne libre pour rendre son vélo</a:t>
            </a:r>
            <a:endParaRPr lang="en-US" sz="1400" dirty="0"/>
          </a:p>
        </p:txBody>
      </p:sp>
      <p:sp>
        <p:nvSpPr>
          <p:cNvPr id="15" name="Icône Rééquilibrer"/>
          <p:cNvSpPr/>
          <p:nvPr/>
        </p:nvSpPr>
        <p:spPr>
          <a:xfrm>
            <a:off x="7726680" y="3803904"/>
            <a:ext cx="594360" cy="594360"/>
          </a:xfrm>
          <a:prstGeom prst="ellipse">
            <a:avLst/>
          </a:prstGeom>
          <a:solidFill>
            <a:schemeClr val="accent1"/>
          </a:solidFill>
          <a:ln/>
        </p:spPr>
      </p:sp>
      <p:pic>
        <p:nvPicPr>
          <p:cNvPr id="16" name="Image 3" descr="preencoded.png">    </p:cNvPr>
          <p:cNvPicPr>
            <a:picLocks noChangeAspect="1"/>
          </p:cNvPicPr>
          <p:nvPr/>
        </p:nvPicPr>
        <p:blipFill>
          <a:blip r:embed="rId4"/>
          <a:stretch>
            <a:fillRect/>
          </a:stretch>
        </p:blipFill>
        <p:spPr>
          <a:xfrm>
            <a:off x="7875270" y="3952494"/>
            <a:ext cx="297180" cy="297180"/>
          </a:xfrm>
          <a:prstGeom prst="rect">
            <a:avLst/>
          </a:prstGeom>
        </p:spPr>
      </p:pic>
      <p:sp>
        <p:nvSpPr>
          <p:cNvPr id="17" name="Text 11"/>
          <p:cNvSpPr txBox="1"/>
          <p:nvPr/>
        </p:nvSpPr>
        <p:spPr>
          <a:xfrm>
            <a:off x="8503920" y="3785616"/>
            <a:ext cx="3136392"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Rééquilibrer</a:t>
            </a:r>
            <a:endParaRPr lang="en-US" sz="1800" dirty="0"/>
          </a:p>
        </p:txBody>
      </p:sp>
      <p:sp>
        <p:nvSpPr>
          <p:cNvPr id="18" name="Text 12"/>
          <p:cNvSpPr txBox="1"/>
          <p:nvPr/>
        </p:nvSpPr>
        <p:spPr>
          <a:xfrm>
            <a:off x="8503920" y="4169664"/>
            <a:ext cx="3136392" cy="685800"/>
          </a:xfrm>
          <a:prstGeom prst="rect">
            <a:avLst/>
          </a:prstGeom>
          <a:noFill/>
          <a:ln/>
        </p:spPr>
        <p:txBody>
          <a:bodyPr wrap="square" lIns="0" tIns="0" rIns="0" bIns="0" rtlCol="0" anchor="t"/>
          <a:lstStyle/>
          <a:p>
            <a:pPr indent="0" marL="0">
              <a:buNone/>
            </a:pPr>
            <a:r>
              <a:rPr lang="en-US" sz="1400" dirty="0">
                <a:solidFill>
                  <a:schemeClr val="tx2"/>
                </a:solidFill>
              </a:rPr>
              <a:t>Aider l’exploitant à décider où et quand envoyer les camions de redistribution</a:t>
            </a:r>
            <a:endParaRPr lang="en-US" sz="1400" dirty="0"/>
          </a:p>
        </p:txBody>
      </p:sp>
      <p:sp>
        <p:nvSpPr>
          <p:cNvPr id="19" name="Icône Informer"/>
          <p:cNvSpPr/>
          <p:nvPr/>
        </p:nvSpPr>
        <p:spPr>
          <a:xfrm>
            <a:off x="7726680" y="4974336"/>
            <a:ext cx="594360" cy="594360"/>
          </a:xfrm>
          <a:prstGeom prst="ellipse">
            <a:avLst/>
          </a:prstGeom>
          <a:solidFill>
            <a:schemeClr val="accent2"/>
          </a:solidFill>
          <a:ln/>
        </p:spPr>
      </p:sp>
      <p:pic>
        <p:nvPicPr>
          <p:cNvPr id="20" name="Image 4" descr="preencoded.png">    </p:cNvPr>
          <p:cNvPicPr>
            <a:picLocks noChangeAspect="1"/>
          </p:cNvPicPr>
          <p:nvPr/>
        </p:nvPicPr>
        <p:blipFill>
          <a:blip r:embed="rId5"/>
          <a:stretch>
            <a:fillRect/>
          </a:stretch>
        </p:blipFill>
        <p:spPr>
          <a:xfrm>
            <a:off x="7875270" y="5122926"/>
            <a:ext cx="297180" cy="297180"/>
          </a:xfrm>
          <a:prstGeom prst="rect">
            <a:avLst/>
          </a:prstGeom>
        </p:spPr>
      </p:pic>
      <p:sp>
        <p:nvSpPr>
          <p:cNvPr id="21" name="Text 14"/>
          <p:cNvSpPr txBox="1"/>
          <p:nvPr/>
        </p:nvSpPr>
        <p:spPr>
          <a:xfrm>
            <a:off x="8503920" y="4956048"/>
            <a:ext cx="3136392"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Informer</a:t>
            </a:r>
            <a:endParaRPr lang="en-US" sz="1800" dirty="0"/>
          </a:p>
        </p:txBody>
      </p:sp>
      <p:sp>
        <p:nvSpPr>
          <p:cNvPr id="22" name="Text 15"/>
          <p:cNvSpPr txBox="1"/>
          <p:nvPr/>
        </p:nvSpPr>
        <p:spPr>
          <a:xfrm>
            <a:off x="8503920" y="5340096"/>
            <a:ext cx="3136392" cy="685800"/>
          </a:xfrm>
          <a:prstGeom prst="rect">
            <a:avLst/>
          </a:prstGeom>
          <a:noFill/>
          <a:ln/>
        </p:spPr>
        <p:txBody>
          <a:bodyPr wrap="square" lIns="0" tIns="0" rIns="0" bIns="0" rtlCol="0" anchor="t"/>
          <a:lstStyle/>
          <a:p>
            <a:pPr indent="0" marL="0">
              <a:buNone/>
            </a:pPr>
            <a:r>
              <a:rPr lang="en-US" sz="1400" dirty="0">
                <a:solidFill>
                  <a:schemeClr val="tx2"/>
                </a:solidFill>
              </a:rPr>
              <a:t>Signaler aux usagers les zones à risque</a:t>
            </a:r>
            <a:endParaRPr lang="en-US" sz="14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Un cadrage tenable en une semaine</a:t>
            </a:r>
            <a:endParaRPr lang="en-US" sz="3400" dirty="0"/>
          </a:p>
        </p:txBody>
      </p:sp>
      <p:sp>
        <p:nvSpPr>
          <p:cNvPr id="3" name="Carte 7 jours"/>
          <p:cNvSpPr/>
          <p:nvPr/>
        </p:nvSpPr>
        <p:spPr>
          <a:xfrm>
            <a:off x="548640" y="1508760"/>
            <a:ext cx="2499284" cy="3520440"/>
          </a:xfrm>
          <a:prstGeom prst="roundRect">
            <a:avLst>
              <a:gd name="adj" fmla="val 3659"/>
            </a:avLst>
          </a:prstGeom>
          <a:solidFill>
            <a:schemeClr val="bg1"/>
          </a:solidFill>
          <a:ln/>
          <a:effectLst>
            <a:outerShdw sx="100000" sy="100000" kx="0" ky="0" algn="bl" rotWithShape="0" blurRad="127000" dist="25400" dir="5400000">
              <a:srgbClr val="102A2C">
                <a:alpha val="12000"/>
              </a:srgbClr>
            </a:outerShdw>
          </a:effectLst>
        </p:spPr>
      </p:sp>
      <p:sp>
        <p:nvSpPr>
          <p:cNvPr id="4" name="Icône 7 jours"/>
          <p:cNvSpPr/>
          <p:nvPr/>
        </p:nvSpPr>
        <p:spPr>
          <a:xfrm>
            <a:off x="868680" y="182880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28700" y="1988820"/>
            <a:ext cx="320040" cy="320040"/>
          </a:xfrm>
          <a:prstGeom prst="rect">
            <a:avLst/>
          </a:prstGeom>
        </p:spPr>
      </p:pic>
      <p:sp>
        <p:nvSpPr>
          <p:cNvPr id="6" name="Text 3"/>
          <p:cNvSpPr txBox="1"/>
          <p:nvPr/>
        </p:nvSpPr>
        <p:spPr>
          <a:xfrm>
            <a:off x="868680" y="2697480"/>
            <a:ext cx="1859204"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7 jours</a:t>
            </a:r>
            <a:endParaRPr lang="en-US" sz="4400" dirty="0"/>
          </a:p>
        </p:txBody>
      </p:sp>
      <p:sp>
        <p:nvSpPr>
          <p:cNvPr id="7" name="Text 4"/>
          <p:cNvSpPr txBox="1"/>
          <p:nvPr/>
        </p:nvSpPr>
        <p:spPr>
          <a:xfrm>
            <a:off x="868680" y="3703320"/>
            <a:ext cx="1859204" cy="1005840"/>
          </a:xfrm>
          <a:prstGeom prst="rect">
            <a:avLst/>
          </a:prstGeom>
          <a:noFill/>
          <a:ln/>
        </p:spPr>
        <p:txBody>
          <a:bodyPr wrap="square" lIns="0" tIns="0" rIns="0" bIns="0" rtlCol="0" anchor="t"/>
          <a:lstStyle/>
          <a:p>
            <a:pPr indent="0" marL="0">
              <a:buNone/>
            </a:pPr>
            <a:r>
              <a:rPr lang="en-US" sz="1600" dirty="0">
                <a:solidFill>
                  <a:schemeClr val="tx2"/>
                </a:solidFill>
              </a:rPr>
              <a:t>de collecte continue</a:t>
            </a:r>
            <a:endParaRPr lang="en-US" sz="1600" dirty="0"/>
          </a:p>
        </p:txBody>
      </p:sp>
      <p:sp>
        <p:nvSpPr>
          <p:cNvPr id="8" name="Carte ≈ 1 500"/>
          <p:cNvSpPr/>
          <p:nvPr/>
        </p:nvSpPr>
        <p:spPr>
          <a:xfrm>
            <a:off x="3413684" y="1508760"/>
            <a:ext cx="2499284" cy="3520440"/>
          </a:xfrm>
          <a:prstGeom prst="roundRect">
            <a:avLst>
              <a:gd name="adj" fmla="val 3659"/>
            </a:avLst>
          </a:prstGeom>
          <a:solidFill>
            <a:schemeClr val="bg1"/>
          </a:solidFill>
          <a:ln/>
          <a:effectLst>
            <a:outerShdw sx="100000" sy="100000" kx="0" ky="0" algn="bl" rotWithShape="0" blurRad="127000" dist="25400" dir="5400000">
              <a:srgbClr val="102A2C">
                <a:alpha val="12000"/>
              </a:srgbClr>
            </a:outerShdw>
          </a:effectLst>
        </p:spPr>
      </p:sp>
      <p:sp>
        <p:nvSpPr>
          <p:cNvPr id="9" name="Icône ≈ 1 500"/>
          <p:cNvSpPr/>
          <p:nvPr/>
        </p:nvSpPr>
        <p:spPr>
          <a:xfrm>
            <a:off x="3733724" y="1828800"/>
            <a:ext cx="640080" cy="64008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3893744" y="1988820"/>
            <a:ext cx="320040" cy="320040"/>
          </a:xfrm>
          <a:prstGeom prst="rect">
            <a:avLst/>
          </a:prstGeom>
        </p:spPr>
      </p:pic>
      <p:sp>
        <p:nvSpPr>
          <p:cNvPr id="11" name="Text 7"/>
          <p:cNvSpPr txBox="1"/>
          <p:nvPr/>
        </p:nvSpPr>
        <p:spPr>
          <a:xfrm>
            <a:off x="3733724" y="2697480"/>
            <a:ext cx="1859204" cy="914400"/>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 1 500</a:t>
            </a:r>
            <a:endParaRPr lang="en-US" sz="4400" dirty="0"/>
          </a:p>
        </p:txBody>
      </p:sp>
      <p:sp>
        <p:nvSpPr>
          <p:cNvPr id="12" name="Text 8"/>
          <p:cNvSpPr txBox="1"/>
          <p:nvPr/>
        </p:nvSpPr>
        <p:spPr>
          <a:xfrm>
            <a:off x="3733724" y="3703320"/>
            <a:ext cx="1859204" cy="1005840"/>
          </a:xfrm>
          <a:prstGeom prst="rect">
            <a:avLst/>
          </a:prstGeom>
          <a:noFill/>
          <a:ln/>
        </p:spPr>
        <p:txBody>
          <a:bodyPr wrap="square" lIns="0" tIns="0" rIns="0" bIns="0" rtlCol="0" anchor="t"/>
          <a:lstStyle/>
          <a:p>
            <a:pPr indent="0" marL="0">
              <a:buNone/>
            </a:pPr>
            <a:r>
              <a:rPr lang="en-US" sz="1600" dirty="0">
                <a:solidFill>
                  <a:schemeClr val="tx2"/>
                </a:solidFill>
              </a:rPr>
              <a:t>stations : Paris intra-muros et petite couronne</a:t>
            </a:r>
            <a:endParaRPr lang="en-US" sz="1600" dirty="0"/>
          </a:p>
        </p:txBody>
      </p:sp>
      <p:sp>
        <p:nvSpPr>
          <p:cNvPr id="13" name="Carte 5 min"/>
          <p:cNvSpPr/>
          <p:nvPr/>
        </p:nvSpPr>
        <p:spPr>
          <a:xfrm>
            <a:off x="6278728" y="1508760"/>
            <a:ext cx="2499284" cy="3520440"/>
          </a:xfrm>
          <a:prstGeom prst="roundRect">
            <a:avLst>
              <a:gd name="adj" fmla="val 3659"/>
            </a:avLst>
          </a:prstGeom>
          <a:solidFill>
            <a:schemeClr val="bg1"/>
          </a:solidFill>
          <a:ln/>
          <a:effectLst>
            <a:outerShdw sx="100000" sy="100000" kx="0" ky="0" algn="bl" rotWithShape="0" blurRad="127000" dist="25400" dir="5400000">
              <a:srgbClr val="102A2C">
                <a:alpha val="12000"/>
              </a:srgbClr>
            </a:outerShdw>
          </a:effectLst>
        </p:spPr>
      </p:sp>
      <p:sp>
        <p:nvSpPr>
          <p:cNvPr id="14" name="Icône 5 min"/>
          <p:cNvSpPr/>
          <p:nvPr/>
        </p:nvSpPr>
        <p:spPr>
          <a:xfrm>
            <a:off x="6598768" y="1828800"/>
            <a:ext cx="640080" cy="640080"/>
          </a:xfrm>
          <a:prstGeom prst="ellipse">
            <a:avLst/>
          </a:prstGeom>
          <a:solidFill>
            <a:schemeClr val="accent3"/>
          </a:solidFill>
          <a:ln/>
        </p:spPr>
      </p:sp>
      <p:pic>
        <p:nvPicPr>
          <p:cNvPr id="15" name="Image 2" descr="preencoded.png">    </p:cNvPr>
          <p:cNvPicPr>
            <a:picLocks noChangeAspect="1"/>
          </p:cNvPicPr>
          <p:nvPr/>
        </p:nvPicPr>
        <p:blipFill>
          <a:blip r:embed="rId3"/>
          <a:stretch>
            <a:fillRect/>
          </a:stretch>
        </p:blipFill>
        <p:spPr>
          <a:xfrm>
            <a:off x="6758788" y="1988820"/>
            <a:ext cx="320040" cy="320040"/>
          </a:xfrm>
          <a:prstGeom prst="rect">
            <a:avLst/>
          </a:prstGeom>
        </p:spPr>
      </p:pic>
      <p:sp>
        <p:nvSpPr>
          <p:cNvPr id="16" name="Text 11"/>
          <p:cNvSpPr txBox="1"/>
          <p:nvPr/>
        </p:nvSpPr>
        <p:spPr>
          <a:xfrm>
            <a:off x="6598768" y="2697480"/>
            <a:ext cx="1859204" cy="914400"/>
          </a:xfrm>
          <a:prstGeom prst="rect">
            <a:avLst/>
          </a:prstGeom>
          <a:noFill/>
          <a:ln/>
        </p:spPr>
        <p:txBody>
          <a:bodyPr wrap="square" lIns="0" tIns="0" rIns="0" bIns="0" rtlCol="0" anchor="ctr"/>
          <a:lstStyle/>
          <a:p>
            <a:pPr indent="0" marL="0">
              <a:buNone/>
            </a:pPr>
            <a:r>
              <a:rPr lang="en-US" sz="4400" b="1" dirty="0">
                <a:solidFill>
                  <a:schemeClr val="accent3"/>
                </a:solidFill>
                <a:latin typeface="+mj-lt" pitchFamily="34" charset="0"/>
                <a:ea typeface="+mj-lt" pitchFamily="34" charset="-122"/>
                <a:cs typeface="+mj-lt" pitchFamily="34" charset="-120"/>
              </a:rPr>
              <a:t>5 min</a:t>
            </a:r>
            <a:endParaRPr lang="en-US" sz="4400" dirty="0"/>
          </a:p>
        </p:txBody>
      </p:sp>
      <p:sp>
        <p:nvSpPr>
          <p:cNvPr id="17" name="Text 12"/>
          <p:cNvSpPr txBox="1"/>
          <p:nvPr/>
        </p:nvSpPr>
        <p:spPr>
          <a:xfrm>
            <a:off x="6598768" y="3703320"/>
            <a:ext cx="1859204" cy="1005840"/>
          </a:xfrm>
          <a:prstGeom prst="rect">
            <a:avLst/>
          </a:prstGeom>
          <a:noFill/>
          <a:ln/>
        </p:spPr>
        <p:txBody>
          <a:bodyPr wrap="square" lIns="0" tIns="0" rIns="0" bIns="0" rtlCol="0" anchor="t"/>
          <a:lstStyle/>
          <a:p>
            <a:pPr indent="0" marL="0">
              <a:buNone/>
            </a:pPr>
            <a:r>
              <a:rPr lang="en-US" sz="1600" dirty="0">
                <a:solidFill>
                  <a:schemeClr val="tx2"/>
                </a:solidFill>
              </a:rPr>
              <a:t>entre deux appels à l’API Vélib’</a:t>
            </a:r>
            <a:endParaRPr lang="en-US" sz="1600" dirty="0"/>
          </a:p>
        </p:txBody>
      </p:sp>
      <p:sp>
        <p:nvSpPr>
          <p:cNvPr id="18" name="Carte ≈ 1 Go"/>
          <p:cNvSpPr/>
          <p:nvPr/>
        </p:nvSpPr>
        <p:spPr>
          <a:xfrm>
            <a:off x="9143771" y="1508760"/>
            <a:ext cx="2499284" cy="3520440"/>
          </a:xfrm>
          <a:prstGeom prst="roundRect">
            <a:avLst>
              <a:gd name="adj" fmla="val 3659"/>
            </a:avLst>
          </a:prstGeom>
          <a:solidFill>
            <a:schemeClr val="bg1"/>
          </a:solidFill>
          <a:ln/>
          <a:effectLst>
            <a:outerShdw sx="100000" sy="100000" kx="0" ky="0" algn="bl" rotWithShape="0" blurRad="127000" dist="25400" dir="5400000">
              <a:srgbClr val="102A2C">
                <a:alpha val="12000"/>
              </a:srgbClr>
            </a:outerShdw>
          </a:effectLst>
        </p:spPr>
      </p:sp>
      <p:sp>
        <p:nvSpPr>
          <p:cNvPr id="19" name="Icône ≈ 1 Go"/>
          <p:cNvSpPr/>
          <p:nvPr/>
        </p:nvSpPr>
        <p:spPr>
          <a:xfrm>
            <a:off x="9463811" y="1828800"/>
            <a:ext cx="640080" cy="640080"/>
          </a:xfrm>
          <a:prstGeom prst="ellipse">
            <a:avLst/>
          </a:prstGeom>
          <a:solidFill>
            <a:schemeClr val="accent5"/>
          </a:solidFill>
          <a:ln/>
        </p:spPr>
      </p:sp>
      <p:pic>
        <p:nvPicPr>
          <p:cNvPr id="20" name="Image 3" descr="preencoded.png">    </p:cNvPr>
          <p:cNvPicPr>
            <a:picLocks noChangeAspect="1"/>
          </p:cNvPicPr>
          <p:nvPr/>
        </p:nvPicPr>
        <p:blipFill>
          <a:blip r:embed="rId4"/>
          <a:stretch>
            <a:fillRect/>
          </a:stretch>
        </p:blipFill>
        <p:spPr>
          <a:xfrm>
            <a:off x="9623831" y="1988820"/>
            <a:ext cx="320040" cy="320040"/>
          </a:xfrm>
          <a:prstGeom prst="rect">
            <a:avLst/>
          </a:prstGeom>
        </p:spPr>
      </p:pic>
      <p:sp>
        <p:nvSpPr>
          <p:cNvPr id="21" name="Text 15"/>
          <p:cNvSpPr txBox="1"/>
          <p:nvPr/>
        </p:nvSpPr>
        <p:spPr>
          <a:xfrm>
            <a:off x="9463811" y="2697480"/>
            <a:ext cx="1859204" cy="914400"/>
          </a:xfrm>
          <a:prstGeom prst="rect">
            <a:avLst/>
          </a:prstGeom>
          <a:noFill/>
          <a:ln/>
        </p:spPr>
        <p:txBody>
          <a:bodyPr wrap="square" lIns="0" tIns="0" rIns="0" bIns="0" rtlCol="0" anchor="ctr"/>
          <a:lstStyle/>
          <a:p>
            <a:pPr indent="0" marL="0">
              <a:buNone/>
            </a:pPr>
            <a:r>
              <a:rPr lang="en-US" sz="4400" b="1" dirty="0">
                <a:solidFill>
                  <a:schemeClr val="accent5"/>
                </a:solidFill>
                <a:latin typeface="+mj-lt" pitchFamily="34" charset="0"/>
                <a:ea typeface="+mj-lt" pitchFamily="34" charset="-122"/>
                <a:cs typeface="+mj-lt" pitchFamily="34" charset="-120"/>
              </a:rPr>
              <a:t>≈ 1 Go</a:t>
            </a:r>
            <a:endParaRPr lang="en-US" sz="4400" dirty="0"/>
          </a:p>
        </p:txBody>
      </p:sp>
      <p:sp>
        <p:nvSpPr>
          <p:cNvPr id="22" name="Text 16"/>
          <p:cNvSpPr txBox="1"/>
          <p:nvPr/>
        </p:nvSpPr>
        <p:spPr>
          <a:xfrm>
            <a:off x="9463811" y="3703320"/>
            <a:ext cx="1859204" cy="1005840"/>
          </a:xfrm>
          <a:prstGeom prst="rect">
            <a:avLst/>
          </a:prstGeom>
          <a:noFill/>
          <a:ln/>
        </p:spPr>
        <p:txBody>
          <a:bodyPr wrap="square" lIns="0" tIns="0" rIns="0" bIns="0" rtlCol="0" anchor="t"/>
          <a:lstStyle/>
          <a:p>
            <a:pPr indent="0" marL="0">
              <a:buNone/>
            </a:pPr>
            <a:r>
              <a:rPr lang="en-US" sz="1600" dirty="0">
                <a:solidFill>
                  <a:schemeClr val="tx2"/>
                </a:solidFill>
              </a:rPr>
              <a:t>de JSON brut sur la semaine</a:t>
            </a:r>
            <a:endParaRPr lang="en-US" sz="1600" dirty="0"/>
          </a:p>
        </p:txBody>
      </p:sp>
      <p:sp>
        <p:nvSpPr>
          <p:cNvPr id="23" name="Text 17"/>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1600" b="1" dirty="0">
                <a:solidFill>
                  <a:schemeClr val="tx2"/>
                </a:solidFill>
              </a:rPr>
              <a:t>Calcul : </a:t>
            </a:r>
            <a:pPr indent="0" marL="0">
              <a:buNone/>
            </a:pPr>
            <a:r>
              <a:rPr lang="en-US" sz="1600" dirty="0">
                <a:solidFill>
                  <a:schemeClr val="tx2"/>
                </a:solidFill>
              </a:rPr>
              <a:t>288 appels par jour × 464 Ko ≈ 134 Mo/jour, soit ≈ 1 Go brut en 7 jours.</a:t>
            </a:r>
            <a:endParaRPr lang="en-US"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Quatre sources, trois formats</a:t>
            </a:r>
            <a:endParaRPr lang="en-US" sz="3400" dirty="0"/>
          </a:p>
        </p:txBody>
      </p:sp>
      <p:sp>
        <p:nvSpPr>
          <p:cNvPr id="3" name="Carte Vélib’ GBFS – station_status"/>
          <p:cNvSpPr/>
          <p:nvPr/>
        </p:nvSpPr>
        <p:spPr>
          <a:xfrm>
            <a:off x="548640" y="1417320"/>
            <a:ext cx="5364328" cy="2240280"/>
          </a:xfrm>
          <a:prstGeom prst="roundRect">
            <a:avLst>
              <a:gd name="adj" fmla="val 4082"/>
            </a:avLst>
          </a:prstGeom>
          <a:solidFill>
            <a:schemeClr val="bg2"/>
          </a:solidFill>
          <a:ln/>
        </p:spPr>
      </p:sp>
      <p:sp>
        <p:nvSpPr>
          <p:cNvPr id="4" name="Icône Vélib’ GBFS – station_status"/>
          <p:cNvSpPr/>
          <p:nvPr/>
        </p:nvSpPr>
        <p:spPr>
          <a:xfrm>
            <a:off x="822960" y="169164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1554480" y="1691640"/>
            <a:ext cx="4084168"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Vélib’ GBFS – station_status</a:t>
            </a:r>
            <a:endParaRPr lang="en-US" sz="1800" dirty="0"/>
          </a:p>
        </p:txBody>
      </p:sp>
      <p:sp>
        <p:nvSpPr>
          <p:cNvPr id="7" name="Text 4"/>
          <p:cNvSpPr txBox="1"/>
          <p:nvPr/>
        </p:nvSpPr>
        <p:spPr>
          <a:xfrm>
            <a:off x="822960" y="2350008"/>
            <a:ext cx="4815688" cy="566928"/>
          </a:xfrm>
          <a:prstGeom prst="rect">
            <a:avLst/>
          </a:prstGeom>
          <a:noFill/>
          <a:ln/>
        </p:spPr>
        <p:txBody>
          <a:bodyPr wrap="square" lIns="0" tIns="0" rIns="0" bIns="0" rtlCol="0" anchor="t"/>
          <a:lstStyle/>
          <a:p>
            <a:pPr indent="0" marL="0">
              <a:buNone/>
            </a:pPr>
            <a:r>
              <a:rPr lang="en-US" sz="1400" dirty="0">
                <a:solidFill>
                  <a:schemeClr val="tx1"/>
                </a:solidFill>
              </a:rPr>
              <a:t>Vélos mécaniques / électriques et bornes libres par station. Accès public, sans clé.</a:t>
            </a:r>
            <a:endParaRPr lang="en-US" sz="1400" dirty="0"/>
          </a:p>
        </p:txBody>
      </p:sp>
      <p:sp>
        <p:nvSpPr>
          <p:cNvPr id="8" name="Text 5"/>
          <p:cNvSpPr txBox="1"/>
          <p:nvPr/>
        </p:nvSpPr>
        <p:spPr>
          <a:xfrm>
            <a:off x="822960" y="2990088"/>
            <a:ext cx="1483309" cy="182880"/>
          </a:xfrm>
          <a:prstGeom prst="rect">
            <a:avLst/>
          </a:prstGeom>
          <a:noFill/>
          <a:ln/>
        </p:spPr>
        <p:txBody>
          <a:bodyPr wrap="square" lIns="0" tIns="0" rIns="0" bIns="0" rtlCol="0" anchor="t"/>
          <a:lstStyle/>
          <a:p>
            <a:pPr indent="0" marL="0">
              <a:buNone/>
            </a:pPr>
            <a:r>
              <a:rPr lang="en-US" sz="1000" b="1" spc="100" kern="0" dirty="0">
                <a:solidFill>
                  <a:schemeClr val="accent1"/>
                </a:solidFill>
              </a:rPr>
              <a:t>FORMAT</a:t>
            </a:r>
            <a:endParaRPr lang="en-US" sz="1000" dirty="0"/>
          </a:p>
        </p:txBody>
      </p:sp>
      <p:sp>
        <p:nvSpPr>
          <p:cNvPr id="9" name="Text 6"/>
          <p:cNvSpPr txBox="1"/>
          <p:nvPr/>
        </p:nvSpPr>
        <p:spPr>
          <a:xfrm>
            <a:off x="822960" y="3191256"/>
            <a:ext cx="1483309" cy="411480"/>
          </a:xfrm>
          <a:prstGeom prst="rect">
            <a:avLst/>
          </a:prstGeom>
          <a:noFill/>
          <a:ln/>
        </p:spPr>
        <p:txBody>
          <a:bodyPr wrap="square" lIns="0" tIns="0" rIns="0" bIns="0" rtlCol="0" anchor="t"/>
          <a:lstStyle/>
          <a:p>
            <a:pPr indent="0" marL="0">
              <a:buNone/>
            </a:pPr>
            <a:r>
              <a:rPr lang="en-US" sz="1200" dirty="0">
                <a:solidFill>
                  <a:schemeClr val="tx2"/>
                </a:solidFill>
              </a:rPr>
              <a:t>JSON imbriqué</a:t>
            </a:r>
            <a:endParaRPr lang="en-US" sz="1200" dirty="0"/>
          </a:p>
        </p:txBody>
      </p:sp>
      <p:sp>
        <p:nvSpPr>
          <p:cNvPr id="10" name="Text 7"/>
          <p:cNvSpPr txBox="1"/>
          <p:nvPr/>
        </p:nvSpPr>
        <p:spPr>
          <a:xfrm>
            <a:off x="2489149" y="2990088"/>
            <a:ext cx="1483309" cy="182880"/>
          </a:xfrm>
          <a:prstGeom prst="rect">
            <a:avLst/>
          </a:prstGeom>
          <a:noFill/>
          <a:ln/>
        </p:spPr>
        <p:txBody>
          <a:bodyPr wrap="square" lIns="0" tIns="0" rIns="0" bIns="0" rtlCol="0" anchor="t"/>
          <a:lstStyle/>
          <a:p>
            <a:pPr indent="0" marL="0">
              <a:buNone/>
            </a:pPr>
            <a:r>
              <a:rPr lang="en-US" sz="1000" b="1" spc="100" kern="0" dirty="0">
                <a:solidFill>
                  <a:schemeClr val="accent1"/>
                </a:solidFill>
              </a:rPr>
              <a:t>FRÉQUENCE</a:t>
            </a:r>
            <a:endParaRPr lang="en-US" sz="1000" dirty="0"/>
          </a:p>
        </p:txBody>
      </p:sp>
      <p:sp>
        <p:nvSpPr>
          <p:cNvPr id="11" name="Text 8"/>
          <p:cNvSpPr txBox="1"/>
          <p:nvPr/>
        </p:nvSpPr>
        <p:spPr>
          <a:xfrm>
            <a:off x="2489149" y="3191256"/>
            <a:ext cx="1483309" cy="411480"/>
          </a:xfrm>
          <a:prstGeom prst="rect">
            <a:avLst/>
          </a:prstGeom>
          <a:noFill/>
          <a:ln/>
        </p:spPr>
        <p:txBody>
          <a:bodyPr wrap="square" lIns="0" tIns="0" rIns="0" bIns="0" rtlCol="0" anchor="t"/>
          <a:lstStyle/>
          <a:p>
            <a:pPr indent="0" marL="0">
              <a:buNone/>
            </a:pPr>
            <a:r>
              <a:rPr lang="en-US" sz="1200" dirty="0">
                <a:solidFill>
                  <a:schemeClr val="tx2"/>
                </a:solidFill>
              </a:rPr>
              <a:t>MAJ chaque minute, collecte / 5 min</a:t>
            </a:r>
            <a:endParaRPr lang="en-US" sz="1200" dirty="0"/>
          </a:p>
        </p:txBody>
      </p:sp>
      <p:sp>
        <p:nvSpPr>
          <p:cNvPr id="12" name="Text 9"/>
          <p:cNvSpPr txBox="1"/>
          <p:nvPr/>
        </p:nvSpPr>
        <p:spPr>
          <a:xfrm>
            <a:off x="4155338" y="2990088"/>
            <a:ext cx="1483309" cy="182880"/>
          </a:xfrm>
          <a:prstGeom prst="rect">
            <a:avLst/>
          </a:prstGeom>
          <a:noFill/>
          <a:ln/>
        </p:spPr>
        <p:txBody>
          <a:bodyPr wrap="square" lIns="0" tIns="0" rIns="0" bIns="0" rtlCol="0" anchor="t"/>
          <a:lstStyle/>
          <a:p>
            <a:pPr indent="0" marL="0">
              <a:buNone/>
            </a:pPr>
            <a:r>
              <a:rPr lang="en-US" sz="1000" b="1" spc="100" kern="0" dirty="0">
                <a:solidFill>
                  <a:schemeClr val="accent1"/>
                </a:solidFill>
              </a:rPr>
              <a:t>VOLUME</a:t>
            </a:r>
            <a:endParaRPr lang="en-US" sz="1000" dirty="0"/>
          </a:p>
        </p:txBody>
      </p:sp>
      <p:sp>
        <p:nvSpPr>
          <p:cNvPr id="13" name="Text 10"/>
          <p:cNvSpPr txBox="1"/>
          <p:nvPr/>
        </p:nvSpPr>
        <p:spPr>
          <a:xfrm>
            <a:off x="4155338" y="3191256"/>
            <a:ext cx="1483309" cy="411480"/>
          </a:xfrm>
          <a:prstGeom prst="rect">
            <a:avLst/>
          </a:prstGeom>
          <a:noFill/>
          <a:ln/>
        </p:spPr>
        <p:txBody>
          <a:bodyPr wrap="square" lIns="0" tIns="0" rIns="0" bIns="0" rtlCol="0" anchor="t"/>
          <a:lstStyle/>
          <a:p>
            <a:pPr indent="0" marL="0">
              <a:buNone/>
            </a:pPr>
            <a:r>
              <a:rPr lang="en-US" sz="1200" dirty="0">
                <a:solidFill>
                  <a:schemeClr val="tx2"/>
                </a:solidFill>
              </a:rPr>
              <a:t>≈ 464 Ko/appel, ≈ 134 Mo/jour</a:t>
            </a:r>
            <a:endParaRPr lang="en-US" sz="1200" dirty="0"/>
          </a:p>
        </p:txBody>
      </p:sp>
      <p:sp>
        <p:nvSpPr>
          <p:cNvPr id="14" name="Carte Vélib’ GBFS – station_information"/>
          <p:cNvSpPr/>
          <p:nvPr/>
        </p:nvSpPr>
        <p:spPr>
          <a:xfrm>
            <a:off x="6278728" y="1417320"/>
            <a:ext cx="5364328" cy="2240280"/>
          </a:xfrm>
          <a:prstGeom prst="roundRect">
            <a:avLst>
              <a:gd name="adj" fmla="val 4082"/>
            </a:avLst>
          </a:prstGeom>
          <a:solidFill>
            <a:schemeClr val="bg2"/>
          </a:solidFill>
          <a:ln/>
        </p:spPr>
      </p:sp>
      <p:sp>
        <p:nvSpPr>
          <p:cNvPr id="15" name="Icône Vélib’ GBFS – station_information"/>
          <p:cNvSpPr/>
          <p:nvPr/>
        </p:nvSpPr>
        <p:spPr>
          <a:xfrm>
            <a:off x="6553048" y="1691640"/>
            <a:ext cx="548640" cy="548640"/>
          </a:xfrm>
          <a:prstGeom prst="ellipse">
            <a:avLst/>
          </a:prstGeom>
          <a:solidFill>
            <a:schemeClr val="tx2"/>
          </a:solidFill>
          <a:ln/>
        </p:spPr>
      </p:sp>
      <p:pic>
        <p:nvPicPr>
          <p:cNvPr id="16" name="Image 1" descr="preencoded.png">    </p:cNvPr>
          <p:cNvPicPr>
            <a:picLocks noChangeAspect="1"/>
          </p:cNvPicPr>
          <p:nvPr/>
        </p:nvPicPr>
        <p:blipFill>
          <a:blip r:embed="rId2"/>
          <a:stretch>
            <a:fillRect/>
          </a:stretch>
        </p:blipFill>
        <p:spPr>
          <a:xfrm>
            <a:off x="6690208" y="1828800"/>
            <a:ext cx="274320" cy="274320"/>
          </a:xfrm>
          <a:prstGeom prst="rect">
            <a:avLst/>
          </a:prstGeom>
        </p:spPr>
      </p:pic>
      <p:sp>
        <p:nvSpPr>
          <p:cNvPr id="17" name="Text 13"/>
          <p:cNvSpPr txBox="1"/>
          <p:nvPr/>
        </p:nvSpPr>
        <p:spPr>
          <a:xfrm>
            <a:off x="7284568" y="1691640"/>
            <a:ext cx="4084168"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Vélib’ GBFS – station_information</a:t>
            </a:r>
            <a:endParaRPr lang="en-US" sz="1800" dirty="0"/>
          </a:p>
        </p:txBody>
      </p:sp>
      <p:sp>
        <p:nvSpPr>
          <p:cNvPr id="18" name="Text 14"/>
          <p:cNvSpPr txBox="1"/>
          <p:nvPr/>
        </p:nvSpPr>
        <p:spPr>
          <a:xfrm>
            <a:off x="6553048" y="2350008"/>
            <a:ext cx="4815688" cy="566928"/>
          </a:xfrm>
          <a:prstGeom prst="rect">
            <a:avLst/>
          </a:prstGeom>
          <a:noFill/>
          <a:ln/>
        </p:spPr>
        <p:txBody>
          <a:bodyPr wrap="square" lIns="0" tIns="0" rIns="0" bIns="0" rtlCol="0" anchor="t"/>
          <a:lstStyle/>
          <a:p>
            <a:pPr indent="0" marL="0">
              <a:buNone/>
            </a:pPr>
            <a:r>
              <a:rPr lang="en-US" sz="1400" dirty="0">
                <a:solidFill>
                  <a:schemeClr val="tx1"/>
                </a:solidFill>
              </a:rPr>
              <a:t>Nom, coordonnées (lat/lon) et capacité de chaque station.</a:t>
            </a:r>
            <a:endParaRPr lang="en-US" sz="1400" dirty="0"/>
          </a:p>
        </p:txBody>
      </p:sp>
      <p:sp>
        <p:nvSpPr>
          <p:cNvPr id="19" name="Text 15"/>
          <p:cNvSpPr txBox="1"/>
          <p:nvPr/>
        </p:nvSpPr>
        <p:spPr>
          <a:xfrm>
            <a:off x="6553048" y="2990088"/>
            <a:ext cx="1483309" cy="182880"/>
          </a:xfrm>
          <a:prstGeom prst="rect">
            <a:avLst/>
          </a:prstGeom>
          <a:noFill/>
          <a:ln/>
        </p:spPr>
        <p:txBody>
          <a:bodyPr wrap="square" lIns="0" tIns="0" rIns="0" bIns="0" rtlCol="0" anchor="t"/>
          <a:lstStyle/>
          <a:p>
            <a:pPr indent="0" marL="0">
              <a:buNone/>
            </a:pPr>
            <a:r>
              <a:rPr lang="en-US" sz="1000" b="1" spc="100" kern="0" dirty="0">
                <a:solidFill>
                  <a:schemeClr val="tx2"/>
                </a:solidFill>
              </a:rPr>
              <a:t>FORMAT</a:t>
            </a:r>
            <a:endParaRPr lang="en-US" sz="1000" dirty="0"/>
          </a:p>
        </p:txBody>
      </p:sp>
      <p:sp>
        <p:nvSpPr>
          <p:cNvPr id="20" name="Text 16"/>
          <p:cNvSpPr txBox="1"/>
          <p:nvPr/>
        </p:nvSpPr>
        <p:spPr>
          <a:xfrm>
            <a:off x="6553048" y="3191256"/>
            <a:ext cx="1483309" cy="411480"/>
          </a:xfrm>
          <a:prstGeom prst="rect">
            <a:avLst/>
          </a:prstGeom>
          <a:noFill/>
          <a:ln/>
        </p:spPr>
        <p:txBody>
          <a:bodyPr wrap="square" lIns="0" tIns="0" rIns="0" bIns="0" rtlCol="0" anchor="t"/>
          <a:lstStyle/>
          <a:p>
            <a:pPr indent="0" marL="0">
              <a:buNone/>
            </a:pPr>
            <a:r>
              <a:rPr lang="en-US" sz="1200" dirty="0">
                <a:solidFill>
                  <a:schemeClr val="tx2"/>
                </a:solidFill>
              </a:rPr>
              <a:t>JSON</a:t>
            </a:r>
            <a:endParaRPr lang="en-US" sz="1200" dirty="0"/>
          </a:p>
        </p:txBody>
      </p:sp>
      <p:sp>
        <p:nvSpPr>
          <p:cNvPr id="21" name="Text 17"/>
          <p:cNvSpPr txBox="1"/>
          <p:nvPr/>
        </p:nvSpPr>
        <p:spPr>
          <a:xfrm>
            <a:off x="8219237" y="2990088"/>
            <a:ext cx="1483309" cy="182880"/>
          </a:xfrm>
          <a:prstGeom prst="rect">
            <a:avLst/>
          </a:prstGeom>
          <a:noFill/>
          <a:ln/>
        </p:spPr>
        <p:txBody>
          <a:bodyPr wrap="square" lIns="0" tIns="0" rIns="0" bIns="0" rtlCol="0" anchor="t"/>
          <a:lstStyle/>
          <a:p>
            <a:pPr indent="0" marL="0">
              <a:buNone/>
            </a:pPr>
            <a:r>
              <a:rPr lang="en-US" sz="1000" b="1" spc="100" kern="0" dirty="0">
                <a:solidFill>
                  <a:schemeClr val="tx2"/>
                </a:solidFill>
              </a:rPr>
              <a:t>FRÉQUENCE</a:t>
            </a:r>
            <a:endParaRPr lang="en-US" sz="1000" dirty="0"/>
          </a:p>
        </p:txBody>
      </p:sp>
      <p:sp>
        <p:nvSpPr>
          <p:cNvPr id="22" name="Text 18"/>
          <p:cNvSpPr txBox="1"/>
          <p:nvPr/>
        </p:nvSpPr>
        <p:spPr>
          <a:xfrm>
            <a:off x="8219237" y="3191256"/>
            <a:ext cx="1483309" cy="411480"/>
          </a:xfrm>
          <a:prstGeom prst="rect">
            <a:avLst/>
          </a:prstGeom>
          <a:noFill/>
          <a:ln/>
        </p:spPr>
        <p:txBody>
          <a:bodyPr wrap="square" lIns="0" tIns="0" rIns="0" bIns="0" rtlCol="0" anchor="t"/>
          <a:lstStyle/>
          <a:p>
            <a:pPr indent="0" marL="0">
              <a:buNone/>
            </a:pPr>
            <a:r>
              <a:rPr lang="en-US" sz="1200" dirty="0">
                <a:solidFill>
                  <a:schemeClr val="tx2"/>
                </a:solidFill>
              </a:rPr>
              <a:t>Quasi statique, 1 collecte/jour</a:t>
            </a:r>
            <a:endParaRPr lang="en-US" sz="1200" dirty="0"/>
          </a:p>
        </p:txBody>
      </p:sp>
      <p:sp>
        <p:nvSpPr>
          <p:cNvPr id="23" name="Text 19"/>
          <p:cNvSpPr txBox="1"/>
          <p:nvPr/>
        </p:nvSpPr>
        <p:spPr>
          <a:xfrm>
            <a:off x="9885426" y="2990088"/>
            <a:ext cx="1483309" cy="182880"/>
          </a:xfrm>
          <a:prstGeom prst="rect">
            <a:avLst/>
          </a:prstGeom>
          <a:noFill/>
          <a:ln/>
        </p:spPr>
        <p:txBody>
          <a:bodyPr wrap="square" lIns="0" tIns="0" rIns="0" bIns="0" rtlCol="0" anchor="t"/>
          <a:lstStyle/>
          <a:p>
            <a:pPr indent="0" marL="0">
              <a:buNone/>
            </a:pPr>
            <a:r>
              <a:rPr lang="en-US" sz="1000" b="1" spc="100" kern="0" dirty="0">
                <a:solidFill>
                  <a:schemeClr val="tx2"/>
                </a:solidFill>
              </a:rPr>
              <a:t>VOLUME</a:t>
            </a:r>
            <a:endParaRPr lang="en-US" sz="1000" dirty="0"/>
          </a:p>
        </p:txBody>
      </p:sp>
      <p:sp>
        <p:nvSpPr>
          <p:cNvPr id="24" name="Text 20"/>
          <p:cNvSpPr txBox="1"/>
          <p:nvPr/>
        </p:nvSpPr>
        <p:spPr>
          <a:xfrm>
            <a:off x="9885426" y="3191256"/>
            <a:ext cx="1483309" cy="411480"/>
          </a:xfrm>
          <a:prstGeom prst="rect">
            <a:avLst/>
          </a:prstGeom>
          <a:noFill/>
          <a:ln/>
        </p:spPr>
        <p:txBody>
          <a:bodyPr wrap="square" lIns="0" tIns="0" rIns="0" bIns="0" rtlCol="0" anchor="t"/>
          <a:lstStyle/>
          <a:p>
            <a:pPr indent="0" marL="0">
              <a:buNone/>
            </a:pPr>
            <a:r>
              <a:rPr lang="en-US" sz="1200" dirty="0">
                <a:solidFill>
                  <a:schemeClr val="tx2"/>
                </a:solidFill>
              </a:rPr>
              <a:t>Quelques centaines de Ko</a:t>
            </a:r>
            <a:endParaRPr lang="en-US" sz="1200" dirty="0"/>
          </a:p>
        </p:txBody>
      </p:sp>
      <p:sp>
        <p:nvSpPr>
          <p:cNvPr id="25" name="Carte Open-Meteo (API)"/>
          <p:cNvSpPr/>
          <p:nvPr/>
        </p:nvSpPr>
        <p:spPr>
          <a:xfrm>
            <a:off x="548640" y="3931920"/>
            <a:ext cx="5364328" cy="2240280"/>
          </a:xfrm>
          <a:prstGeom prst="roundRect">
            <a:avLst>
              <a:gd name="adj" fmla="val 4082"/>
            </a:avLst>
          </a:prstGeom>
          <a:solidFill>
            <a:schemeClr val="bg2"/>
          </a:solidFill>
          <a:ln/>
        </p:spPr>
      </p:sp>
      <p:sp>
        <p:nvSpPr>
          <p:cNvPr id="26" name="Icône Open-Meteo (API)"/>
          <p:cNvSpPr/>
          <p:nvPr/>
        </p:nvSpPr>
        <p:spPr>
          <a:xfrm>
            <a:off x="822960" y="4206240"/>
            <a:ext cx="548640" cy="548640"/>
          </a:xfrm>
          <a:prstGeom prst="ellipse">
            <a:avLst/>
          </a:prstGeom>
          <a:solidFill>
            <a:schemeClr val="accent2"/>
          </a:solidFill>
          <a:ln/>
        </p:spPr>
      </p:sp>
      <p:pic>
        <p:nvPicPr>
          <p:cNvPr id="27" name="Image 2" descr="preencoded.png">    </p:cNvPr>
          <p:cNvPicPr>
            <a:picLocks noChangeAspect="1"/>
          </p:cNvPicPr>
          <p:nvPr/>
        </p:nvPicPr>
        <p:blipFill>
          <a:blip r:embed="rId3"/>
          <a:stretch>
            <a:fillRect/>
          </a:stretch>
        </p:blipFill>
        <p:spPr>
          <a:xfrm>
            <a:off x="960120" y="4343400"/>
            <a:ext cx="274320" cy="274320"/>
          </a:xfrm>
          <a:prstGeom prst="rect">
            <a:avLst/>
          </a:prstGeom>
        </p:spPr>
      </p:pic>
      <p:sp>
        <p:nvSpPr>
          <p:cNvPr id="28" name="Text 23"/>
          <p:cNvSpPr txBox="1"/>
          <p:nvPr/>
        </p:nvSpPr>
        <p:spPr>
          <a:xfrm>
            <a:off x="1554480" y="4206240"/>
            <a:ext cx="4084168"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Open-Meteo (API)</a:t>
            </a:r>
            <a:endParaRPr lang="en-US" sz="1800" dirty="0"/>
          </a:p>
        </p:txBody>
      </p:sp>
      <p:sp>
        <p:nvSpPr>
          <p:cNvPr id="29" name="Text 24"/>
          <p:cNvSpPr txBox="1"/>
          <p:nvPr/>
        </p:nvSpPr>
        <p:spPr>
          <a:xfrm>
            <a:off x="822960" y="4864608"/>
            <a:ext cx="4815688" cy="566928"/>
          </a:xfrm>
          <a:prstGeom prst="rect">
            <a:avLst/>
          </a:prstGeom>
          <a:noFill/>
          <a:ln/>
        </p:spPr>
        <p:txBody>
          <a:bodyPr wrap="square" lIns="0" tIns="0" rIns="0" bIns="0" rtlCol="0" anchor="t"/>
          <a:lstStyle/>
          <a:p>
            <a:pPr indent="0" marL="0">
              <a:buNone/>
            </a:pPr>
            <a:r>
              <a:rPr lang="en-US" sz="1400" dirty="0">
                <a:solidFill>
                  <a:schemeClr val="tx1"/>
                </a:solidFill>
              </a:rPr>
              <a:t>Température et précipitations horaires au centre de Paris (48,85 ; 2,35). Sans clé.</a:t>
            </a:r>
            <a:endParaRPr lang="en-US" sz="1400" dirty="0"/>
          </a:p>
        </p:txBody>
      </p:sp>
      <p:sp>
        <p:nvSpPr>
          <p:cNvPr id="30" name="Text 25"/>
          <p:cNvSpPr txBox="1"/>
          <p:nvPr/>
        </p:nvSpPr>
        <p:spPr>
          <a:xfrm>
            <a:off x="822960" y="5504688"/>
            <a:ext cx="1483309" cy="182880"/>
          </a:xfrm>
          <a:prstGeom prst="rect">
            <a:avLst/>
          </a:prstGeom>
          <a:noFill/>
          <a:ln/>
        </p:spPr>
        <p:txBody>
          <a:bodyPr wrap="square" lIns="0" tIns="0" rIns="0" bIns="0" rtlCol="0" anchor="t"/>
          <a:lstStyle/>
          <a:p>
            <a:pPr indent="0" marL="0">
              <a:buNone/>
            </a:pPr>
            <a:r>
              <a:rPr lang="en-US" sz="1000" b="1" spc="100" kern="0" dirty="0">
                <a:solidFill>
                  <a:schemeClr val="accent2"/>
                </a:solidFill>
              </a:rPr>
              <a:t>FORMAT</a:t>
            </a:r>
            <a:endParaRPr lang="en-US" sz="1000" dirty="0"/>
          </a:p>
        </p:txBody>
      </p:sp>
      <p:sp>
        <p:nvSpPr>
          <p:cNvPr id="31" name="Text 26"/>
          <p:cNvSpPr txBox="1"/>
          <p:nvPr/>
        </p:nvSpPr>
        <p:spPr>
          <a:xfrm>
            <a:off x="822960" y="5705856"/>
            <a:ext cx="1483309" cy="411480"/>
          </a:xfrm>
          <a:prstGeom prst="rect">
            <a:avLst/>
          </a:prstGeom>
          <a:noFill/>
          <a:ln/>
        </p:spPr>
        <p:txBody>
          <a:bodyPr wrap="square" lIns="0" tIns="0" rIns="0" bIns="0" rtlCol="0" anchor="t"/>
          <a:lstStyle/>
          <a:p>
            <a:pPr indent="0" marL="0">
              <a:buNone/>
            </a:pPr>
            <a:r>
              <a:rPr lang="en-US" sz="1200" dirty="0">
                <a:solidFill>
                  <a:schemeClr val="tx2"/>
                </a:solidFill>
              </a:rPr>
              <a:t>JSON en colonnes</a:t>
            </a:r>
            <a:endParaRPr lang="en-US" sz="1200" dirty="0"/>
          </a:p>
        </p:txBody>
      </p:sp>
      <p:sp>
        <p:nvSpPr>
          <p:cNvPr id="32" name="Text 27"/>
          <p:cNvSpPr txBox="1"/>
          <p:nvPr/>
        </p:nvSpPr>
        <p:spPr>
          <a:xfrm>
            <a:off x="2489149" y="5504688"/>
            <a:ext cx="1483309" cy="182880"/>
          </a:xfrm>
          <a:prstGeom prst="rect">
            <a:avLst/>
          </a:prstGeom>
          <a:noFill/>
          <a:ln/>
        </p:spPr>
        <p:txBody>
          <a:bodyPr wrap="square" lIns="0" tIns="0" rIns="0" bIns="0" rtlCol="0" anchor="t"/>
          <a:lstStyle/>
          <a:p>
            <a:pPr indent="0" marL="0">
              <a:buNone/>
            </a:pPr>
            <a:r>
              <a:rPr lang="en-US" sz="1000" b="1" spc="100" kern="0" dirty="0">
                <a:solidFill>
                  <a:schemeClr val="accent2"/>
                </a:solidFill>
              </a:rPr>
              <a:t>FRÉQUENCE</a:t>
            </a:r>
            <a:endParaRPr lang="en-US" sz="1000" dirty="0"/>
          </a:p>
        </p:txBody>
      </p:sp>
      <p:sp>
        <p:nvSpPr>
          <p:cNvPr id="33" name="Text 28"/>
          <p:cNvSpPr txBox="1"/>
          <p:nvPr/>
        </p:nvSpPr>
        <p:spPr>
          <a:xfrm>
            <a:off x="2489149" y="5705856"/>
            <a:ext cx="1483309" cy="411480"/>
          </a:xfrm>
          <a:prstGeom prst="rect">
            <a:avLst/>
          </a:prstGeom>
          <a:noFill/>
          <a:ln/>
        </p:spPr>
        <p:txBody>
          <a:bodyPr wrap="square" lIns="0" tIns="0" rIns="0" bIns="0" rtlCol="0" anchor="t"/>
          <a:lstStyle/>
          <a:p>
            <a:pPr indent="0" marL="0">
              <a:buNone/>
            </a:pPr>
            <a:r>
              <a:rPr lang="en-US" sz="1200" dirty="0">
                <a:solidFill>
                  <a:schemeClr val="tx2"/>
                </a:solidFill>
              </a:rPr>
              <a:t>Horaire, 1 collecte/jour</a:t>
            </a:r>
            <a:endParaRPr lang="en-US" sz="1200" dirty="0"/>
          </a:p>
        </p:txBody>
      </p:sp>
      <p:sp>
        <p:nvSpPr>
          <p:cNvPr id="34" name="Text 29"/>
          <p:cNvSpPr txBox="1"/>
          <p:nvPr/>
        </p:nvSpPr>
        <p:spPr>
          <a:xfrm>
            <a:off x="4155338" y="5504688"/>
            <a:ext cx="1483309" cy="182880"/>
          </a:xfrm>
          <a:prstGeom prst="rect">
            <a:avLst/>
          </a:prstGeom>
          <a:noFill/>
          <a:ln/>
        </p:spPr>
        <p:txBody>
          <a:bodyPr wrap="square" lIns="0" tIns="0" rIns="0" bIns="0" rtlCol="0" anchor="t"/>
          <a:lstStyle/>
          <a:p>
            <a:pPr indent="0" marL="0">
              <a:buNone/>
            </a:pPr>
            <a:r>
              <a:rPr lang="en-US" sz="1000" b="1" spc="100" kern="0" dirty="0">
                <a:solidFill>
                  <a:schemeClr val="accent2"/>
                </a:solidFill>
              </a:rPr>
              <a:t>VOLUME</a:t>
            </a:r>
            <a:endParaRPr lang="en-US" sz="1000" dirty="0"/>
          </a:p>
        </p:txBody>
      </p:sp>
      <p:sp>
        <p:nvSpPr>
          <p:cNvPr id="35" name="Text 30"/>
          <p:cNvSpPr txBox="1"/>
          <p:nvPr/>
        </p:nvSpPr>
        <p:spPr>
          <a:xfrm>
            <a:off x="4155338" y="5705856"/>
            <a:ext cx="1483309" cy="411480"/>
          </a:xfrm>
          <a:prstGeom prst="rect">
            <a:avLst/>
          </a:prstGeom>
          <a:noFill/>
          <a:ln/>
        </p:spPr>
        <p:txBody>
          <a:bodyPr wrap="square" lIns="0" tIns="0" rIns="0" bIns="0" rtlCol="0" anchor="t"/>
          <a:lstStyle/>
          <a:p>
            <a:pPr indent="0" marL="0">
              <a:buNone/>
            </a:pPr>
            <a:r>
              <a:rPr lang="en-US" sz="1200" dirty="0">
                <a:solidFill>
                  <a:schemeClr val="tx2"/>
                </a:solidFill>
              </a:rPr>
              <a:t>≈ 168 lignes/semaine</a:t>
            </a:r>
            <a:endParaRPr lang="en-US" sz="1200" dirty="0"/>
          </a:p>
        </p:txBody>
      </p:sp>
      <p:sp>
        <p:nvSpPr>
          <p:cNvPr id="36" name="Carte Calendrier (fériés, vacances)"/>
          <p:cNvSpPr/>
          <p:nvPr/>
        </p:nvSpPr>
        <p:spPr>
          <a:xfrm>
            <a:off x="6278728" y="3931920"/>
            <a:ext cx="5364328" cy="2240280"/>
          </a:xfrm>
          <a:prstGeom prst="roundRect">
            <a:avLst>
              <a:gd name="adj" fmla="val 4082"/>
            </a:avLst>
          </a:prstGeom>
          <a:solidFill>
            <a:schemeClr val="bg2"/>
          </a:solidFill>
          <a:ln/>
        </p:spPr>
      </p:sp>
      <p:sp>
        <p:nvSpPr>
          <p:cNvPr id="37" name="Icône Calendrier (fériés, vacances)"/>
          <p:cNvSpPr/>
          <p:nvPr/>
        </p:nvSpPr>
        <p:spPr>
          <a:xfrm>
            <a:off x="6553048" y="4206240"/>
            <a:ext cx="548640" cy="548640"/>
          </a:xfrm>
          <a:prstGeom prst="ellipse">
            <a:avLst/>
          </a:prstGeom>
          <a:solidFill>
            <a:schemeClr val="accent3"/>
          </a:solidFill>
          <a:ln/>
        </p:spPr>
      </p:sp>
      <p:pic>
        <p:nvPicPr>
          <p:cNvPr id="38" name="Image 3" descr="preencoded.png">    </p:cNvPr>
          <p:cNvPicPr>
            <a:picLocks noChangeAspect="1"/>
          </p:cNvPicPr>
          <p:nvPr/>
        </p:nvPicPr>
        <p:blipFill>
          <a:blip r:embed="rId4"/>
          <a:stretch>
            <a:fillRect/>
          </a:stretch>
        </p:blipFill>
        <p:spPr>
          <a:xfrm>
            <a:off x="6690208" y="4343400"/>
            <a:ext cx="274320" cy="274320"/>
          </a:xfrm>
          <a:prstGeom prst="rect">
            <a:avLst/>
          </a:prstGeom>
        </p:spPr>
      </p:pic>
      <p:sp>
        <p:nvSpPr>
          <p:cNvPr id="39" name="Text 33"/>
          <p:cNvSpPr txBox="1"/>
          <p:nvPr/>
        </p:nvSpPr>
        <p:spPr>
          <a:xfrm>
            <a:off x="7284568" y="4206240"/>
            <a:ext cx="4084168"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Calendrier (fériés, vacances)</a:t>
            </a:r>
            <a:endParaRPr lang="en-US" sz="1800" dirty="0"/>
          </a:p>
        </p:txBody>
      </p:sp>
      <p:sp>
        <p:nvSpPr>
          <p:cNvPr id="40" name="Text 34"/>
          <p:cNvSpPr txBox="1"/>
          <p:nvPr/>
        </p:nvSpPr>
        <p:spPr>
          <a:xfrm>
            <a:off x="6553048" y="4864608"/>
            <a:ext cx="4815688" cy="566928"/>
          </a:xfrm>
          <a:prstGeom prst="rect">
            <a:avLst/>
          </a:prstGeom>
          <a:noFill/>
          <a:ln/>
        </p:spPr>
        <p:txBody>
          <a:bodyPr wrap="square" lIns="0" tIns="0" rIns="0" bIns="0" rtlCol="0" anchor="t"/>
          <a:lstStyle/>
          <a:p>
            <a:pPr indent="0" marL="0">
              <a:buNone/>
            </a:pPr>
            <a:r>
              <a:rPr lang="en-US" sz="1400" dirty="0">
                <a:solidFill>
                  <a:schemeClr val="tx1"/>
                </a:solidFill>
              </a:rPr>
              <a:t>Variable explicative complémentaire : week-end, jour férié.</a:t>
            </a:r>
            <a:endParaRPr lang="en-US" sz="1400" dirty="0"/>
          </a:p>
        </p:txBody>
      </p:sp>
      <p:sp>
        <p:nvSpPr>
          <p:cNvPr id="41" name="Text 35"/>
          <p:cNvSpPr txBox="1"/>
          <p:nvPr/>
        </p:nvSpPr>
        <p:spPr>
          <a:xfrm>
            <a:off x="6553048" y="5504688"/>
            <a:ext cx="1483309" cy="182880"/>
          </a:xfrm>
          <a:prstGeom prst="rect">
            <a:avLst/>
          </a:prstGeom>
          <a:noFill/>
          <a:ln/>
        </p:spPr>
        <p:txBody>
          <a:bodyPr wrap="square" lIns="0" tIns="0" rIns="0" bIns="0" rtlCol="0" anchor="t"/>
          <a:lstStyle/>
          <a:p>
            <a:pPr indent="0" marL="0">
              <a:buNone/>
            </a:pPr>
            <a:r>
              <a:rPr lang="en-US" sz="1000" b="1" spc="100" kern="0" dirty="0">
                <a:solidFill>
                  <a:schemeClr val="accent3"/>
                </a:solidFill>
              </a:rPr>
              <a:t>FORMAT</a:t>
            </a:r>
            <a:endParaRPr lang="en-US" sz="1000" dirty="0"/>
          </a:p>
        </p:txBody>
      </p:sp>
      <p:sp>
        <p:nvSpPr>
          <p:cNvPr id="42" name="Text 36"/>
          <p:cNvSpPr txBox="1"/>
          <p:nvPr/>
        </p:nvSpPr>
        <p:spPr>
          <a:xfrm>
            <a:off x="6553048" y="5705856"/>
            <a:ext cx="1483309" cy="411480"/>
          </a:xfrm>
          <a:prstGeom prst="rect">
            <a:avLst/>
          </a:prstGeom>
          <a:noFill/>
          <a:ln/>
        </p:spPr>
        <p:txBody>
          <a:bodyPr wrap="square" lIns="0" tIns="0" rIns="0" bIns="0" rtlCol="0" anchor="t"/>
          <a:lstStyle/>
          <a:p>
            <a:pPr indent="0" marL="0">
              <a:buNone/>
            </a:pPr>
            <a:r>
              <a:rPr lang="en-US" sz="1200" dirty="0">
                <a:solidFill>
                  <a:schemeClr val="tx2"/>
                </a:solidFill>
              </a:rPr>
              <a:t>CSV</a:t>
            </a:r>
            <a:endParaRPr lang="en-US" sz="1200" dirty="0"/>
          </a:p>
        </p:txBody>
      </p:sp>
      <p:sp>
        <p:nvSpPr>
          <p:cNvPr id="43" name="Text 37"/>
          <p:cNvSpPr txBox="1"/>
          <p:nvPr/>
        </p:nvSpPr>
        <p:spPr>
          <a:xfrm>
            <a:off x="8219237" y="5504688"/>
            <a:ext cx="1483309" cy="182880"/>
          </a:xfrm>
          <a:prstGeom prst="rect">
            <a:avLst/>
          </a:prstGeom>
          <a:noFill/>
          <a:ln/>
        </p:spPr>
        <p:txBody>
          <a:bodyPr wrap="square" lIns="0" tIns="0" rIns="0" bIns="0" rtlCol="0" anchor="t"/>
          <a:lstStyle/>
          <a:p>
            <a:pPr indent="0" marL="0">
              <a:buNone/>
            </a:pPr>
            <a:r>
              <a:rPr lang="en-US" sz="1000" b="1" spc="100" kern="0" dirty="0">
                <a:solidFill>
                  <a:schemeClr val="accent3"/>
                </a:solidFill>
              </a:rPr>
              <a:t>FRÉQUENCE</a:t>
            </a:r>
            <a:endParaRPr lang="en-US" sz="1000" dirty="0"/>
          </a:p>
        </p:txBody>
      </p:sp>
      <p:sp>
        <p:nvSpPr>
          <p:cNvPr id="44" name="Text 38"/>
          <p:cNvSpPr txBox="1"/>
          <p:nvPr/>
        </p:nvSpPr>
        <p:spPr>
          <a:xfrm>
            <a:off x="8219237" y="5705856"/>
            <a:ext cx="1483309" cy="411480"/>
          </a:xfrm>
          <a:prstGeom prst="rect">
            <a:avLst/>
          </a:prstGeom>
          <a:noFill/>
          <a:ln/>
        </p:spPr>
        <p:txBody>
          <a:bodyPr wrap="square" lIns="0" tIns="0" rIns="0" bIns="0" rtlCol="0" anchor="t"/>
          <a:lstStyle/>
          <a:p>
            <a:pPr indent="0" marL="0">
              <a:buNone/>
            </a:pPr>
            <a:r>
              <a:rPr lang="en-US" sz="1200" dirty="0">
                <a:solidFill>
                  <a:schemeClr val="tx2"/>
                </a:solidFill>
              </a:rPr>
              <a:t>Statique</a:t>
            </a:r>
            <a:endParaRPr lang="en-US" sz="1200" dirty="0"/>
          </a:p>
        </p:txBody>
      </p:sp>
      <p:sp>
        <p:nvSpPr>
          <p:cNvPr id="45" name="Text 39"/>
          <p:cNvSpPr txBox="1"/>
          <p:nvPr/>
        </p:nvSpPr>
        <p:spPr>
          <a:xfrm>
            <a:off x="9885426" y="5504688"/>
            <a:ext cx="1483309" cy="182880"/>
          </a:xfrm>
          <a:prstGeom prst="rect">
            <a:avLst/>
          </a:prstGeom>
          <a:noFill/>
          <a:ln/>
        </p:spPr>
        <p:txBody>
          <a:bodyPr wrap="square" lIns="0" tIns="0" rIns="0" bIns="0" rtlCol="0" anchor="t"/>
          <a:lstStyle/>
          <a:p>
            <a:pPr indent="0" marL="0">
              <a:buNone/>
            </a:pPr>
            <a:r>
              <a:rPr lang="en-US" sz="1000" b="1" spc="100" kern="0" dirty="0">
                <a:solidFill>
                  <a:schemeClr val="accent3"/>
                </a:solidFill>
              </a:rPr>
              <a:t>VOLUME</a:t>
            </a:r>
            <a:endParaRPr lang="en-US" sz="1000" dirty="0"/>
          </a:p>
        </p:txBody>
      </p:sp>
      <p:sp>
        <p:nvSpPr>
          <p:cNvPr id="46" name="Text 40"/>
          <p:cNvSpPr txBox="1"/>
          <p:nvPr/>
        </p:nvSpPr>
        <p:spPr>
          <a:xfrm>
            <a:off x="9885426" y="5705856"/>
            <a:ext cx="1483309" cy="411480"/>
          </a:xfrm>
          <a:prstGeom prst="rect">
            <a:avLst/>
          </a:prstGeom>
          <a:noFill/>
          <a:ln/>
        </p:spPr>
        <p:txBody>
          <a:bodyPr wrap="square" lIns="0" tIns="0" rIns="0" bIns="0" rtlCol="0" anchor="t"/>
          <a:lstStyle/>
          <a:p>
            <a:pPr indent="0" marL="0">
              <a:buNone/>
            </a:pPr>
            <a:r>
              <a:rPr lang="en-US" sz="1200" dirty="0">
                <a:solidFill>
                  <a:schemeClr val="tx2"/>
                </a:solidFill>
              </a:rPr>
              <a:t>Négligeable</a:t>
            </a:r>
            <a:endParaRPr lang="en-US" sz="1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bg1"/>
                </a:solidFill>
              </a:rPr>
              <a:t>Pourquoi un datalake ?</a:t>
            </a:r>
            <a:endParaRPr lang="en-US" sz="3400" dirty="0"/>
          </a:p>
        </p:txBody>
      </p:sp>
      <p:sp>
        <p:nvSpPr>
          <p:cNvPr id="3" name="Icône Construire l’historique"/>
          <p:cNvSpPr/>
          <p:nvPr/>
        </p:nvSpPr>
        <p:spPr>
          <a:xfrm>
            <a:off x="548640" y="1783080"/>
            <a:ext cx="960120" cy="96012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88670" y="2023110"/>
            <a:ext cx="480060" cy="480060"/>
          </a:xfrm>
          <a:prstGeom prst="rect">
            <a:avLst/>
          </a:prstGeom>
        </p:spPr>
      </p:pic>
      <p:sp>
        <p:nvSpPr>
          <p:cNvPr id="5" name="Text 2"/>
          <p:cNvSpPr txBox="1"/>
          <p:nvPr/>
        </p:nvSpPr>
        <p:spPr>
          <a:xfrm>
            <a:off x="548640" y="3017520"/>
            <a:ext cx="3393338" cy="82296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Construire l’historique</a:t>
            </a:r>
            <a:endParaRPr lang="en-US" sz="2400" dirty="0"/>
          </a:p>
        </p:txBody>
      </p:sp>
      <p:sp>
        <p:nvSpPr>
          <p:cNvPr id="6" name="Text 3"/>
          <p:cNvSpPr txBox="1"/>
          <p:nvPr/>
        </p:nvSpPr>
        <p:spPr>
          <a:xfrm>
            <a:off x="548640" y="4023360"/>
            <a:ext cx="3210458" cy="1463040"/>
          </a:xfrm>
          <a:prstGeom prst="rect">
            <a:avLst/>
          </a:prstGeom>
          <a:noFill/>
          <a:ln/>
        </p:spPr>
        <p:txBody>
          <a:bodyPr wrap="square" lIns="0" tIns="0" rIns="0" bIns="0" rtlCol="0" anchor="t"/>
          <a:lstStyle/>
          <a:p>
            <a:pPr indent="0" marL="0">
              <a:lnSpc>
                <a:spcPct val="110000"/>
              </a:lnSpc>
              <a:buNone/>
            </a:pPr>
            <a:r>
              <a:rPr lang="en-US" sz="1800" dirty="0">
                <a:solidFill>
                  <a:schemeClr val="bg2"/>
                </a:solidFill>
              </a:rPr>
              <a:t>Vélib’ ne conserve aucun historique : il faut le constituer soi-même, relevé après relevé.</a:t>
            </a:r>
            <a:endParaRPr lang="en-US" sz="1800" dirty="0"/>
          </a:p>
        </p:txBody>
      </p:sp>
      <p:sp>
        <p:nvSpPr>
          <p:cNvPr id="7" name="Icône Formats et rythmes variés"/>
          <p:cNvSpPr/>
          <p:nvPr/>
        </p:nvSpPr>
        <p:spPr>
          <a:xfrm>
            <a:off x="4399178" y="1783080"/>
            <a:ext cx="960120" cy="960120"/>
          </a:xfrm>
          <a:prstGeom prst="ellipse">
            <a:avLst/>
          </a:prstGeom>
          <a:solidFill>
            <a:schemeClr val="accent2"/>
          </a:solidFill>
          <a:ln/>
        </p:spPr>
      </p:sp>
      <p:pic>
        <p:nvPicPr>
          <p:cNvPr id="8" name="Image 1" descr="preencoded.png">    </p:cNvPr>
          <p:cNvPicPr>
            <a:picLocks noChangeAspect="1"/>
          </p:cNvPicPr>
          <p:nvPr/>
        </p:nvPicPr>
        <p:blipFill>
          <a:blip r:embed="rId2"/>
          <a:stretch>
            <a:fillRect/>
          </a:stretch>
        </p:blipFill>
        <p:spPr>
          <a:xfrm>
            <a:off x="4639208" y="2023110"/>
            <a:ext cx="480060" cy="480060"/>
          </a:xfrm>
          <a:prstGeom prst="rect">
            <a:avLst/>
          </a:prstGeom>
        </p:spPr>
      </p:pic>
      <p:sp>
        <p:nvSpPr>
          <p:cNvPr id="9" name="Text 5"/>
          <p:cNvSpPr txBox="1"/>
          <p:nvPr/>
        </p:nvSpPr>
        <p:spPr>
          <a:xfrm>
            <a:off x="4399178" y="3017520"/>
            <a:ext cx="3393338" cy="82296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Formats et rythmes variés</a:t>
            </a:r>
            <a:endParaRPr lang="en-US" sz="2400" dirty="0"/>
          </a:p>
        </p:txBody>
      </p:sp>
      <p:sp>
        <p:nvSpPr>
          <p:cNvPr id="10" name="Text 6"/>
          <p:cNvSpPr txBox="1"/>
          <p:nvPr/>
        </p:nvSpPr>
        <p:spPr>
          <a:xfrm>
            <a:off x="4399178" y="4023360"/>
            <a:ext cx="3210458" cy="1463040"/>
          </a:xfrm>
          <a:prstGeom prst="rect">
            <a:avLst/>
          </a:prstGeom>
          <a:noFill/>
          <a:ln/>
        </p:spPr>
        <p:txBody>
          <a:bodyPr wrap="square" lIns="0" tIns="0" rIns="0" bIns="0" rtlCol="0" anchor="t"/>
          <a:lstStyle/>
          <a:p>
            <a:pPr indent="0" marL="0">
              <a:lnSpc>
                <a:spcPct val="110000"/>
              </a:lnSpc>
              <a:buNone/>
            </a:pPr>
            <a:r>
              <a:rPr lang="en-US" sz="1800" dirty="0">
                <a:solidFill>
                  <a:schemeClr val="bg2"/>
                </a:solidFill>
              </a:rPr>
              <a:t>JSON imbriqué à la minute, JSON horaire, CSV statique : tout est stocké tel quel.</a:t>
            </a:r>
            <a:endParaRPr lang="en-US" sz="1800" dirty="0"/>
          </a:p>
        </p:txBody>
      </p:sp>
      <p:sp>
        <p:nvSpPr>
          <p:cNvPr id="11" name="Icône Rejouer les transformations"/>
          <p:cNvSpPr/>
          <p:nvPr/>
        </p:nvSpPr>
        <p:spPr>
          <a:xfrm>
            <a:off x="8249717" y="1783080"/>
            <a:ext cx="960120" cy="960120"/>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8489747" y="2023110"/>
            <a:ext cx="480060" cy="480060"/>
          </a:xfrm>
          <a:prstGeom prst="rect">
            <a:avLst/>
          </a:prstGeom>
        </p:spPr>
      </p:pic>
      <p:sp>
        <p:nvSpPr>
          <p:cNvPr id="13" name="Text 8"/>
          <p:cNvSpPr txBox="1"/>
          <p:nvPr/>
        </p:nvSpPr>
        <p:spPr>
          <a:xfrm>
            <a:off x="8249717" y="3017520"/>
            <a:ext cx="3393338" cy="82296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Rejouer les transformations</a:t>
            </a:r>
            <a:endParaRPr lang="en-US" sz="2400" dirty="0"/>
          </a:p>
        </p:txBody>
      </p:sp>
      <p:sp>
        <p:nvSpPr>
          <p:cNvPr id="14" name="Text 9"/>
          <p:cNvSpPr txBox="1"/>
          <p:nvPr/>
        </p:nvSpPr>
        <p:spPr>
          <a:xfrm>
            <a:off x="8249717" y="4023360"/>
            <a:ext cx="3210458" cy="1463040"/>
          </a:xfrm>
          <a:prstGeom prst="rect">
            <a:avLst/>
          </a:prstGeom>
          <a:noFill/>
          <a:ln/>
        </p:spPr>
        <p:txBody>
          <a:bodyPr wrap="square" lIns="0" tIns="0" rIns="0" bIns="0" rtlCol="0" anchor="t"/>
          <a:lstStyle/>
          <a:p>
            <a:pPr indent="0" marL="0">
              <a:lnSpc>
                <a:spcPct val="110000"/>
              </a:lnSpc>
              <a:buNone/>
            </a:pPr>
            <a:r>
              <a:rPr lang="en-US" sz="1800" dirty="0">
                <a:solidFill>
                  <a:schemeClr val="bg2"/>
                </a:solidFill>
              </a:rPr>
              <a:t>Le brut est conservé : on peut corriger une règle Silver ou Gold et tout recalculer.</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 médaillon sur Azure</a:t>
            </a:r>
            <a:endParaRPr lang="en-US" sz="3400" dirty="0"/>
          </a:p>
        </p:txBody>
      </p:sp>
      <p:sp>
        <p:nvSpPr>
          <p:cNvPr id="3" name="Zone Sources"/>
          <p:cNvSpPr/>
          <p:nvPr/>
        </p:nvSpPr>
        <p:spPr>
          <a:xfrm>
            <a:off x="548640" y="1463040"/>
            <a:ext cx="1874520" cy="2743200"/>
          </a:xfrm>
          <a:prstGeom prst="roundRect">
            <a:avLst>
              <a:gd name="adj" fmla="val 4878"/>
            </a:avLst>
          </a:prstGeom>
          <a:solidFill>
            <a:schemeClr val="bg2"/>
          </a:solidFill>
          <a:ln/>
        </p:spPr>
      </p:sp>
      <p:sp>
        <p:nvSpPr>
          <p:cNvPr id="4" name="Icône Sources"/>
          <p:cNvSpPr/>
          <p:nvPr/>
        </p:nvSpPr>
        <p:spPr>
          <a:xfrm>
            <a:off x="1120140" y="1737360"/>
            <a:ext cx="731520" cy="73152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1303020" y="1920240"/>
            <a:ext cx="365760" cy="365760"/>
          </a:xfrm>
          <a:prstGeom prst="rect">
            <a:avLst/>
          </a:prstGeom>
        </p:spPr>
      </p:pic>
      <p:sp>
        <p:nvSpPr>
          <p:cNvPr id="6" name="Text 3"/>
          <p:cNvSpPr txBox="1"/>
          <p:nvPr/>
        </p:nvSpPr>
        <p:spPr>
          <a:xfrm>
            <a:off x="685800" y="2578608"/>
            <a:ext cx="1600200" cy="411480"/>
          </a:xfrm>
          <a:prstGeom prst="rect">
            <a:avLst/>
          </a:prstGeom>
          <a:noFill/>
          <a:ln/>
        </p:spPr>
        <p:txBody>
          <a:bodyPr wrap="square" lIns="0" tIns="0" rIns="0" bIns="0" rtlCol="0" anchor="t"/>
          <a:lstStyle/>
          <a:p>
            <a:pPr algn="ctr" indent="0" marL="0">
              <a:buNone/>
            </a:pPr>
            <a:r>
              <a:rPr lang="en-US" sz="2000" b="1" dirty="0">
                <a:solidFill>
                  <a:schemeClr val="tx1"/>
                </a:solidFill>
                <a:latin typeface="+mj-lt" pitchFamily="34" charset="0"/>
                <a:ea typeface="+mj-lt" pitchFamily="34" charset="-122"/>
                <a:cs typeface="+mj-lt" pitchFamily="34" charset="-120"/>
              </a:rPr>
              <a:t>Sources</a:t>
            </a:r>
            <a:endParaRPr lang="en-US" sz="2000" dirty="0"/>
          </a:p>
        </p:txBody>
      </p:sp>
      <p:sp>
        <p:nvSpPr>
          <p:cNvPr id="7" name="Text 4"/>
          <p:cNvSpPr txBox="1"/>
          <p:nvPr/>
        </p:nvSpPr>
        <p:spPr>
          <a:xfrm>
            <a:off x="685800" y="3063240"/>
            <a:ext cx="1600200" cy="1051560"/>
          </a:xfrm>
          <a:prstGeom prst="rect">
            <a:avLst/>
          </a:prstGeom>
          <a:noFill/>
          <a:ln/>
        </p:spPr>
        <p:txBody>
          <a:bodyPr wrap="square" lIns="0" tIns="0" rIns="0" bIns="0" rtlCol="0" anchor="t"/>
          <a:lstStyle/>
          <a:p>
            <a:pPr algn="ctr" indent="0" marL="0">
              <a:buNone/>
            </a:pPr>
            <a:r>
              <a:rPr lang="en-US" sz="1400" dirty="0">
                <a:solidFill>
                  <a:schemeClr val="tx2"/>
                </a:solidFill>
              </a:rPr>
              <a:t>API Vélib’, API Open-Meteo, CSV calendrier</a:t>
            </a:r>
            <a:endParaRPr lang="en-US" sz="1400" dirty="0"/>
          </a:p>
        </p:txBody>
      </p:sp>
      <p:sp>
        <p:nvSpPr>
          <p:cNvPr id="8" name="Flèche 1"/>
          <p:cNvSpPr/>
          <p:nvPr/>
        </p:nvSpPr>
        <p:spPr>
          <a:xfrm>
            <a:off x="2496312" y="2834640"/>
            <a:ext cx="284150" cy="0"/>
          </a:xfrm>
          <a:prstGeom prst="line">
            <a:avLst/>
          </a:prstGeom>
          <a:noFill/>
          <a:ln w="25400">
            <a:solidFill>
              <a:schemeClr val="tx2"/>
            </a:solidFill>
            <a:prstDash val="solid"/>
            <a:tailEnd type="triangle"/>
          </a:ln>
        </p:spPr>
      </p:sp>
      <p:sp>
        <p:nvSpPr>
          <p:cNvPr id="9" name="Zone Bronze"/>
          <p:cNvSpPr/>
          <p:nvPr/>
        </p:nvSpPr>
        <p:spPr>
          <a:xfrm>
            <a:off x="2853614" y="1463040"/>
            <a:ext cx="1874520" cy="2743200"/>
          </a:xfrm>
          <a:prstGeom prst="roundRect">
            <a:avLst>
              <a:gd name="adj" fmla="val 4878"/>
            </a:avLst>
          </a:prstGeom>
          <a:solidFill>
            <a:schemeClr val="bg2"/>
          </a:solidFill>
          <a:ln/>
        </p:spPr>
      </p:sp>
      <p:sp>
        <p:nvSpPr>
          <p:cNvPr id="10" name="Icône Bronze"/>
          <p:cNvSpPr/>
          <p:nvPr/>
        </p:nvSpPr>
        <p:spPr>
          <a:xfrm>
            <a:off x="3425114" y="1737360"/>
            <a:ext cx="731520" cy="731520"/>
          </a:xfrm>
          <a:prstGeom prst="ellipse">
            <a:avLst/>
          </a:prstGeom>
          <a:solidFill>
            <a:schemeClr val="accent5"/>
          </a:solidFill>
          <a:ln/>
        </p:spPr>
      </p:sp>
      <p:pic>
        <p:nvPicPr>
          <p:cNvPr id="11" name="Image 1" descr="preencoded.png">    </p:cNvPr>
          <p:cNvPicPr>
            <a:picLocks noChangeAspect="1"/>
          </p:cNvPicPr>
          <p:nvPr/>
        </p:nvPicPr>
        <p:blipFill>
          <a:blip r:embed="rId2"/>
          <a:stretch>
            <a:fillRect/>
          </a:stretch>
        </p:blipFill>
        <p:spPr>
          <a:xfrm>
            <a:off x="3607994" y="1920240"/>
            <a:ext cx="365760" cy="365760"/>
          </a:xfrm>
          <a:prstGeom prst="rect">
            <a:avLst/>
          </a:prstGeom>
        </p:spPr>
      </p:pic>
      <p:sp>
        <p:nvSpPr>
          <p:cNvPr id="12" name="Text 8"/>
          <p:cNvSpPr txBox="1"/>
          <p:nvPr/>
        </p:nvSpPr>
        <p:spPr>
          <a:xfrm>
            <a:off x="2990774" y="2578608"/>
            <a:ext cx="1600200" cy="411480"/>
          </a:xfrm>
          <a:prstGeom prst="rect">
            <a:avLst/>
          </a:prstGeom>
          <a:noFill/>
          <a:ln/>
        </p:spPr>
        <p:txBody>
          <a:bodyPr wrap="square" lIns="0" tIns="0" rIns="0" bIns="0" rtlCol="0" anchor="t"/>
          <a:lstStyle/>
          <a:p>
            <a:pPr algn="ctr" indent="0" marL="0">
              <a:buNone/>
            </a:pPr>
            <a:r>
              <a:rPr lang="en-US" sz="2000" b="1" dirty="0">
                <a:solidFill>
                  <a:schemeClr val="tx1"/>
                </a:solidFill>
                <a:latin typeface="+mj-lt" pitchFamily="34" charset="0"/>
                <a:ea typeface="+mj-lt" pitchFamily="34" charset="-122"/>
                <a:cs typeface="+mj-lt" pitchFamily="34" charset="-120"/>
              </a:rPr>
              <a:t>Bronze</a:t>
            </a:r>
            <a:endParaRPr lang="en-US" sz="2000" dirty="0"/>
          </a:p>
        </p:txBody>
      </p:sp>
      <p:sp>
        <p:nvSpPr>
          <p:cNvPr id="13" name="Text 9"/>
          <p:cNvSpPr txBox="1"/>
          <p:nvPr/>
        </p:nvSpPr>
        <p:spPr>
          <a:xfrm>
            <a:off x="2990774" y="3063240"/>
            <a:ext cx="1600200" cy="1051560"/>
          </a:xfrm>
          <a:prstGeom prst="rect">
            <a:avLst/>
          </a:prstGeom>
          <a:noFill/>
          <a:ln/>
        </p:spPr>
        <p:txBody>
          <a:bodyPr wrap="square" lIns="0" tIns="0" rIns="0" bIns="0" rtlCol="0" anchor="t"/>
          <a:lstStyle/>
          <a:p>
            <a:pPr algn="ctr" indent="0" marL="0">
              <a:buNone/>
            </a:pPr>
            <a:r>
              <a:rPr lang="en-US" sz="1400" dirty="0">
                <a:solidFill>
                  <a:schemeClr val="tx2"/>
                </a:solidFill>
              </a:rPr>
              <a:t>Azure Functions (toutes les 5 min) → ADLS Gen2</a:t>
            </a:r>
            <a:endParaRPr lang="en-US" sz="1400" dirty="0"/>
          </a:p>
        </p:txBody>
      </p:sp>
      <p:sp>
        <p:nvSpPr>
          <p:cNvPr id="14" name="Flèche 2"/>
          <p:cNvSpPr/>
          <p:nvPr/>
        </p:nvSpPr>
        <p:spPr>
          <a:xfrm>
            <a:off x="4801286" y="2834640"/>
            <a:ext cx="284150" cy="0"/>
          </a:xfrm>
          <a:prstGeom prst="line">
            <a:avLst/>
          </a:prstGeom>
          <a:noFill/>
          <a:ln w="25400">
            <a:solidFill>
              <a:schemeClr val="tx2"/>
            </a:solidFill>
            <a:prstDash val="solid"/>
            <a:tailEnd type="triangle"/>
          </a:ln>
        </p:spPr>
      </p:sp>
      <p:sp>
        <p:nvSpPr>
          <p:cNvPr id="15" name="Zone Silver"/>
          <p:cNvSpPr/>
          <p:nvPr/>
        </p:nvSpPr>
        <p:spPr>
          <a:xfrm>
            <a:off x="5158588" y="1463040"/>
            <a:ext cx="1874520" cy="2743200"/>
          </a:xfrm>
          <a:prstGeom prst="roundRect">
            <a:avLst>
              <a:gd name="adj" fmla="val 4878"/>
            </a:avLst>
          </a:prstGeom>
          <a:solidFill>
            <a:schemeClr val="bg2"/>
          </a:solidFill>
          <a:ln/>
        </p:spPr>
      </p:sp>
      <p:sp>
        <p:nvSpPr>
          <p:cNvPr id="16" name="Icône Silver"/>
          <p:cNvSpPr/>
          <p:nvPr/>
        </p:nvSpPr>
        <p:spPr>
          <a:xfrm>
            <a:off x="5730088" y="1737360"/>
            <a:ext cx="731520" cy="731520"/>
          </a:xfrm>
          <a:prstGeom prst="ellipse">
            <a:avLst/>
          </a:prstGeom>
          <a:solidFill>
            <a:schemeClr val="accent6"/>
          </a:solidFill>
          <a:ln/>
        </p:spPr>
      </p:sp>
      <p:pic>
        <p:nvPicPr>
          <p:cNvPr id="17" name="Image 2" descr="preencoded.png">    </p:cNvPr>
          <p:cNvPicPr>
            <a:picLocks noChangeAspect="1"/>
          </p:cNvPicPr>
          <p:nvPr/>
        </p:nvPicPr>
        <p:blipFill>
          <a:blip r:embed="rId3"/>
          <a:stretch>
            <a:fillRect/>
          </a:stretch>
        </p:blipFill>
        <p:spPr>
          <a:xfrm>
            <a:off x="5912968" y="1920240"/>
            <a:ext cx="365760" cy="365760"/>
          </a:xfrm>
          <a:prstGeom prst="rect">
            <a:avLst/>
          </a:prstGeom>
        </p:spPr>
      </p:pic>
      <p:sp>
        <p:nvSpPr>
          <p:cNvPr id="18" name="Text 13"/>
          <p:cNvSpPr txBox="1"/>
          <p:nvPr/>
        </p:nvSpPr>
        <p:spPr>
          <a:xfrm>
            <a:off x="5295748" y="2578608"/>
            <a:ext cx="1600200" cy="411480"/>
          </a:xfrm>
          <a:prstGeom prst="rect">
            <a:avLst/>
          </a:prstGeom>
          <a:noFill/>
          <a:ln/>
        </p:spPr>
        <p:txBody>
          <a:bodyPr wrap="square" lIns="0" tIns="0" rIns="0" bIns="0" rtlCol="0" anchor="t"/>
          <a:lstStyle/>
          <a:p>
            <a:pPr algn="ctr" indent="0" marL="0">
              <a:buNone/>
            </a:pPr>
            <a:r>
              <a:rPr lang="en-US" sz="2000" b="1" dirty="0">
                <a:solidFill>
                  <a:schemeClr val="tx1"/>
                </a:solidFill>
                <a:latin typeface="+mj-lt" pitchFamily="34" charset="0"/>
                <a:ea typeface="+mj-lt" pitchFamily="34" charset="-122"/>
                <a:cs typeface="+mj-lt" pitchFamily="34" charset="-120"/>
              </a:rPr>
              <a:t>Silver</a:t>
            </a:r>
            <a:endParaRPr lang="en-US" sz="2000" dirty="0"/>
          </a:p>
        </p:txBody>
      </p:sp>
      <p:sp>
        <p:nvSpPr>
          <p:cNvPr id="19" name="Text 14"/>
          <p:cNvSpPr txBox="1"/>
          <p:nvPr/>
        </p:nvSpPr>
        <p:spPr>
          <a:xfrm>
            <a:off x="5295748" y="3063240"/>
            <a:ext cx="1600200" cy="1051560"/>
          </a:xfrm>
          <a:prstGeom prst="rect">
            <a:avLst/>
          </a:prstGeom>
          <a:noFill/>
          <a:ln/>
        </p:spPr>
        <p:txBody>
          <a:bodyPr wrap="square" lIns="0" tIns="0" rIns="0" bIns="0" rtlCol="0" anchor="t"/>
          <a:lstStyle/>
          <a:p>
            <a:pPr algn="ctr" indent="0" marL="0">
              <a:buNone/>
            </a:pPr>
            <a:r>
              <a:rPr lang="en-US" sz="1400" dirty="0">
                <a:solidFill>
                  <a:schemeClr val="tx2"/>
                </a:solidFill>
              </a:rPr>
              <a:t>Python (pandas / DuckDB) 1×/jour → Parquet</a:t>
            </a:r>
            <a:endParaRPr lang="en-US" sz="1400" dirty="0"/>
          </a:p>
        </p:txBody>
      </p:sp>
      <p:sp>
        <p:nvSpPr>
          <p:cNvPr id="20" name="Flèche 3"/>
          <p:cNvSpPr/>
          <p:nvPr/>
        </p:nvSpPr>
        <p:spPr>
          <a:xfrm>
            <a:off x="7106260" y="2834640"/>
            <a:ext cx="284150" cy="0"/>
          </a:xfrm>
          <a:prstGeom prst="line">
            <a:avLst/>
          </a:prstGeom>
          <a:noFill/>
          <a:ln w="25400">
            <a:solidFill>
              <a:schemeClr val="tx2"/>
            </a:solidFill>
            <a:prstDash val="solid"/>
            <a:tailEnd type="triangle"/>
          </a:ln>
        </p:spPr>
      </p:sp>
      <p:sp>
        <p:nvSpPr>
          <p:cNvPr id="21" name="Zone Gold"/>
          <p:cNvSpPr/>
          <p:nvPr/>
        </p:nvSpPr>
        <p:spPr>
          <a:xfrm>
            <a:off x="7463561" y="1463040"/>
            <a:ext cx="1874520" cy="2743200"/>
          </a:xfrm>
          <a:prstGeom prst="roundRect">
            <a:avLst>
              <a:gd name="adj" fmla="val 4878"/>
            </a:avLst>
          </a:prstGeom>
          <a:solidFill>
            <a:schemeClr val="bg2"/>
          </a:solidFill>
          <a:ln/>
        </p:spPr>
      </p:sp>
      <p:sp>
        <p:nvSpPr>
          <p:cNvPr id="22" name="Icône Gold"/>
          <p:cNvSpPr/>
          <p:nvPr/>
        </p:nvSpPr>
        <p:spPr>
          <a:xfrm>
            <a:off x="8035061" y="1737360"/>
            <a:ext cx="731520" cy="731520"/>
          </a:xfrm>
          <a:prstGeom prst="ellipse">
            <a:avLst/>
          </a:prstGeom>
          <a:solidFill>
            <a:schemeClr val="accent3"/>
          </a:solidFill>
          <a:ln/>
        </p:spPr>
      </p:sp>
      <p:pic>
        <p:nvPicPr>
          <p:cNvPr id="23" name="Image 3" descr="preencoded.png">    </p:cNvPr>
          <p:cNvPicPr>
            <a:picLocks noChangeAspect="1"/>
          </p:cNvPicPr>
          <p:nvPr/>
        </p:nvPicPr>
        <p:blipFill>
          <a:blip r:embed="rId4"/>
          <a:stretch>
            <a:fillRect/>
          </a:stretch>
        </p:blipFill>
        <p:spPr>
          <a:xfrm>
            <a:off x="8217941" y="1920240"/>
            <a:ext cx="365760" cy="365760"/>
          </a:xfrm>
          <a:prstGeom prst="rect">
            <a:avLst/>
          </a:prstGeom>
        </p:spPr>
      </p:pic>
      <p:sp>
        <p:nvSpPr>
          <p:cNvPr id="24" name="Text 18"/>
          <p:cNvSpPr txBox="1"/>
          <p:nvPr/>
        </p:nvSpPr>
        <p:spPr>
          <a:xfrm>
            <a:off x="7600721" y="2578608"/>
            <a:ext cx="1600200" cy="411480"/>
          </a:xfrm>
          <a:prstGeom prst="rect">
            <a:avLst/>
          </a:prstGeom>
          <a:noFill/>
          <a:ln/>
        </p:spPr>
        <p:txBody>
          <a:bodyPr wrap="square" lIns="0" tIns="0" rIns="0" bIns="0" rtlCol="0" anchor="t"/>
          <a:lstStyle/>
          <a:p>
            <a:pPr algn="ctr" indent="0" marL="0">
              <a:buNone/>
            </a:pPr>
            <a:r>
              <a:rPr lang="en-US" sz="2000" b="1" dirty="0">
                <a:solidFill>
                  <a:schemeClr val="tx1"/>
                </a:solidFill>
                <a:latin typeface="+mj-lt" pitchFamily="34" charset="0"/>
                <a:ea typeface="+mj-lt" pitchFamily="34" charset="-122"/>
                <a:cs typeface="+mj-lt" pitchFamily="34" charset="-120"/>
              </a:rPr>
              <a:t>Gold</a:t>
            </a:r>
            <a:endParaRPr lang="en-US" sz="2000" dirty="0"/>
          </a:p>
        </p:txBody>
      </p:sp>
      <p:sp>
        <p:nvSpPr>
          <p:cNvPr id="25" name="Text 19"/>
          <p:cNvSpPr txBox="1"/>
          <p:nvPr/>
        </p:nvSpPr>
        <p:spPr>
          <a:xfrm>
            <a:off x="7600721" y="3063240"/>
            <a:ext cx="1600200" cy="1051560"/>
          </a:xfrm>
          <a:prstGeom prst="rect">
            <a:avLst/>
          </a:prstGeom>
          <a:noFill/>
          <a:ln/>
        </p:spPr>
        <p:txBody>
          <a:bodyPr wrap="square" lIns="0" tIns="0" rIns="0" bIns="0" rtlCol="0" anchor="t"/>
          <a:lstStyle/>
          <a:p>
            <a:pPr algn="ctr" indent="0" marL="0">
              <a:buNone/>
            </a:pPr>
            <a:r>
              <a:rPr lang="en-US" sz="1400" dirty="0">
                <a:solidFill>
                  <a:schemeClr val="tx2"/>
                </a:solidFill>
              </a:rPr>
              <a:t>Agrégations Python → Parquet</a:t>
            </a:r>
            <a:endParaRPr lang="en-US" sz="1400" dirty="0"/>
          </a:p>
        </p:txBody>
      </p:sp>
      <p:sp>
        <p:nvSpPr>
          <p:cNvPr id="26" name="Flèche 4"/>
          <p:cNvSpPr/>
          <p:nvPr/>
        </p:nvSpPr>
        <p:spPr>
          <a:xfrm>
            <a:off x="9411233" y="2834640"/>
            <a:ext cx="284150" cy="0"/>
          </a:xfrm>
          <a:prstGeom prst="line">
            <a:avLst/>
          </a:prstGeom>
          <a:noFill/>
          <a:ln w="25400">
            <a:solidFill>
              <a:schemeClr val="tx2"/>
            </a:solidFill>
            <a:prstDash val="solid"/>
            <a:tailEnd type="triangle"/>
          </a:ln>
        </p:spPr>
      </p:sp>
      <p:sp>
        <p:nvSpPr>
          <p:cNvPr id="27" name="Zone BI"/>
          <p:cNvSpPr/>
          <p:nvPr/>
        </p:nvSpPr>
        <p:spPr>
          <a:xfrm>
            <a:off x="9768535" y="1463040"/>
            <a:ext cx="1874520" cy="2743200"/>
          </a:xfrm>
          <a:prstGeom prst="roundRect">
            <a:avLst>
              <a:gd name="adj" fmla="val 4878"/>
            </a:avLst>
          </a:prstGeom>
          <a:solidFill>
            <a:schemeClr val="bg2"/>
          </a:solidFill>
          <a:ln/>
        </p:spPr>
      </p:sp>
      <p:sp>
        <p:nvSpPr>
          <p:cNvPr id="28" name="Icône BI"/>
          <p:cNvSpPr/>
          <p:nvPr/>
        </p:nvSpPr>
        <p:spPr>
          <a:xfrm>
            <a:off x="10340035" y="1737360"/>
            <a:ext cx="731520" cy="731520"/>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10522915" y="1920240"/>
            <a:ext cx="365760" cy="365760"/>
          </a:xfrm>
          <a:prstGeom prst="rect">
            <a:avLst/>
          </a:prstGeom>
        </p:spPr>
      </p:pic>
      <p:sp>
        <p:nvSpPr>
          <p:cNvPr id="30" name="Text 23"/>
          <p:cNvSpPr txBox="1"/>
          <p:nvPr/>
        </p:nvSpPr>
        <p:spPr>
          <a:xfrm>
            <a:off x="9905695" y="2578608"/>
            <a:ext cx="1600200" cy="411480"/>
          </a:xfrm>
          <a:prstGeom prst="rect">
            <a:avLst/>
          </a:prstGeom>
          <a:noFill/>
          <a:ln/>
        </p:spPr>
        <p:txBody>
          <a:bodyPr wrap="square" lIns="0" tIns="0" rIns="0" bIns="0" rtlCol="0" anchor="t"/>
          <a:lstStyle/>
          <a:p>
            <a:pPr algn="ctr" indent="0" marL="0">
              <a:buNone/>
            </a:pPr>
            <a:r>
              <a:rPr lang="en-US" sz="2000" b="1" dirty="0">
                <a:solidFill>
                  <a:schemeClr val="tx1"/>
                </a:solidFill>
                <a:latin typeface="+mj-lt" pitchFamily="34" charset="0"/>
                <a:ea typeface="+mj-lt" pitchFamily="34" charset="-122"/>
                <a:cs typeface="+mj-lt" pitchFamily="34" charset="-120"/>
              </a:rPr>
              <a:t>BI</a:t>
            </a:r>
            <a:endParaRPr lang="en-US" sz="2000" dirty="0"/>
          </a:p>
        </p:txBody>
      </p:sp>
      <p:sp>
        <p:nvSpPr>
          <p:cNvPr id="31" name="Text 24"/>
          <p:cNvSpPr txBox="1"/>
          <p:nvPr/>
        </p:nvSpPr>
        <p:spPr>
          <a:xfrm>
            <a:off x="9905695" y="3063240"/>
            <a:ext cx="1600200" cy="1051560"/>
          </a:xfrm>
          <a:prstGeom prst="rect">
            <a:avLst/>
          </a:prstGeom>
          <a:noFill/>
          <a:ln/>
        </p:spPr>
        <p:txBody>
          <a:bodyPr wrap="square" lIns="0" tIns="0" rIns="0" bIns="0" rtlCol="0" anchor="t"/>
          <a:lstStyle/>
          <a:p>
            <a:pPr algn="ctr" indent="0" marL="0">
              <a:buNone/>
            </a:pPr>
            <a:r>
              <a:rPr lang="en-US" sz="1400" dirty="0">
                <a:solidFill>
                  <a:schemeClr val="tx2"/>
                </a:solidFill>
              </a:rPr>
              <a:t>Power BI Desktop sur les fichiers Gold</a:t>
            </a:r>
            <a:endParaRPr lang="en-US" sz="1400" dirty="0"/>
          </a:p>
        </p:txBody>
      </p:sp>
      <p:sp>
        <p:nvSpPr>
          <p:cNvPr id="32" name="Text 25"/>
          <p:cNvSpPr txBox="1"/>
          <p:nvPr/>
        </p:nvSpPr>
        <p:spPr>
          <a:xfrm>
            <a:off x="548640" y="4526280"/>
            <a:ext cx="11094415"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Choix d’architecture : maîtriser le budget étudiant</a:t>
            </a:r>
            <a:endParaRPr lang="en-US" sz="1800" dirty="0"/>
          </a:p>
        </p:txBody>
      </p:sp>
      <p:sp>
        <p:nvSpPr>
          <p:cNvPr id="33" name="Icône choix 1"/>
          <p:cNvSpPr/>
          <p:nvPr/>
        </p:nvSpPr>
        <p:spPr>
          <a:xfrm>
            <a:off x="548640" y="5074920"/>
            <a:ext cx="548640" cy="548640"/>
          </a:xfrm>
          <a:prstGeom prst="ellipse">
            <a:avLst/>
          </a:prstGeom>
          <a:solidFill>
            <a:schemeClr val="accent1"/>
          </a:solidFill>
          <a:ln/>
        </p:spPr>
      </p:sp>
      <p:pic>
        <p:nvPicPr>
          <p:cNvPr id="34" name="Image 5" descr="preencoded.png">    </p:cNvPr>
          <p:cNvPicPr>
            <a:picLocks noChangeAspect="1"/>
          </p:cNvPicPr>
          <p:nvPr/>
        </p:nvPicPr>
        <p:blipFill>
          <a:blip r:embed="rId6"/>
          <a:stretch>
            <a:fillRect/>
          </a:stretch>
        </p:blipFill>
        <p:spPr>
          <a:xfrm>
            <a:off x="685800" y="5212080"/>
            <a:ext cx="274320" cy="274320"/>
          </a:xfrm>
          <a:prstGeom prst="rect">
            <a:avLst/>
          </a:prstGeom>
        </p:spPr>
      </p:pic>
      <p:sp>
        <p:nvSpPr>
          <p:cNvPr id="35" name="Text 27"/>
          <p:cNvSpPr txBox="1"/>
          <p:nvPr/>
        </p:nvSpPr>
        <p:spPr>
          <a:xfrm>
            <a:off x="1280160" y="5029200"/>
            <a:ext cx="2677058" cy="640080"/>
          </a:xfrm>
          <a:prstGeom prst="rect">
            <a:avLst/>
          </a:prstGeom>
          <a:noFill/>
          <a:ln/>
        </p:spPr>
        <p:txBody>
          <a:bodyPr wrap="square" lIns="0" tIns="0" rIns="0" bIns="0" rtlCol="0" anchor="ctr"/>
          <a:lstStyle/>
          <a:p>
            <a:pPr indent="0" marL="0">
              <a:buNone/>
            </a:pPr>
            <a:r>
              <a:rPr lang="en-US" sz="1400" dirty="0">
                <a:solidFill>
                  <a:schemeClr val="tx1"/>
                </a:solidFill>
              </a:rPr>
              <a:t>Stockage au tarif le plus bas (redondance locale LRS)</a:t>
            </a:r>
            <a:endParaRPr lang="en-US" sz="1400" dirty="0"/>
          </a:p>
        </p:txBody>
      </p:sp>
      <p:sp>
        <p:nvSpPr>
          <p:cNvPr id="36" name="Icône choix 2"/>
          <p:cNvSpPr/>
          <p:nvPr/>
        </p:nvSpPr>
        <p:spPr>
          <a:xfrm>
            <a:off x="4368698" y="5074920"/>
            <a:ext cx="548640" cy="548640"/>
          </a:xfrm>
          <a:prstGeom prst="ellipse">
            <a:avLst/>
          </a:prstGeom>
          <a:solidFill>
            <a:schemeClr val="accent2"/>
          </a:solidFill>
          <a:ln/>
        </p:spPr>
      </p:sp>
      <p:pic>
        <p:nvPicPr>
          <p:cNvPr id="37" name="Image 6" descr="preencoded.png">    </p:cNvPr>
          <p:cNvPicPr>
            <a:picLocks noChangeAspect="1"/>
          </p:cNvPicPr>
          <p:nvPr/>
        </p:nvPicPr>
        <p:blipFill>
          <a:blip r:embed="rId7"/>
          <a:stretch>
            <a:fillRect/>
          </a:stretch>
        </p:blipFill>
        <p:spPr>
          <a:xfrm>
            <a:off x="4505858" y="5212080"/>
            <a:ext cx="274320" cy="274320"/>
          </a:xfrm>
          <a:prstGeom prst="rect">
            <a:avLst/>
          </a:prstGeom>
        </p:spPr>
      </p:pic>
      <p:sp>
        <p:nvSpPr>
          <p:cNvPr id="38" name="Text 29"/>
          <p:cNvSpPr txBox="1"/>
          <p:nvPr/>
        </p:nvSpPr>
        <p:spPr>
          <a:xfrm>
            <a:off x="5100218" y="5029200"/>
            <a:ext cx="2677058" cy="640080"/>
          </a:xfrm>
          <a:prstGeom prst="rect">
            <a:avLst/>
          </a:prstGeom>
          <a:noFill/>
          <a:ln/>
        </p:spPr>
        <p:txBody>
          <a:bodyPr wrap="square" lIns="0" tIns="0" rIns="0" bIns="0" rtlCol="0" anchor="ctr"/>
          <a:lstStyle/>
          <a:p>
            <a:pPr indent="0" marL="0">
              <a:buNone/>
            </a:pPr>
            <a:r>
              <a:rPr lang="en-US" sz="1400" dirty="0">
                <a:solidFill>
                  <a:schemeClr val="tx1"/>
                </a:solidFill>
              </a:rPr>
              <a:t>Un seul groupe de ressources, supprimé en fin de projet</a:t>
            </a:r>
            <a:endParaRPr lang="en-US" sz="1400" dirty="0"/>
          </a:p>
        </p:txBody>
      </p:sp>
      <p:sp>
        <p:nvSpPr>
          <p:cNvPr id="39" name="Icône choix 3"/>
          <p:cNvSpPr/>
          <p:nvPr/>
        </p:nvSpPr>
        <p:spPr>
          <a:xfrm>
            <a:off x="8188757" y="5074920"/>
            <a:ext cx="548640" cy="548640"/>
          </a:xfrm>
          <a:prstGeom prst="ellipse">
            <a:avLst/>
          </a:prstGeom>
          <a:solidFill>
            <a:schemeClr val="accent4"/>
          </a:solidFill>
          <a:ln/>
        </p:spPr>
      </p:sp>
      <p:pic>
        <p:nvPicPr>
          <p:cNvPr id="40" name="Image 7" descr="preencoded.png">    </p:cNvPr>
          <p:cNvPicPr>
            <a:picLocks noChangeAspect="1"/>
          </p:cNvPicPr>
          <p:nvPr/>
        </p:nvPicPr>
        <p:blipFill>
          <a:blip r:embed="rId8"/>
          <a:stretch>
            <a:fillRect/>
          </a:stretch>
        </p:blipFill>
        <p:spPr>
          <a:xfrm>
            <a:off x="8325917" y="5212080"/>
            <a:ext cx="274320" cy="274320"/>
          </a:xfrm>
          <a:prstGeom prst="rect">
            <a:avLst/>
          </a:prstGeom>
        </p:spPr>
      </p:pic>
      <p:sp>
        <p:nvSpPr>
          <p:cNvPr id="41" name="Text 31"/>
          <p:cNvSpPr txBox="1"/>
          <p:nvPr/>
        </p:nvSpPr>
        <p:spPr>
          <a:xfrm>
            <a:off x="8920277" y="5029200"/>
            <a:ext cx="2677058" cy="640080"/>
          </a:xfrm>
          <a:prstGeom prst="rect">
            <a:avLst/>
          </a:prstGeom>
          <a:noFill/>
          <a:ln/>
        </p:spPr>
        <p:txBody>
          <a:bodyPr wrap="square" lIns="0" tIns="0" rIns="0" bIns="0" rtlCol="0" anchor="ctr"/>
          <a:lstStyle/>
          <a:p>
            <a:pPr indent="0" marL="0">
              <a:buNone/>
            </a:pPr>
            <a:r>
              <a:rPr lang="en-US" sz="1400" dirty="0">
                <a:solidFill>
                  <a:schemeClr val="tx1"/>
                </a:solidFill>
              </a:rPr>
              <a:t>Aucun cluster de calcul permanent</a:t>
            </a:r>
            <a:endParaRPr lang="en-US" sz="14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Ce que contient chaque zone</a:t>
            </a:r>
            <a:endParaRPr lang="en-US" sz="3400" dirty="0"/>
          </a:p>
        </p:txBody>
      </p:sp>
      <p:sp>
        <p:nvSpPr>
          <p:cNvPr id="3" name="Carte Bronze"/>
          <p:cNvSpPr/>
          <p:nvPr/>
        </p:nvSpPr>
        <p:spPr>
          <a:xfrm>
            <a:off x="548640" y="1417320"/>
            <a:ext cx="3454298" cy="4663440"/>
          </a:xfrm>
          <a:prstGeom prst="roundRect">
            <a:avLst>
              <a:gd name="adj" fmla="val 2647"/>
            </a:avLst>
          </a:prstGeom>
          <a:solidFill>
            <a:schemeClr val="bg1"/>
          </a:solidFill>
          <a:ln/>
          <a:effectLst>
            <a:outerShdw sx="100000" sy="100000" kx="0" ky="0" algn="bl" rotWithShape="0" blurRad="127000" dist="25400" dir="5400000">
              <a:srgbClr val="102A2C">
                <a:alpha val="12000"/>
              </a:srgbClr>
            </a:outerShdw>
          </a:effectLst>
        </p:spPr>
      </p:sp>
      <p:sp>
        <p:nvSpPr>
          <p:cNvPr id="4" name="Icône Bronze"/>
          <p:cNvSpPr/>
          <p:nvPr/>
        </p:nvSpPr>
        <p:spPr>
          <a:xfrm>
            <a:off x="868680" y="1737360"/>
            <a:ext cx="685800" cy="68580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1040130" y="1908810"/>
            <a:ext cx="342900" cy="342900"/>
          </a:xfrm>
          <a:prstGeom prst="rect">
            <a:avLst/>
          </a:prstGeom>
        </p:spPr>
      </p:pic>
      <p:sp>
        <p:nvSpPr>
          <p:cNvPr id="6" name="Text 3"/>
          <p:cNvSpPr txBox="1"/>
          <p:nvPr/>
        </p:nvSpPr>
        <p:spPr>
          <a:xfrm>
            <a:off x="1737360" y="1719072"/>
            <a:ext cx="1991258"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Bronze</a:t>
            </a:r>
            <a:endParaRPr lang="en-US" sz="2200" dirty="0"/>
          </a:p>
        </p:txBody>
      </p:sp>
      <p:sp>
        <p:nvSpPr>
          <p:cNvPr id="7" name="Text 4"/>
          <p:cNvSpPr txBox="1"/>
          <p:nvPr/>
        </p:nvSpPr>
        <p:spPr>
          <a:xfrm>
            <a:off x="1737360" y="2130552"/>
            <a:ext cx="1991258" cy="320040"/>
          </a:xfrm>
          <a:prstGeom prst="rect">
            <a:avLst/>
          </a:prstGeom>
          <a:noFill/>
          <a:ln/>
        </p:spPr>
        <p:txBody>
          <a:bodyPr wrap="square" lIns="0" tIns="0" rIns="0" bIns="0" rtlCol="0" anchor="t"/>
          <a:lstStyle/>
          <a:p>
            <a:pPr indent="0" marL="0">
              <a:buNone/>
            </a:pPr>
            <a:r>
              <a:rPr lang="en-US" sz="1400" i="1" dirty="0">
                <a:solidFill>
                  <a:schemeClr val="tx2"/>
                </a:solidFill>
              </a:rPr>
              <a:t>Brut, immuable</a:t>
            </a:r>
            <a:endParaRPr lang="en-US" sz="1400" dirty="0"/>
          </a:p>
        </p:txBody>
      </p:sp>
      <p:sp>
        <p:nvSpPr>
          <p:cNvPr id="8" name="Text 5"/>
          <p:cNvSpPr txBox="1"/>
          <p:nvPr/>
        </p:nvSpPr>
        <p:spPr>
          <a:xfrm>
            <a:off x="868680" y="2743200"/>
            <a:ext cx="2814218" cy="2331720"/>
          </a:xfrm>
          <a:prstGeom prst="rect">
            <a:avLst/>
          </a:prstGeom>
          <a:noFill/>
          <a:ln/>
        </p:spPr>
        <p:txBody>
          <a:bodyPr wrap="square" lIns="0" tIns="0" rIns="0" bIns="0" rtlCol="0" anchor="t"/>
          <a:lstStyle/>
          <a:p>
            <a:pPr marL="190500" indent="-190500">
              <a:spcAft>
                <a:spcPts val="800"/>
              </a:spcAft>
              <a:buSzPct val="100000"/>
              <a:buChar char="•"/>
            </a:pPr>
            <a:r>
              <a:rPr lang="en-US" sz="1500" dirty="0">
                <a:solidFill>
                  <a:schemeClr val="tx1"/>
                </a:solidFill>
              </a:rPr>
              <a:t>Copies brutes des réponses JSON, sans aucune modification</a:t>
            </a:r>
            <a:endParaRPr lang="en-US" sz="1500" dirty="0"/>
          </a:p>
          <a:p>
            <a:pPr marL="190500" indent="-190500">
              <a:spcAft>
                <a:spcPts val="800"/>
              </a:spcAft>
              <a:buSzPct val="100000"/>
              <a:buChar char="•"/>
            </a:pPr>
            <a:r>
              <a:rPr lang="en-US" sz="1500" dirty="0">
                <a:solidFill>
                  <a:schemeClr val="tx1"/>
                </a:solidFill>
              </a:rPr>
              <a:t>Partitions par date et heure de collecte</a:t>
            </a:r>
            <a:endParaRPr lang="en-US" sz="1500" dirty="0"/>
          </a:p>
          <a:p>
            <a:pPr marL="190500" indent="-190500">
              <a:spcAft>
                <a:spcPts val="800"/>
              </a:spcAft>
              <a:buSzPct val="100000"/>
              <a:buChar char="•"/>
            </a:pPr>
            <a:r>
              <a:rPr lang="en-US" sz="1500" dirty="0">
                <a:solidFill>
                  <a:schemeClr val="tx1"/>
                </a:solidFill>
              </a:rPr>
              <a:t>Un manifeste par fichier : URL, heure UTC, code HTTP, taille, sha256, nombre de stations</a:t>
            </a:r>
            <a:endParaRPr lang="en-US" sz="1500" dirty="0"/>
          </a:p>
        </p:txBody>
      </p:sp>
      <p:sp>
        <p:nvSpPr>
          <p:cNvPr id="9" name="Text 6"/>
          <p:cNvSpPr txBox="1"/>
          <p:nvPr/>
        </p:nvSpPr>
        <p:spPr>
          <a:xfrm>
            <a:off x="868680" y="5349240"/>
            <a:ext cx="2814218" cy="365760"/>
          </a:xfrm>
          <a:prstGeom prst="rect">
            <a:avLst/>
          </a:prstGeom>
          <a:noFill/>
          <a:ln/>
        </p:spPr>
        <p:txBody>
          <a:bodyPr wrap="square" lIns="0" tIns="0" rIns="0" bIns="0" rtlCol="0" anchor="t"/>
          <a:lstStyle/>
          <a:p>
            <a:pPr indent="0" marL="0">
              <a:buNone/>
            </a:pPr>
            <a:r>
              <a:rPr lang="en-US" sz="1400" b="1" dirty="0">
                <a:solidFill>
                  <a:schemeClr val="tx2"/>
                </a:solidFill>
              </a:rPr>
              <a:t>Stockage : </a:t>
            </a:r>
            <a:pPr indent="0" marL="0">
              <a:buNone/>
            </a:pPr>
            <a:r>
              <a:rPr lang="en-US" sz="1400" dirty="0">
                <a:solidFill>
                  <a:schemeClr val="tx2"/>
                </a:solidFill>
              </a:rPr>
              <a:t>Conteneur « bronze »</a:t>
            </a:r>
            <a:endParaRPr lang="en-US" sz="1400" dirty="0"/>
          </a:p>
        </p:txBody>
      </p:sp>
      <p:sp>
        <p:nvSpPr>
          <p:cNvPr id="10" name="Carte Silver"/>
          <p:cNvSpPr/>
          <p:nvPr/>
        </p:nvSpPr>
        <p:spPr>
          <a:xfrm>
            <a:off x="4368698" y="1417320"/>
            <a:ext cx="3454298" cy="4663440"/>
          </a:xfrm>
          <a:prstGeom prst="roundRect">
            <a:avLst>
              <a:gd name="adj" fmla="val 2647"/>
            </a:avLst>
          </a:prstGeom>
          <a:solidFill>
            <a:schemeClr val="bg1"/>
          </a:solidFill>
          <a:ln/>
          <a:effectLst>
            <a:outerShdw sx="100000" sy="100000" kx="0" ky="0" algn="bl" rotWithShape="0" blurRad="127000" dist="25400" dir="5400000">
              <a:srgbClr val="102A2C">
                <a:alpha val="12000"/>
              </a:srgbClr>
            </a:outerShdw>
          </a:effectLst>
        </p:spPr>
      </p:sp>
      <p:sp>
        <p:nvSpPr>
          <p:cNvPr id="11" name="Icône Silver"/>
          <p:cNvSpPr/>
          <p:nvPr/>
        </p:nvSpPr>
        <p:spPr>
          <a:xfrm>
            <a:off x="4688738" y="1737360"/>
            <a:ext cx="685800" cy="685800"/>
          </a:xfrm>
          <a:prstGeom prst="ellipse">
            <a:avLst/>
          </a:prstGeom>
          <a:solidFill>
            <a:schemeClr val="accent6"/>
          </a:solidFill>
          <a:ln/>
        </p:spPr>
      </p:sp>
      <p:pic>
        <p:nvPicPr>
          <p:cNvPr id="12" name="Image 1" descr="preencoded.png">    </p:cNvPr>
          <p:cNvPicPr>
            <a:picLocks noChangeAspect="1"/>
          </p:cNvPicPr>
          <p:nvPr/>
        </p:nvPicPr>
        <p:blipFill>
          <a:blip r:embed="rId2"/>
          <a:stretch>
            <a:fillRect/>
          </a:stretch>
        </p:blipFill>
        <p:spPr>
          <a:xfrm>
            <a:off x="4860188" y="1908810"/>
            <a:ext cx="342900" cy="342900"/>
          </a:xfrm>
          <a:prstGeom prst="rect">
            <a:avLst/>
          </a:prstGeom>
        </p:spPr>
      </p:pic>
      <p:sp>
        <p:nvSpPr>
          <p:cNvPr id="13" name="Text 9"/>
          <p:cNvSpPr txBox="1"/>
          <p:nvPr/>
        </p:nvSpPr>
        <p:spPr>
          <a:xfrm>
            <a:off x="5557418" y="1719072"/>
            <a:ext cx="1991258"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Silver</a:t>
            </a:r>
            <a:endParaRPr lang="en-US" sz="2200" dirty="0"/>
          </a:p>
        </p:txBody>
      </p:sp>
      <p:sp>
        <p:nvSpPr>
          <p:cNvPr id="14" name="Text 10"/>
          <p:cNvSpPr txBox="1"/>
          <p:nvPr/>
        </p:nvSpPr>
        <p:spPr>
          <a:xfrm>
            <a:off x="5557418" y="2130552"/>
            <a:ext cx="1991258" cy="320040"/>
          </a:xfrm>
          <a:prstGeom prst="rect">
            <a:avLst/>
          </a:prstGeom>
          <a:noFill/>
          <a:ln/>
        </p:spPr>
        <p:txBody>
          <a:bodyPr wrap="square" lIns="0" tIns="0" rIns="0" bIns="0" rtlCol="0" anchor="t"/>
          <a:lstStyle/>
          <a:p>
            <a:pPr indent="0" marL="0">
              <a:buNone/>
            </a:pPr>
            <a:r>
              <a:rPr lang="en-US" sz="1400" i="1" dirty="0">
                <a:solidFill>
                  <a:schemeClr val="tx2"/>
                </a:solidFill>
              </a:rPr>
              <a:t>Nettoyé, typé, joint</a:t>
            </a:r>
            <a:endParaRPr lang="en-US" sz="1400" dirty="0"/>
          </a:p>
        </p:txBody>
      </p:sp>
      <p:sp>
        <p:nvSpPr>
          <p:cNvPr id="15" name="Text 11"/>
          <p:cNvSpPr txBox="1"/>
          <p:nvPr/>
        </p:nvSpPr>
        <p:spPr>
          <a:xfrm>
            <a:off x="4688738" y="2743200"/>
            <a:ext cx="2814218" cy="2331720"/>
          </a:xfrm>
          <a:prstGeom prst="rect">
            <a:avLst/>
          </a:prstGeom>
          <a:noFill/>
          <a:ln/>
        </p:spPr>
        <p:txBody>
          <a:bodyPr wrap="square" lIns="0" tIns="0" rIns="0" bIns="0" rtlCol="0" anchor="t"/>
          <a:lstStyle/>
          <a:p>
            <a:pPr marL="190500" indent="-190500">
              <a:spcAft>
                <a:spcPts val="800"/>
              </a:spcAft>
              <a:buSzPct val="100000"/>
              <a:buChar char="•"/>
            </a:pPr>
            <a:r>
              <a:rPr lang="en-US" sz="1500" dirty="0">
                <a:solidFill>
                  <a:schemeClr val="tx1"/>
                </a:solidFill>
              </a:rPr>
              <a:t>Une ligne par station et par relevé</a:t>
            </a:r>
            <a:endParaRPr lang="en-US" sz="1500" dirty="0"/>
          </a:p>
          <a:p>
            <a:pPr marL="190500" indent="-190500">
              <a:spcAft>
                <a:spcPts val="800"/>
              </a:spcAft>
              <a:buSzPct val="100000"/>
              <a:buChar char="•"/>
            </a:pPr>
            <a:r>
              <a:rPr lang="en-US" sz="1500" dirty="0">
                <a:solidFill>
                  <a:schemeClr val="tx1"/>
                </a:solidFill>
              </a:rPr>
              <a:t>Horodatage corrigé, types fixés (station_id en bigint)</a:t>
            </a:r>
            <a:endParaRPr lang="en-US" sz="1500" dirty="0"/>
          </a:p>
          <a:p>
            <a:pPr marL="190500" indent="-190500">
              <a:spcAft>
                <a:spcPts val="800"/>
              </a:spcAft>
              <a:buSzPct val="100000"/>
              <a:buChar char="•"/>
            </a:pPr>
            <a:r>
              <a:rPr lang="en-US" sz="1500" dirty="0">
                <a:solidFill>
                  <a:schemeClr val="tx1"/>
                </a:solidFill>
              </a:rPr>
              <a:t>Jointure avec la météo à l’heure de Paris</a:t>
            </a:r>
            <a:endParaRPr lang="en-US" sz="1500" dirty="0"/>
          </a:p>
        </p:txBody>
      </p:sp>
      <p:sp>
        <p:nvSpPr>
          <p:cNvPr id="16" name="Text 12"/>
          <p:cNvSpPr txBox="1"/>
          <p:nvPr/>
        </p:nvSpPr>
        <p:spPr>
          <a:xfrm>
            <a:off x="4688738" y="5349240"/>
            <a:ext cx="2814218" cy="365760"/>
          </a:xfrm>
          <a:prstGeom prst="rect">
            <a:avLst/>
          </a:prstGeom>
          <a:noFill/>
          <a:ln/>
        </p:spPr>
        <p:txBody>
          <a:bodyPr wrap="square" lIns="0" tIns="0" rIns="0" bIns="0" rtlCol="0" anchor="t"/>
          <a:lstStyle/>
          <a:p>
            <a:pPr indent="0" marL="0">
              <a:buNone/>
            </a:pPr>
            <a:r>
              <a:rPr lang="en-US" sz="1400" b="1" dirty="0">
                <a:solidFill>
                  <a:schemeClr val="tx2"/>
                </a:solidFill>
              </a:rPr>
              <a:t>Stockage : </a:t>
            </a:r>
            <a:pPr indent="0" marL="0">
              <a:buNone/>
            </a:pPr>
            <a:r>
              <a:rPr lang="en-US" sz="1400" dirty="0">
                <a:solidFill>
                  <a:schemeClr val="tx2"/>
                </a:solidFill>
              </a:rPr>
              <a:t>Parquet, conteneur « silver »</a:t>
            </a:r>
            <a:endParaRPr lang="en-US" sz="1400" dirty="0"/>
          </a:p>
        </p:txBody>
      </p:sp>
      <p:sp>
        <p:nvSpPr>
          <p:cNvPr id="17" name="Carte Gold"/>
          <p:cNvSpPr/>
          <p:nvPr/>
        </p:nvSpPr>
        <p:spPr>
          <a:xfrm>
            <a:off x="8188757" y="1417320"/>
            <a:ext cx="3454298" cy="4663440"/>
          </a:xfrm>
          <a:prstGeom prst="roundRect">
            <a:avLst>
              <a:gd name="adj" fmla="val 2647"/>
            </a:avLst>
          </a:prstGeom>
          <a:solidFill>
            <a:schemeClr val="bg1"/>
          </a:solidFill>
          <a:ln/>
          <a:effectLst>
            <a:outerShdw sx="100000" sy="100000" kx="0" ky="0" algn="bl" rotWithShape="0" blurRad="127000" dist="25400" dir="5400000">
              <a:srgbClr val="102A2C">
                <a:alpha val="12000"/>
              </a:srgbClr>
            </a:outerShdw>
          </a:effectLst>
        </p:spPr>
      </p:sp>
      <p:sp>
        <p:nvSpPr>
          <p:cNvPr id="18" name="Icône Gold"/>
          <p:cNvSpPr/>
          <p:nvPr/>
        </p:nvSpPr>
        <p:spPr>
          <a:xfrm>
            <a:off x="8508797" y="1737360"/>
            <a:ext cx="685800" cy="685800"/>
          </a:xfrm>
          <a:prstGeom prst="ellipse">
            <a:avLst/>
          </a:prstGeom>
          <a:solidFill>
            <a:schemeClr val="accent3"/>
          </a:solidFill>
          <a:ln/>
        </p:spPr>
      </p:sp>
      <p:pic>
        <p:nvPicPr>
          <p:cNvPr id="19" name="Image 2" descr="preencoded.png">    </p:cNvPr>
          <p:cNvPicPr>
            <a:picLocks noChangeAspect="1"/>
          </p:cNvPicPr>
          <p:nvPr/>
        </p:nvPicPr>
        <p:blipFill>
          <a:blip r:embed="rId3"/>
          <a:stretch>
            <a:fillRect/>
          </a:stretch>
        </p:blipFill>
        <p:spPr>
          <a:xfrm>
            <a:off x="8680247" y="1908810"/>
            <a:ext cx="342900" cy="342900"/>
          </a:xfrm>
          <a:prstGeom prst="rect">
            <a:avLst/>
          </a:prstGeom>
        </p:spPr>
      </p:pic>
      <p:sp>
        <p:nvSpPr>
          <p:cNvPr id="20" name="Text 15"/>
          <p:cNvSpPr txBox="1"/>
          <p:nvPr/>
        </p:nvSpPr>
        <p:spPr>
          <a:xfrm>
            <a:off x="9377477" y="1719072"/>
            <a:ext cx="1991258"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Gold</a:t>
            </a:r>
            <a:endParaRPr lang="en-US" sz="2200" dirty="0"/>
          </a:p>
        </p:txBody>
      </p:sp>
      <p:sp>
        <p:nvSpPr>
          <p:cNvPr id="21" name="Text 16"/>
          <p:cNvSpPr txBox="1"/>
          <p:nvPr/>
        </p:nvSpPr>
        <p:spPr>
          <a:xfrm>
            <a:off x="9377477" y="2130552"/>
            <a:ext cx="1991258" cy="320040"/>
          </a:xfrm>
          <a:prstGeom prst="rect">
            <a:avLst/>
          </a:prstGeom>
          <a:noFill/>
          <a:ln/>
        </p:spPr>
        <p:txBody>
          <a:bodyPr wrap="square" lIns="0" tIns="0" rIns="0" bIns="0" rtlCol="0" anchor="t"/>
          <a:lstStyle/>
          <a:p>
            <a:pPr indent="0" marL="0">
              <a:buNone/>
            </a:pPr>
            <a:r>
              <a:rPr lang="en-US" sz="1400" i="1" dirty="0">
                <a:solidFill>
                  <a:schemeClr val="tx2"/>
                </a:solidFill>
              </a:rPr>
              <a:t>Prêt pour l’analyse</a:t>
            </a:r>
            <a:endParaRPr lang="en-US" sz="1400" dirty="0"/>
          </a:p>
        </p:txBody>
      </p:sp>
      <p:sp>
        <p:nvSpPr>
          <p:cNvPr id="22" name="Text 17"/>
          <p:cNvSpPr txBox="1"/>
          <p:nvPr/>
        </p:nvSpPr>
        <p:spPr>
          <a:xfrm>
            <a:off x="8508797" y="2743200"/>
            <a:ext cx="2814218" cy="2331720"/>
          </a:xfrm>
          <a:prstGeom prst="rect">
            <a:avLst/>
          </a:prstGeom>
          <a:noFill/>
          <a:ln/>
        </p:spPr>
        <p:txBody>
          <a:bodyPr wrap="square" lIns="0" tIns="0" rIns="0" bIns="0" rtlCol="0" anchor="t"/>
          <a:lstStyle/>
          <a:p>
            <a:pPr marL="190500" indent="-190500">
              <a:spcAft>
                <a:spcPts val="800"/>
              </a:spcAft>
              <a:buSzPct val="100000"/>
              <a:buChar char="•"/>
            </a:pPr>
            <a:r>
              <a:rPr lang="en-US" sz="1500" dirty="0">
                <a:solidFill>
                  <a:schemeClr val="tx1"/>
                </a:solidFill>
              </a:rPr>
              <a:t>Taux de pénurie et de saturation par station et par heure</a:t>
            </a:r>
            <a:endParaRPr lang="en-US" sz="1500" dirty="0"/>
          </a:p>
          <a:p>
            <a:pPr marL="190500" indent="-190500">
              <a:spcAft>
                <a:spcPts val="800"/>
              </a:spcAft>
              <a:buSzPct val="100000"/>
              <a:buChar char="•"/>
            </a:pPr>
            <a:r>
              <a:rPr lang="en-US" sz="1500" dirty="0">
                <a:solidFill>
                  <a:schemeClr val="tx1"/>
                </a:solidFill>
              </a:rPr>
              <a:t>Mêmes indicateurs par arrondissement et par météo</a:t>
            </a:r>
            <a:endParaRPr lang="en-US" sz="1500" dirty="0"/>
          </a:p>
          <a:p>
            <a:pPr marL="190500" indent="-190500">
              <a:spcAft>
                <a:spcPts val="800"/>
              </a:spcAft>
              <a:buSzPct val="100000"/>
              <a:buChar char="•"/>
            </a:pPr>
            <a:r>
              <a:rPr lang="en-US" sz="1500" dirty="0">
                <a:solidFill>
                  <a:schemeClr val="tx1"/>
                </a:solidFill>
              </a:rPr>
              <a:t>Tables lues directement par Power BI</a:t>
            </a:r>
            <a:endParaRPr lang="en-US" sz="1500" dirty="0"/>
          </a:p>
        </p:txBody>
      </p:sp>
      <p:sp>
        <p:nvSpPr>
          <p:cNvPr id="23" name="Text 18"/>
          <p:cNvSpPr txBox="1"/>
          <p:nvPr/>
        </p:nvSpPr>
        <p:spPr>
          <a:xfrm>
            <a:off x="8508797" y="5349240"/>
            <a:ext cx="2814218" cy="365760"/>
          </a:xfrm>
          <a:prstGeom prst="rect">
            <a:avLst/>
          </a:prstGeom>
          <a:noFill/>
          <a:ln/>
        </p:spPr>
        <p:txBody>
          <a:bodyPr wrap="square" lIns="0" tIns="0" rIns="0" bIns="0" rtlCol="0" anchor="t"/>
          <a:lstStyle/>
          <a:p>
            <a:pPr indent="0" marL="0">
              <a:buNone/>
            </a:pPr>
            <a:r>
              <a:rPr lang="en-US" sz="1400" b="1" dirty="0">
                <a:solidFill>
                  <a:schemeClr val="tx2"/>
                </a:solidFill>
              </a:rPr>
              <a:t>Stockage : </a:t>
            </a:r>
            <a:pPr indent="0" marL="0">
              <a:buNone/>
            </a:pPr>
            <a:r>
              <a:rPr lang="en-US" sz="1400" dirty="0">
                <a:solidFill>
                  <a:schemeClr val="tx2"/>
                </a:solidFill>
              </a:rPr>
              <a:t>Parquet, conteneur « gold »</a:t>
            </a:r>
            <a:endParaRPr lang="en-US" sz="14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Quatre indicateurs clés</a:t>
            </a:r>
            <a:endParaRPr lang="en-US" sz="3400" dirty="0"/>
          </a:p>
        </p:txBody>
      </p:sp>
      <p:sp>
        <p:nvSpPr>
          <p:cNvPr id="3" name="KPI Taux de pénurie"/>
          <p:cNvSpPr/>
          <p:nvPr/>
        </p:nvSpPr>
        <p:spPr>
          <a:xfrm>
            <a:off x="548640" y="1417320"/>
            <a:ext cx="5364328" cy="2240280"/>
          </a:xfrm>
          <a:prstGeom prst="roundRect">
            <a:avLst>
              <a:gd name="adj" fmla="val 4082"/>
            </a:avLst>
          </a:prstGeom>
          <a:solidFill>
            <a:schemeClr val="bg1"/>
          </a:solidFill>
          <a:ln/>
          <a:effectLst>
            <a:outerShdw sx="100000" sy="100000" kx="0" ky="0" algn="bl" rotWithShape="0" blurRad="127000" dist="25400" dir="5400000">
              <a:srgbClr val="102A2C">
                <a:alpha val="12000"/>
              </a:srgbClr>
            </a:outerShdw>
          </a:effectLst>
        </p:spPr>
      </p:sp>
      <p:sp>
        <p:nvSpPr>
          <p:cNvPr id="4" name="Icône Taux de pénurie"/>
          <p:cNvSpPr/>
          <p:nvPr/>
        </p:nvSpPr>
        <p:spPr>
          <a:xfrm>
            <a:off x="914400" y="1783080"/>
            <a:ext cx="914400" cy="914400"/>
          </a:xfrm>
          <a:prstGeom prst="ellipse">
            <a:avLst/>
          </a:prstGeom>
          <a:solidFill>
            <a:schemeClr val="accent4"/>
          </a:solidFill>
          <a:ln/>
        </p:spPr>
      </p:sp>
      <p:pic>
        <p:nvPicPr>
          <p:cNvPr id="5" name="Image 0" descr="preencoded.png">    </p:cNvPr>
          <p:cNvPicPr>
            <a:picLocks noChangeAspect="1"/>
          </p:cNvPicPr>
          <p:nvPr/>
        </p:nvPicPr>
        <p:blipFill>
          <a:blip r:embed="rId1"/>
          <a:stretch>
            <a:fillRect/>
          </a:stretch>
        </p:blipFill>
        <p:spPr>
          <a:xfrm>
            <a:off x="1143000" y="2011680"/>
            <a:ext cx="457200" cy="457200"/>
          </a:xfrm>
          <a:prstGeom prst="rect">
            <a:avLst/>
          </a:prstGeom>
        </p:spPr>
      </p:pic>
      <p:sp>
        <p:nvSpPr>
          <p:cNvPr id="6" name="Text 3"/>
          <p:cNvSpPr txBox="1"/>
          <p:nvPr/>
        </p:nvSpPr>
        <p:spPr>
          <a:xfrm>
            <a:off x="2148840" y="1764792"/>
            <a:ext cx="3444088"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Taux de pénurie</a:t>
            </a:r>
            <a:endParaRPr lang="en-US" sz="2400" dirty="0"/>
          </a:p>
        </p:txBody>
      </p:sp>
      <p:sp>
        <p:nvSpPr>
          <p:cNvPr id="7" name="Text 4"/>
          <p:cNvSpPr txBox="1"/>
          <p:nvPr/>
        </p:nvSpPr>
        <p:spPr>
          <a:xfrm>
            <a:off x="2148840" y="2286000"/>
            <a:ext cx="3444088" cy="594360"/>
          </a:xfrm>
          <a:prstGeom prst="rect">
            <a:avLst/>
          </a:prstGeom>
          <a:noFill/>
          <a:ln/>
        </p:spPr>
        <p:txBody>
          <a:bodyPr wrap="square" lIns="0" tIns="0" rIns="0" bIns="0" rtlCol="0" anchor="t"/>
          <a:lstStyle/>
          <a:p>
            <a:pPr indent="0" marL="0">
              <a:buNone/>
            </a:pPr>
            <a:r>
              <a:rPr lang="en-US" sz="1600" dirty="0">
                <a:solidFill>
                  <a:schemeClr val="tx2"/>
                </a:solidFill>
              </a:rPr>
              <a:t>Part des relevés sans aucun vélo disponible</a:t>
            </a:r>
            <a:endParaRPr lang="en-US" sz="1600" dirty="0"/>
          </a:p>
        </p:txBody>
      </p:sp>
      <p:sp>
        <p:nvSpPr>
          <p:cNvPr id="8" name="Text 5"/>
          <p:cNvSpPr txBox="1"/>
          <p:nvPr/>
        </p:nvSpPr>
        <p:spPr>
          <a:xfrm>
            <a:off x="2148840" y="3017520"/>
            <a:ext cx="3444088" cy="365760"/>
          </a:xfrm>
          <a:prstGeom prst="rect">
            <a:avLst/>
          </a:prstGeom>
          <a:noFill/>
          <a:ln/>
        </p:spPr>
        <p:txBody>
          <a:bodyPr wrap="square" lIns="0" tIns="0" rIns="0" bIns="0" rtlCol="0" anchor="t"/>
          <a:lstStyle/>
          <a:p>
            <a:pPr indent="0" marL="0">
              <a:buNone/>
            </a:pPr>
            <a:r>
              <a:rPr lang="en-US" sz="1400" i="1" dirty="0">
                <a:solidFill>
                  <a:schemeClr val="accent4"/>
                </a:solidFill>
                <a:latin typeface="+mj-lt" pitchFamily="34" charset="0"/>
                <a:ea typeface="+mj-lt" pitchFamily="34" charset="-122"/>
                <a:cs typeface="+mj-lt" pitchFamily="34" charset="-120"/>
              </a:rPr>
              <a:t>relevés à 0 vélo ÷ relevés totaux</a:t>
            </a:r>
            <a:endParaRPr lang="en-US" sz="1400" dirty="0"/>
          </a:p>
        </p:txBody>
      </p:sp>
      <p:sp>
        <p:nvSpPr>
          <p:cNvPr id="9" name="KPI Taux de saturation"/>
          <p:cNvSpPr/>
          <p:nvPr/>
        </p:nvSpPr>
        <p:spPr>
          <a:xfrm>
            <a:off x="6278728" y="1417320"/>
            <a:ext cx="5364328" cy="2240280"/>
          </a:xfrm>
          <a:prstGeom prst="roundRect">
            <a:avLst>
              <a:gd name="adj" fmla="val 4082"/>
            </a:avLst>
          </a:prstGeom>
          <a:solidFill>
            <a:schemeClr val="bg1"/>
          </a:solidFill>
          <a:ln/>
          <a:effectLst>
            <a:outerShdw sx="100000" sy="100000" kx="0" ky="0" algn="bl" rotWithShape="0" blurRad="127000" dist="25400" dir="5400000">
              <a:srgbClr val="102A2C">
                <a:alpha val="12000"/>
              </a:srgbClr>
            </a:outerShdw>
          </a:effectLst>
        </p:spPr>
      </p:sp>
      <p:sp>
        <p:nvSpPr>
          <p:cNvPr id="10" name="Icône Taux de saturation"/>
          <p:cNvSpPr/>
          <p:nvPr/>
        </p:nvSpPr>
        <p:spPr>
          <a:xfrm>
            <a:off x="6644488" y="1783080"/>
            <a:ext cx="914400" cy="91440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6873088" y="2011680"/>
            <a:ext cx="457200" cy="457200"/>
          </a:xfrm>
          <a:prstGeom prst="rect">
            <a:avLst/>
          </a:prstGeom>
        </p:spPr>
      </p:pic>
      <p:sp>
        <p:nvSpPr>
          <p:cNvPr id="12" name="Text 8"/>
          <p:cNvSpPr txBox="1"/>
          <p:nvPr/>
        </p:nvSpPr>
        <p:spPr>
          <a:xfrm>
            <a:off x="7878928" y="1764792"/>
            <a:ext cx="3444088"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Taux de saturation</a:t>
            </a:r>
            <a:endParaRPr lang="en-US" sz="2400" dirty="0"/>
          </a:p>
        </p:txBody>
      </p:sp>
      <p:sp>
        <p:nvSpPr>
          <p:cNvPr id="13" name="Text 9"/>
          <p:cNvSpPr txBox="1"/>
          <p:nvPr/>
        </p:nvSpPr>
        <p:spPr>
          <a:xfrm>
            <a:off x="7878928" y="2286000"/>
            <a:ext cx="3444088" cy="594360"/>
          </a:xfrm>
          <a:prstGeom prst="rect">
            <a:avLst/>
          </a:prstGeom>
          <a:noFill/>
          <a:ln/>
        </p:spPr>
        <p:txBody>
          <a:bodyPr wrap="square" lIns="0" tIns="0" rIns="0" bIns="0" rtlCol="0" anchor="t"/>
          <a:lstStyle/>
          <a:p>
            <a:pPr indent="0" marL="0">
              <a:buNone/>
            </a:pPr>
            <a:r>
              <a:rPr lang="en-US" sz="1600" dirty="0">
                <a:solidFill>
                  <a:schemeClr val="tx2"/>
                </a:solidFill>
              </a:rPr>
              <a:t>Part des relevés sans aucune borne libre</a:t>
            </a:r>
            <a:endParaRPr lang="en-US" sz="1600" dirty="0"/>
          </a:p>
        </p:txBody>
      </p:sp>
      <p:sp>
        <p:nvSpPr>
          <p:cNvPr id="14" name="Text 10"/>
          <p:cNvSpPr txBox="1"/>
          <p:nvPr/>
        </p:nvSpPr>
        <p:spPr>
          <a:xfrm>
            <a:off x="7878928" y="3017520"/>
            <a:ext cx="3444088" cy="365760"/>
          </a:xfrm>
          <a:prstGeom prst="rect">
            <a:avLst/>
          </a:prstGeom>
          <a:noFill/>
          <a:ln/>
        </p:spPr>
        <p:txBody>
          <a:bodyPr wrap="square" lIns="0" tIns="0" rIns="0" bIns="0" rtlCol="0" anchor="t"/>
          <a:lstStyle/>
          <a:p>
            <a:pPr indent="0" marL="0">
              <a:buNone/>
            </a:pPr>
            <a:r>
              <a:rPr lang="en-US" sz="1400" i="1" dirty="0">
                <a:solidFill>
                  <a:schemeClr val="accent3"/>
                </a:solidFill>
                <a:latin typeface="+mj-lt" pitchFamily="34" charset="0"/>
                <a:ea typeface="+mj-lt" pitchFamily="34" charset="-122"/>
                <a:cs typeface="+mj-lt" pitchFamily="34" charset="-120"/>
              </a:rPr>
              <a:t>relevés à 0 borne ÷ relevés totaux</a:t>
            </a:r>
            <a:endParaRPr lang="en-US" sz="1400" dirty="0"/>
          </a:p>
        </p:txBody>
      </p:sp>
      <p:sp>
        <p:nvSpPr>
          <p:cNvPr id="15" name="KPI Durée d’un épisode"/>
          <p:cNvSpPr/>
          <p:nvPr/>
        </p:nvSpPr>
        <p:spPr>
          <a:xfrm>
            <a:off x="548640" y="3931920"/>
            <a:ext cx="5364328" cy="2240280"/>
          </a:xfrm>
          <a:prstGeom prst="roundRect">
            <a:avLst>
              <a:gd name="adj" fmla="val 4082"/>
            </a:avLst>
          </a:prstGeom>
          <a:solidFill>
            <a:schemeClr val="bg1"/>
          </a:solidFill>
          <a:ln/>
          <a:effectLst>
            <a:outerShdw sx="100000" sy="100000" kx="0" ky="0" algn="bl" rotWithShape="0" blurRad="127000" dist="25400" dir="5400000">
              <a:srgbClr val="102A2C">
                <a:alpha val="12000"/>
              </a:srgbClr>
            </a:outerShdw>
          </a:effectLst>
        </p:spPr>
      </p:sp>
      <p:sp>
        <p:nvSpPr>
          <p:cNvPr id="16" name="Icône Durée d’un épisode"/>
          <p:cNvSpPr/>
          <p:nvPr/>
        </p:nvSpPr>
        <p:spPr>
          <a:xfrm>
            <a:off x="914400" y="4297680"/>
            <a:ext cx="914400" cy="91440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1143000" y="4526280"/>
            <a:ext cx="457200" cy="457200"/>
          </a:xfrm>
          <a:prstGeom prst="rect">
            <a:avLst/>
          </a:prstGeom>
        </p:spPr>
      </p:pic>
      <p:sp>
        <p:nvSpPr>
          <p:cNvPr id="18" name="Text 13"/>
          <p:cNvSpPr txBox="1"/>
          <p:nvPr/>
        </p:nvSpPr>
        <p:spPr>
          <a:xfrm>
            <a:off x="2148840" y="4279392"/>
            <a:ext cx="3444088"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Durée d’un épisode</a:t>
            </a:r>
            <a:endParaRPr lang="en-US" sz="2400" dirty="0"/>
          </a:p>
        </p:txBody>
      </p:sp>
      <p:sp>
        <p:nvSpPr>
          <p:cNvPr id="19" name="Text 14"/>
          <p:cNvSpPr txBox="1"/>
          <p:nvPr/>
        </p:nvSpPr>
        <p:spPr>
          <a:xfrm>
            <a:off x="2148840" y="4800600"/>
            <a:ext cx="3444088" cy="594360"/>
          </a:xfrm>
          <a:prstGeom prst="rect">
            <a:avLst/>
          </a:prstGeom>
          <a:noFill/>
          <a:ln/>
        </p:spPr>
        <p:txBody>
          <a:bodyPr wrap="square" lIns="0" tIns="0" rIns="0" bIns="0" rtlCol="0" anchor="t"/>
          <a:lstStyle/>
          <a:p>
            <a:pPr indent="0" marL="0">
              <a:buNone/>
            </a:pPr>
            <a:r>
              <a:rPr lang="en-US" sz="1600" dirty="0">
                <a:solidFill>
                  <a:schemeClr val="tx2"/>
                </a:solidFill>
              </a:rPr>
              <a:t>Durée moyenne d’un épisode de pénurie</a:t>
            </a:r>
            <a:endParaRPr lang="en-US" sz="1600" dirty="0"/>
          </a:p>
        </p:txBody>
      </p:sp>
      <p:sp>
        <p:nvSpPr>
          <p:cNvPr id="20" name="Text 15"/>
          <p:cNvSpPr txBox="1"/>
          <p:nvPr/>
        </p:nvSpPr>
        <p:spPr>
          <a:xfrm>
            <a:off x="2148840" y="5532120"/>
            <a:ext cx="3444088" cy="365760"/>
          </a:xfrm>
          <a:prstGeom prst="rect">
            <a:avLst/>
          </a:prstGeom>
          <a:noFill/>
          <a:ln/>
        </p:spPr>
        <p:txBody>
          <a:bodyPr wrap="square" lIns="0" tIns="0" rIns="0" bIns="0" rtlCol="0" anchor="t"/>
          <a:lstStyle/>
          <a:p>
            <a:pPr indent="0" marL="0">
              <a:buNone/>
            </a:pPr>
            <a:r>
              <a:rPr lang="en-US" sz="1400" i="1" dirty="0">
                <a:solidFill>
                  <a:schemeClr val="accent2"/>
                </a:solidFill>
                <a:latin typeface="+mj-lt" pitchFamily="34" charset="0"/>
                <a:ea typeface="+mj-lt" pitchFamily="34" charset="-122"/>
                <a:cs typeface="+mj-lt" pitchFamily="34" charset="-120"/>
              </a:rPr>
              <a:t>relevés consécutifs à 0 vélo × 5 min</a:t>
            </a:r>
            <a:endParaRPr lang="en-US" sz="1400" dirty="0"/>
          </a:p>
        </p:txBody>
      </p:sp>
      <p:sp>
        <p:nvSpPr>
          <p:cNvPr id="21" name="KPI Stations critiques"/>
          <p:cNvSpPr/>
          <p:nvPr/>
        </p:nvSpPr>
        <p:spPr>
          <a:xfrm>
            <a:off x="6278728" y="3931920"/>
            <a:ext cx="5364328" cy="2240280"/>
          </a:xfrm>
          <a:prstGeom prst="roundRect">
            <a:avLst>
              <a:gd name="adj" fmla="val 4082"/>
            </a:avLst>
          </a:prstGeom>
          <a:solidFill>
            <a:schemeClr val="bg1"/>
          </a:solidFill>
          <a:ln/>
          <a:effectLst>
            <a:outerShdw sx="100000" sy="100000" kx="0" ky="0" algn="bl" rotWithShape="0" blurRad="127000" dist="25400" dir="5400000">
              <a:srgbClr val="102A2C">
                <a:alpha val="12000"/>
              </a:srgbClr>
            </a:outerShdw>
          </a:effectLst>
        </p:spPr>
      </p:sp>
      <p:sp>
        <p:nvSpPr>
          <p:cNvPr id="22" name="Icône Stations critiques"/>
          <p:cNvSpPr/>
          <p:nvPr/>
        </p:nvSpPr>
        <p:spPr>
          <a:xfrm>
            <a:off x="6644488" y="4297680"/>
            <a:ext cx="914400" cy="914400"/>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6873088" y="4526280"/>
            <a:ext cx="457200" cy="457200"/>
          </a:xfrm>
          <a:prstGeom prst="rect">
            <a:avLst/>
          </a:prstGeom>
        </p:spPr>
      </p:pic>
      <p:sp>
        <p:nvSpPr>
          <p:cNvPr id="24" name="Text 18"/>
          <p:cNvSpPr txBox="1"/>
          <p:nvPr/>
        </p:nvSpPr>
        <p:spPr>
          <a:xfrm>
            <a:off x="7878928" y="4279392"/>
            <a:ext cx="3444088"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Stations critiques</a:t>
            </a:r>
            <a:endParaRPr lang="en-US" sz="2400" dirty="0"/>
          </a:p>
        </p:txBody>
      </p:sp>
      <p:sp>
        <p:nvSpPr>
          <p:cNvPr id="25" name="Text 19"/>
          <p:cNvSpPr txBox="1"/>
          <p:nvPr/>
        </p:nvSpPr>
        <p:spPr>
          <a:xfrm>
            <a:off x="7878928" y="4800600"/>
            <a:ext cx="3444088" cy="594360"/>
          </a:xfrm>
          <a:prstGeom prst="rect">
            <a:avLst/>
          </a:prstGeom>
          <a:noFill/>
          <a:ln/>
        </p:spPr>
        <p:txBody>
          <a:bodyPr wrap="square" lIns="0" tIns="0" rIns="0" bIns="0" rtlCol="0" anchor="t"/>
          <a:lstStyle/>
          <a:p>
            <a:pPr indent="0" marL="0">
              <a:buNone/>
            </a:pPr>
            <a:r>
              <a:rPr lang="en-US" sz="1600" dirty="0">
                <a:solidFill>
                  <a:schemeClr val="tx2"/>
                </a:solidFill>
              </a:rPr>
              <a:t>Nombre de stations « critiques » par heure</a:t>
            </a:r>
            <a:endParaRPr lang="en-US" sz="1600" dirty="0"/>
          </a:p>
        </p:txBody>
      </p:sp>
      <p:sp>
        <p:nvSpPr>
          <p:cNvPr id="26" name="Text 20"/>
          <p:cNvSpPr txBox="1"/>
          <p:nvPr/>
        </p:nvSpPr>
        <p:spPr>
          <a:xfrm>
            <a:off x="7878928" y="5532120"/>
            <a:ext cx="3444088" cy="365760"/>
          </a:xfrm>
          <a:prstGeom prst="rect">
            <a:avLst/>
          </a:prstGeom>
          <a:noFill/>
          <a:ln/>
        </p:spPr>
        <p:txBody>
          <a:bodyPr wrap="square" lIns="0" tIns="0" rIns="0" bIns="0" rtlCol="0" anchor="t"/>
          <a:lstStyle/>
          <a:p>
            <a:pPr indent="0" marL="0">
              <a:buNone/>
            </a:pPr>
            <a:r>
              <a:rPr lang="en-US" sz="1400" i="1" dirty="0">
                <a:solidFill>
                  <a:schemeClr val="tx2"/>
                </a:solidFill>
                <a:latin typeface="+mj-lt" pitchFamily="34" charset="0"/>
                <a:ea typeface="+mj-lt" pitchFamily="34" charset="-122"/>
                <a:cs typeface="+mj-lt" pitchFamily="34" charset="-120"/>
              </a:rPr>
              <a:t>suivi heure par heure</a:t>
            </a:r>
            <a:endParaRPr lang="en-US" sz="14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Segmenter, visualiser, recommander</a:t>
            </a:r>
            <a:endParaRPr lang="en-US" sz="3400" dirty="0"/>
          </a:p>
        </p:txBody>
      </p:sp>
      <p:sp>
        <p:nvSpPr>
          <p:cNvPr id="3" name="Text 1"/>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Axes d’analyse</a:t>
            </a:r>
            <a:endParaRPr lang="en-US" sz="1800" dirty="0"/>
          </a:p>
        </p:txBody>
      </p:sp>
      <p:sp>
        <p:nvSpPr>
          <p:cNvPr id="4" name="Icône segment 1"/>
          <p:cNvSpPr/>
          <p:nvPr/>
        </p:nvSpPr>
        <p:spPr>
          <a:xfrm>
            <a:off x="548640" y="1874520"/>
            <a:ext cx="548640" cy="54864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685800" y="2011680"/>
            <a:ext cx="274320" cy="274320"/>
          </a:xfrm>
          <a:prstGeom prst="rect">
            <a:avLst/>
          </a:prstGeom>
        </p:spPr>
      </p:pic>
      <p:sp>
        <p:nvSpPr>
          <p:cNvPr id="6" name="Text 3"/>
          <p:cNvSpPr txBox="1"/>
          <p:nvPr/>
        </p:nvSpPr>
        <p:spPr>
          <a:xfrm>
            <a:off x="1280160" y="1874520"/>
            <a:ext cx="3017520" cy="548640"/>
          </a:xfrm>
          <a:prstGeom prst="rect">
            <a:avLst/>
          </a:prstGeom>
          <a:noFill/>
          <a:ln/>
        </p:spPr>
        <p:txBody>
          <a:bodyPr wrap="square" lIns="0" tIns="0" rIns="0" bIns="0" rtlCol="0" anchor="ctr"/>
          <a:lstStyle/>
          <a:p>
            <a:pPr indent="0" marL="0">
              <a:buNone/>
            </a:pPr>
            <a:r>
              <a:rPr lang="en-US" sz="1500" dirty="0">
                <a:solidFill>
                  <a:schemeClr val="tx1"/>
                </a:solidFill>
              </a:rPr>
              <a:t>Heure de la journée</a:t>
            </a:r>
            <a:endParaRPr lang="en-US" sz="1500" dirty="0"/>
          </a:p>
        </p:txBody>
      </p:sp>
      <p:sp>
        <p:nvSpPr>
          <p:cNvPr id="7" name="Icône segment 2"/>
          <p:cNvSpPr/>
          <p:nvPr/>
        </p:nvSpPr>
        <p:spPr>
          <a:xfrm>
            <a:off x="548640" y="2697480"/>
            <a:ext cx="548640" cy="548640"/>
          </a:xfrm>
          <a:prstGeom prst="ellipse">
            <a:avLst/>
          </a:prstGeom>
          <a:solidFill>
            <a:schemeClr val="tx2"/>
          </a:solidFill>
          <a:ln/>
        </p:spPr>
      </p:sp>
      <p:pic>
        <p:nvPicPr>
          <p:cNvPr id="8" name="Image 1" descr="preencoded.png">    </p:cNvPr>
          <p:cNvPicPr>
            <a:picLocks noChangeAspect="1"/>
          </p:cNvPicPr>
          <p:nvPr/>
        </p:nvPicPr>
        <p:blipFill>
          <a:blip r:embed="rId2"/>
          <a:stretch>
            <a:fillRect/>
          </a:stretch>
        </p:blipFill>
        <p:spPr>
          <a:xfrm>
            <a:off x="685800" y="2834640"/>
            <a:ext cx="274320" cy="274320"/>
          </a:xfrm>
          <a:prstGeom prst="rect">
            <a:avLst/>
          </a:prstGeom>
        </p:spPr>
      </p:pic>
      <p:sp>
        <p:nvSpPr>
          <p:cNvPr id="9" name="Text 5"/>
          <p:cNvSpPr txBox="1"/>
          <p:nvPr/>
        </p:nvSpPr>
        <p:spPr>
          <a:xfrm>
            <a:off x="1280160" y="2697480"/>
            <a:ext cx="3017520" cy="548640"/>
          </a:xfrm>
          <a:prstGeom prst="rect">
            <a:avLst/>
          </a:prstGeom>
          <a:noFill/>
          <a:ln/>
        </p:spPr>
        <p:txBody>
          <a:bodyPr wrap="square" lIns="0" tIns="0" rIns="0" bIns="0" rtlCol="0" anchor="ctr"/>
          <a:lstStyle/>
          <a:p>
            <a:pPr indent="0" marL="0">
              <a:buNone/>
            </a:pPr>
            <a:r>
              <a:rPr lang="en-US" sz="1500" dirty="0">
                <a:solidFill>
                  <a:schemeClr val="tx1"/>
                </a:solidFill>
              </a:rPr>
              <a:t>Jour de semaine, week-end, férié</a:t>
            </a:r>
            <a:endParaRPr lang="en-US" sz="1500" dirty="0"/>
          </a:p>
        </p:txBody>
      </p:sp>
      <p:sp>
        <p:nvSpPr>
          <p:cNvPr id="10" name="Icône segment 3"/>
          <p:cNvSpPr/>
          <p:nvPr/>
        </p:nvSpPr>
        <p:spPr>
          <a:xfrm>
            <a:off x="548640" y="3520440"/>
            <a:ext cx="548640" cy="548640"/>
          </a:xfrm>
          <a:prstGeom prst="ellipse">
            <a:avLst/>
          </a:prstGeom>
          <a:solidFill>
            <a:schemeClr val="tx2"/>
          </a:solidFill>
          <a:ln/>
        </p:spPr>
      </p:sp>
      <p:pic>
        <p:nvPicPr>
          <p:cNvPr id="11" name="Image 2" descr="preencoded.png">    </p:cNvPr>
          <p:cNvPicPr>
            <a:picLocks noChangeAspect="1"/>
          </p:cNvPicPr>
          <p:nvPr/>
        </p:nvPicPr>
        <p:blipFill>
          <a:blip r:embed="rId3"/>
          <a:stretch>
            <a:fillRect/>
          </a:stretch>
        </p:blipFill>
        <p:spPr>
          <a:xfrm>
            <a:off x="685800" y="3657600"/>
            <a:ext cx="274320" cy="274320"/>
          </a:xfrm>
          <a:prstGeom prst="rect">
            <a:avLst/>
          </a:prstGeom>
        </p:spPr>
      </p:pic>
      <p:sp>
        <p:nvSpPr>
          <p:cNvPr id="12" name="Text 7"/>
          <p:cNvSpPr txBox="1"/>
          <p:nvPr/>
        </p:nvSpPr>
        <p:spPr>
          <a:xfrm>
            <a:off x="1280160" y="3520440"/>
            <a:ext cx="3017520" cy="548640"/>
          </a:xfrm>
          <a:prstGeom prst="rect">
            <a:avLst/>
          </a:prstGeom>
          <a:noFill/>
          <a:ln/>
        </p:spPr>
        <p:txBody>
          <a:bodyPr wrap="square" lIns="0" tIns="0" rIns="0" bIns="0" rtlCol="0" anchor="ctr"/>
          <a:lstStyle/>
          <a:p>
            <a:pPr indent="0" marL="0">
              <a:buNone/>
            </a:pPr>
            <a:r>
              <a:rPr lang="en-US" sz="1500" dirty="0">
                <a:solidFill>
                  <a:schemeClr val="tx1"/>
                </a:solidFill>
              </a:rPr>
              <a:t>Arrondissement ou zone</a:t>
            </a:r>
            <a:endParaRPr lang="en-US" sz="1500" dirty="0"/>
          </a:p>
        </p:txBody>
      </p:sp>
      <p:sp>
        <p:nvSpPr>
          <p:cNvPr id="13" name="Icône segment 4"/>
          <p:cNvSpPr/>
          <p:nvPr/>
        </p:nvSpPr>
        <p:spPr>
          <a:xfrm>
            <a:off x="548640" y="4343400"/>
            <a:ext cx="548640" cy="548640"/>
          </a:xfrm>
          <a:prstGeom prst="ellipse">
            <a:avLst/>
          </a:prstGeom>
          <a:solidFill>
            <a:schemeClr val="accent2"/>
          </a:solidFill>
          <a:ln/>
        </p:spPr>
      </p:sp>
      <p:pic>
        <p:nvPicPr>
          <p:cNvPr id="14" name="Image 3" descr="preencoded.png">    </p:cNvPr>
          <p:cNvPicPr>
            <a:picLocks noChangeAspect="1"/>
          </p:cNvPicPr>
          <p:nvPr/>
        </p:nvPicPr>
        <p:blipFill>
          <a:blip r:embed="rId4"/>
          <a:stretch>
            <a:fillRect/>
          </a:stretch>
        </p:blipFill>
        <p:spPr>
          <a:xfrm>
            <a:off x="685800" y="4480560"/>
            <a:ext cx="274320" cy="274320"/>
          </a:xfrm>
          <a:prstGeom prst="rect">
            <a:avLst/>
          </a:prstGeom>
        </p:spPr>
      </p:pic>
      <p:sp>
        <p:nvSpPr>
          <p:cNvPr id="15" name="Text 9"/>
          <p:cNvSpPr txBox="1"/>
          <p:nvPr/>
        </p:nvSpPr>
        <p:spPr>
          <a:xfrm>
            <a:off x="1280160" y="4343400"/>
            <a:ext cx="3017520" cy="548640"/>
          </a:xfrm>
          <a:prstGeom prst="rect">
            <a:avLst/>
          </a:prstGeom>
          <a:noFill/>
          <a:ln/>
        </p:spPr>
        <p:txBody>
          <a:bodyPr wrap="square" lIns="0" tIns="0" rIns="0" bIns="0" rtlCol="0" anchor="ctr"/>
          <a:lstStyle/>
          <a:p>
            <a:pPr indent="0" marL="0">
              <a:buNone/>
            </a:pPr>
            <a:r>
              <a:rPr lang="en-US" sz="1500" dirty="0">
                <a:solidFill>
                  <a:schemeClr val="tx1"/>
                </a:solidFill>
              </a:rPr>
              <a:t>Météo : pluie / sec, tranches de température</a:t>
            </a:r>
            <a:endParaRPr lang="en-US" sz="1500" dirty="0"/>
          </a:p>
        </p:txBody>
      </p:sp>
      <p:sp>
        <p:nvSpPr>
          <p:cNvPr id="16" name="Icône segment 5"/>
          <p:cNvSpPr/>
          <p:nvPr/>
        </p:nvSpPr>
        <p:spPr>
          <a:xfrm>
            <a:off x="548640" y="5166360"/>
            <a:ext cx="548640" cy="548640"/>
          </a:xfrm>
          <a:prstGeom prst="ellipse">
            <a:avLst/>
          </a:prstGeom>
          <a:solidFill>
            <a:schemeClr val="accent1"/>
          </a:solidFill>
          <a:ln/>
        </p:spPr>
      </p:sp>
      <p:pic>
        <p:nvPicPr>
          <p:cNvPr id="17" name="Image 4" descr="preencoded.png">    </p:cNvPr>
          <p:cNvPicPr>
            <a:picLocks noChangeAspect="1"/>
          </p:cNvPicPr>
          <p:nvPr/>
        </p:nvPicPr>
        <p:blipFill>
          <a:blip r:embed="rId5"/>
          <a:stretch>
            <a:fillRect/>
          </a:stretch>
        </p:blipFill>
        <p:spPr>
          <a:xfrm>
            <a:off x="685800" y="5303520"/>
            <a:ext cx="274320" cy="274320"/>
          </a:xfrm>
          <a:prstGeom prst="rect">
            <a:avLst/>
          </a:prstGeom>
        </p:spPr>
      </p:pic>
      <p:sp>
        <p:nvSpPr>
          <p:cNvPr id="18" name="Text 11"/>
          <p:cNvSpPr txBox="1"/>
          <p:nvPr/>
        </p:nvSpPr>
        <p:spPr>
          <a:xfrm>
            <a:off x="1280160" y="5166360"/>
            <a:ext cx="3017520" cy="548640"/>
          </a:xfrm>
          <a:prstGeom prst="rect">
            <a:avLst/>
          </a:prstGeom>
          <a:noFill/>
          <a:ln/>
        </p:spPr>
        <p:txBody>
          <a:bodyPr wrap="square" lIns="0" tIns="0" rIns="0" bIns="0" rtlCol="0" anchor="ctr"/>
          <a:lstStyle/>
          <a:p>
            <a:pPr indent="0" marL="0">
              <a:buNone/>
            </a:pPr>
            <a:r>
              <a:rPr lang="en-US" sz="1500" dirty="0">
                <a:solidFill>
                  <a:schemeClr val="tx1"/>
                </a:solidFill>
              </a:rPr>
              <a:t>Vélo mécanique ou électrique</a:t>
            </a:r>
            <a:endParaRPr lang="en-US" sz="1500" dirty="0"/>
          </a:p>
        </p:txBody>
      </p:sp>
      <p:sp>
        <p:nvSpPr>
          <p:cNvPr id="19" name="Visu Carte"/>
          <p:cNvSpPr/>
          <p:nvPr/>
        </p:nvSpPr>
        <p:spPr>
          <a:xfrm>
            <a:off x="4709160" y="1417320"/>
            <a:ext cx="3329788" cy="1143000"/>
          </a:xfrm>
          <a:prstGeom prst="roundRect">
            <a:avLst>
              <a:gd name="adj" fmla="val 8000"/>
            </a:avLst>
          </a:prstGeom>
          <a:solidFill>
            <a:schemeClr val="bg2"/>
          </a:solidFill>
          <a:ln/>
        </p:spPr>
      </p:sp>
      <p:sp>
        <p:nvSpPr>
          <p:cNvPr id="20" name="Icône Carte"/>
          <p:cNvSpPr/>
          <p:nvPr/>
        </p:nvSpPr>
        <p:spPr>
          <a:xfrm>
            <a:off x="4983480" y="1691640"/>
            <a:ext cx="594360" cy="594360"/>
          </a:xfrm>
          <a:prstGeom prst="ellipse">
            <a:avLst/>
          </a:prstGeom>
          <a:solidFill>
            <a:schemeClr val="accent4"/>
          </a:solidFill>
          <a:ln/>
        </p:spPr>
      </p:sp>
      <p:pic>
        <p:nvPicPr>
          <p:cNvPr id="21" name="Image 5" descr="preencoded.png">    </p:cNvPr>
          <p:cNvPicPr>
            <a:picLocks noChangeAspect="1"/>
          </p:cNvPicPr>
          <p:nvPr/>
        </p:nvPicPr>
        <p:blipFill>
          <a:blip r:embed="rId6"/>
          <a:stretch>
            <a:fillRect/>
          </a:stretch>
        </p:blipFill>
        <p:spPr>
          <a:xfrm>
            <a:off x="5132070" y="1840230"/>
            <a:ext cx="297180" cy="297180"/>
          </a:xfrm>
          <a:prstGeom prst="rect">
            <a:avLst/>
          </a:prstGeom>
        </p:spPr>
      </p:pic>
      <p:sp>
        <p:nvSpPr>
          <p:cNvPr id="22" name="Text 14"/>
          <p:cNvSpPr txBox="1"/>
          <p:nvPr/>
        </p:nvSpPr>
        <p:spPr>
          <a:xfrm>
            <a:off x="5760720" y="1618488"/>
            <a:ext cx="2095348"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Carte</a:t>
            </a:r>
            <a:endParaRPr lang="en-US" sz="1700" dirty="0"/>
          </a:p>
        </p:txBody>
      </p:sp>
      <p:sp>
        <p:nvSpPr>
          <p:cNvPr id="23" name="Text 15"/>
          <p:cNvSpPr txBox="1"/>
          <p:nvPr/>
        </p:nvSpPr>
        <p:spPr>
          <a:xfrm>
            <a:off x="5760720" y="1984248"/>
            <a:ext cx="2095348" cy="457200"/>
          </a:xfrm>
          <a:prstGeom prst="rect">
            <a:avLst/>
          </a:prstGeom>
          <a:noFill/>
          <a:ln/>
        </p:spPr>
        <p:txBody>
          <a:bodyPr wrap="square" lIns="0" tIns="0" rIns="0" bIns="0" rtlCol="0" anchor="t"/>
          <a:lstStyle/>
          <a:p>
            <a:pPr indent="0" marL="0">
              <a:buNone/>
            </a:pPr>
            <a:r>
              <a:rPr lang="en-US" sz="1400" dirty="0">
                <a:solidFill>
                  <a:schemeClr val="tx2"/>
                </a:solidFill>
              </a:rPr>
              <a:t>Stations colorées par taux de pénurie</a:t>
            </a:r>
            <a:endParaRPr lang="en-US" sz="1400" dirty="0"/>
          </a:p>
        </p:txBody>
      </p:sp>
      <p:sp>
        <p:nvSpPr>
          <p:cNvPr id="24" name="Visu Heatmap"/>
          <p:cNvSpPr/>
          <p:nvPr/>
        </p:nvSpPr>
        <p:spPr>
          <a:xfrm>
            <a:off x="8313268" y="1417320"/>
            <a:ext cx="3329788" cy="1143000"/>
          </a:xfrm>
          <a:prstGeom prst="roundRect">
            <a:avLst>
              <a:gd name="adj" fmla="val 8000"/>
            </a:avLst>
          </a:prstGeom>
          <a:solidFill>
            <a:schemeClr val="bg2"/>
          </a:solidFill>
          <a:ln/>
        </p:spPr>
      </p:sp>
      <p:sp>
        <p:nvSpPr>
          <p:cNvPr id="25" name="Icône Heatmap"/>
          <p:cNvSpPr/>
          <p:nvPr/>
        </p:nvSpPr>
        <p:spPr>
          <a:xfrm>
            <a:off x="8587588" y="1691640"/>
            <a:ext cx="594360" cy="594360"/>
          </a:xfrm>
          <a:prstGeom prst="ellipse">
            <a:avLst/>
          </a:prstGeom>
          <a:solidFill>
            <a:schemeClr val="accent3"/>
          </a:solidFill>
          <a:ln/>
        </p:spPr>
      </p:sp>
      <p:pic>
        <p:nvPicPr>
          <p:cNvPr id="26" name="Image 6" descr="preencoded.png">    </p:cNvPr>
          <p:cNvPicPr>
            <a:picLocks noChangeAspect="1"/>
          </p:cNvPicPr>
          <p:nvPr/>
        </p:nvPicPr>
        <p:blipFill>
          <a:blip r:embed="rId7"/>
          <a:stretch>
            <a:fillRect/>
          </a:stretch>
        </p:blipFill>
        <p:spPr>
          <a:xfrm>
            <a:off x="8736178" y="1840230"/>
            <a:ext cx="297180" cy="297180"/>
          </a:xfrm>
          <a:prstGeom prst="rect">
            <a:avLst/>
          </a:prstGeom>
        </p:spPr>
      </p:pic>
      <p:sp>
        <p:nvSpPr>
          <p:cNvPr id="27" name="Text 18"/>
          <p:cNvSpPr txBox="1"/>
          <p:nvPr/>
        </p:nvSpPr>
        <p:spPr>
          <a:xfrm>
            <a:off x="9364828" y="1618488"/>
            <a:ext cx="2095348"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Heatmap</a:t>
            </a:r>
            <a:endParaRPr lang="en-US" sz="1700" dirty="0"/>
          </a:p>
        </p:txBody>
      </p:sp>
      <p:sp>
        <p:nvSpPr>
          <p:cNvPr id="28" name="Text 19"/>
          <p:cNvSpPr txBox="1"/>
          <p:nvPr/>
        </p:nvSpPr>
        <p:spPr>
          <a:xfrm>
            <a:off x="9364828" y="1984248"/>
            <a:ext cx="2095348" cy="457200"/>
          </a:xfrm>
          <a:prstGeom prst="rect">
            <a:avLst/>
          </a:prstGeom>
          <a:noFill/>
          <a:ln/>
        </p:spPr>
        <p:txBody>
          <a:bodyPr wrap="square" lIns="0" tIns="0" rIns="0" bIns="0" rtlCol="0" anchor="t"/>
          <a:lstStyle/>
          <a:p>
            <a:pPr indent="0" marL="0">
              <a:buNone/>
            </a:pPr>
            <a:r>
              <a:rPr lang="en-US" sz="1400" dirty="0">
                <a:solidFill>
                  <a:schemeClr val="tx2"/>
                </a:solidFill>
              </a:rPr>
              <a:t>Heure × jour de la semaine</a:t>
            </a:r>
            <a:endParaRPr lang="en-US" sz="1400" dirty="0"/>
          </a:p>
        </p:txBody>
      </p:sp>
      <p:sp>
        <p:nvSpPr>
          <p:cNvPr id="29" name="Visu Courbes"/>
          <p:cNvSpPr/>
          <p:nvPr/>
        </p:nvSpPr>
        <p:spPr>
          <a:xfrm>
            <a:off x="4709160" y="2788920"/>
            <a:ext cx="3329788" cy="1143000"/>
          </a:xfrm>
          <a:prstGeom prst="roundRect">
            <a:avLst>
              <a:gd name="adj" fmla="val 8000"/>
            </a:avLst>
          </a:prstGeom>
          <a:solidFill>
            <a:schemeClr val="bg2"/>
          </a:solidFill>
          <a:ln/>
        </p:spPr>
      </p:sp>
      <p:sp>
        <p:nvSpPr>
          <p:cNvPr id="30" name="Icône Courbes"/>
          <p:cNvSpPr/>
          <p:nvPr/>
        </p:nvSpPr>
        <p:spPr>
          <a:xfrm>
            <a:off x="4983480" y="3063240"/>
            <a:ext cx="594360" cy="594360"/>
          </a:xfrm>
          <a:prstGeom prst="ellipse">
            <a:avLst/>
          </a:prstGeom>
          <a:solidFill>
            <a:schemeClr val="accent2"/>
          </a:solidFill>
          <a:ln/>
        </p:spPr>
      </p:sp>
      <p:pic>
        <p:nvPicPr>
          <p:cNvPr id="31" name="Image 7" descr="preencoded.png">    </p:cNvPr>
          <p:cNvPicPr>
            <a:picLocks noChangeAspect="1"/>
          </p:cNvPicPr>
          <p:nvPr/>
        </p:nvPicPr>
        <p:blipFill>
          <a:blip r:embed="rId8"/>
          <a:stretch>
            <a:fillRect/>
          </a:stretch>
        </p:blipFill>
        <p:spPr>
          <a:xfrm>
            <a:off x="5132070" y="3211830"/>
            <a:ext cx="297180" cy="297180"/>
          </a:xfrm>
          <a:prstGeom prst="rect">
            <a:avLst/>
          </a:prstGeom>
        </p:spPr>
      </p:pic>
      <p:sp>
        <p:nvSpPr>
          <p:cNvPr id="32" name="Text 22"/>
          <p:cNvSpPr txBox="1"/>
          <p:nvPr/>
        </p:nvSpPr>
        <p:spPr>
          <a:xfrm>
            <a:off x="5760720" y="2990088"/>
            <a:ext cx="2095348"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Courbes</a:t>
            </a:r>
            <a:endParaRPr lang="en-US" sz="1700" dirty="0"/>
          </a:p>
        </p:txBody>
      </p:sp>
      <p:sp>
        <p:nvSpPr>
          <p:cNvPr id="33" name="Text 23"/>
          <p:cNvSpPr txBox="1"/>
          <p:nvPr/>
        </p:nvSpPr>
        <p:spPr>
          <a:xfrm>
            <a:off x="5760720" y="3355848"/>
            <a:ext cx="2095348" cy="457200"/>
          </a:xfrm>
          <a:prstGeom prst="rect">
            <a:avLst/>
          </a:prstGeom>
          <a:noFill/>
          <a:ln/>
        </p:spPr>
        <p:txBody>
          <a:bodyPr wrap="square" lIns="0" tIns="0" rIns="0" bIns="0" rtlCol="0" anchor="t"/>
          <a:lstStyle/>
          <a:p>
            <a:pPr indent="0" marL="0">
              <a:buNone/>
            </a:pPr>
            <a:r>
              <a:rPr lang="en-US" sz="1400" dirty="0">
                <a:solidFill>
                  <a:schemeClr val="tx2"/>
                </a:solidFill>
              </a:rPr>
              <a:t>Pénurie par temps de pluie vs temps sec</a:t>
            </a:r>
            <a:endParaRPr lang="en-US" sz="1400" dirty="0"/>
          </a:p>
        </p:txBody>
      </p:sp>
      <p:sp>
        <p:nvSpPr>
          <p:cNvPr id="34" name="Visu Classement"/>
          <p:cNvSpPr/>
          <p:nvPr/>
        </p:nvSpPr>
        <p:spPr>
          <a:xfrm>
            <a:off x="8313268" y="2788920"/>
            <a:ext cx="3329788" cy="1143000"/>
          </a:xfrm>
          <a:prstGeom prst="roundRect">
            <a:avLst>
              <a:gd name="adj" fmla="val 8000"/>
            </a:avLst>
          </a:prstGeom>
          <a:solidFill>
            <a:schemeClr val="bg2"/>
          </a:solidFill>
          <a:ln/>
        </p:spPr>
      </p:sp>
      <p:sp>
        <p:nvSpPr>
          <p:cNvPr id="35" name="Icône Classement"/>
          <p:cNvSpPr/>
          <p:nvPr/>
        </p:nvSpPr>
        <p:spPr>
          <a:xfrm>
            <a:off x="8587588" y="3063240"/>
            <a:ext cx="594360" cy="594360"/>
          </a:xfrm>
          <a:prstGeom prst="ellipse">
            <a:avLst/>
          </a:prstGeom>
          <a:solidFill>
            <a:schemeClr val="accent1"/>
          </a:solidFill>
          <a:ln/>
        </p:spPr>
      </p:sp>
      <p:pic>
        <p:nvPicPr>
          <p:cNvPr id="36" name="Image 8" descr="preencoded.png">    </p:cNvPr>
          <p:cNvPicPr>
            <a:picLocks noChangeAspect="1"/>
          </p:cNvPicPr>
          <p:nvPr/>
        </p:nvPicPr>
        <p:blipFill>
          <a:blip r:embed="rId9"/>
          <a:stretch>
            <a:fillRect/>
          </a:stretch>
        </p:blipFill>
        <p:spPr>
          <a:xfrm>
            <a:off x="8736178" y="3211830"/>
            <a:ext cx="297180" cy="297180"/>
          </a:xfrm>
          <a:prstGeom prst="rect">
            <a:avLst/>
          </a:prstGeom>
        </p:spPr>
      </p:pic>
      <p:sp>
        <p:nvSpPr>
          <p:cNvPr id="37" name="Text 26"/>
          <p:cNvSpPr txBox="1"/>
          <p:nvPr/>
        </p:nvSpPr>
        <p:spPr>
          <a:xfrm>
            <a:off x="9364828" y="2990088"/>
            <a:ext cx="2095348"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Classement</a:t>
            </a:r>
            <a:endParaRPr lang="en-US" sz="1700" dirty="0"/>
          </a:p>
        </p:txBody>
      </p:sp>
      <p:sp>
        <p:nvSpPr>
          <p:cNvPr id="38" name="Text 27"/>
          <p:cNvSpPr txBox="1"/>
          <p:nvPr/>
        </p:nvSpPr>
        <p:spPr>
          <a:xfrm>
            <a:off x="9364828" y="3355848"/>
            <a:ext cx="2095348" cy="457200"/>
          </a:xfrm>
          <a:prstGeom prst="rect">
            <a:avLst/>
          </a:prstGeom>
          <a:noFill/>
          <a:ln/>
        </p:spPr>
        <p:txBody>
          <a:bodyPr wrap="square" lIns="0" tIns="0" rIns="0" bIns="0" rtlCol="0" anchor="t"/>
          <a:lstStyle/>
          <a:p>
            <a:pPr indent="0" marL="0">
              <a:buNone/>
            </a:pPr>
            <a:r>
              <a:rPr lang="en-US" sz="1400" dirty="0">
                <a:solidFill>
                  <a:schemeClr val="tx2"/>
                </a:solidFill>
              </a:rPr>
              <a:t>Les 20 stations les plus critiques</a:t>
            </a:r>
            <a:endParaRPr lang="en-US" sz="1400" dirty="0"/>
          </a:p>
        </p:txBody>
      </p:sp>
      <p:sp>
        <p:nvSpPr>
          <p:cNvPr id="39" name="Recommandation"/>
          <p:cNvSpPr/>
          <p:nvPr/>
        </p:nvSpPr>
        <p:spPr>
          <a:xfrm>
            <a:off x="4709160" y="4206240"/>
            <a:ext cx="6933895" cy="1874520"/>
          </a:xfrm>
          <a:prstGeom prst="roundRect">
            <a:avLst>
              <a:gd name="adj" fmla="val 4878"/>
            </a:avLst>
          </a:prstGeom>
          <a:solidFill>
            <a:schemeClr val="tx1"/>
          </a:solidFill>
          <a:ln/>
          <a:effectLst>
            <a:outerShdw sx="100000" sy="100000" kx="0" ky="0" algn="bl" rotWithShape="0" blurRad="127000" dist="25400" dir="5400000">
              <a:srgbClr val="102A2C">
                <a:alpha val="12000"/>
              </a:srgbClr>
            </a:outerShdw>
          </a:effectLst>
        </p:spPr>
      </p:sp>
      <p:sp>
        <p:nvSpPr>
          <p:cNvPr id="40" name="Icône recommandation"/>
          <p:cNvSpPr/>
          <p:nvPr/>
        </p:nvSpPr>
        <p:spPr>
          <a:xfrm>
            <a:off x="5029200" y="4526280"/>
            <a:ext cx="685800" cy="685800"/>
          </a:xfrm>
          <a:prstGeom prst="ellipse">
            <a:avLst/>
          </a:prstGeom>
          <a:solidFill>
            <a:schemeClr val="accent1"/>
          </a:solidFill>
          <a:ln/>
        </p:spPr>
      </p:sp>
      <p:pic>
        <p:nvPicPr>
          <p:cNvPr id="41" name="Image 9" descr="preencoded.png">    </p:cNvPr>
          <p:cNvPicPr>
            <a:picLocks noChangeAspect="1"/>
          </p:cNvPicPr>
          <p:nvPr/>
        </p:nvPicPr>
        <p:blipFill>
          <a:blip r:embed="rId10"/>
          <a:stretch>
            <a:fillRect/>
          </a:stretch>
        </p:blipFill>
        <p:spPr>
          <a:xfrm>
            <a:off x="5200650" y="4697730"/>
            <a:ext cx="342900" cy="342900"/>
          </a:xfrm>
          <a:prstGeom prst="rect">
            <a:avLst/>
          </a:prstGeom>
        </p:spPr>
      </p:pic>
      <p:sp>
        <p:nvSpPr>
          <p:cNvPr id="42" name="Text 30"/>
          <p:cNvSpPr txBox="1"/>
          <p:nvPr/>
        </p:nvSpPr>
        <p:spPr>
          <a:xfrm>
            <a:off x="5943600" y="4480560"/>
            <a:ext cx="5379415" cy="320040"/>
          </a:xfrm>
          <a:prstGeom prst="rect">
            <a:avLst/>
          </a:prstGeom>
          <a:noFill/>
          <a:ln/>
        </p:spPr>
        <p:txBody>
          <a:bodyPr wrap="square" lIns="0" tIns="0" rIns="0" bIns="0" rtlCol="0" anchor="t"/>
          <a:lstStyle/>
          <a:p>
            <a:pPr indent="0" marL="0">
              <a:buNone/>
            </a:pPr>
            <a:r>
              <a:rPr lang="en-US" sz="1400" b="1" dirty="0">
                <a:solidFill>
                  <a:schemeClr val="accent6"/>
                </a:solidFill>
              </a:rPr>
              <a:t>Exemple de recommandation attendue</a:t>
            </a:r>
            <a:endParaRPr lang="en-US" sz="1400" dirty="0"/>
          </a:p>
        </p:txBody>
      </p:sp>
      <p:sp>
        <p:nvSpPr>
          <p:cNvPr id="43" name="Text 31"/>
          <p:cNvSpPr txBox="1"/>
          <p:nvPr/>
        </p:nvSpPr>
        <p:spPr>
          <a:xfrm>
            <a:off x="5943600" y="4828032"/>
            <a:ext cx="5379415" cy="731520"/>
          </a:xfrm>
          <a:prstGeom prst="rect">
            <a:avLst/>
          </a:prstGeom>
          <a:noFill/>
          <a:ln/>
        </p:spPr>
        <p:txBody>
          <a:bodyPr wrap="square" lIns="0" tIns="0" rIns="0" bIns="0" rtlCol="0" anchor="t"/>
          <a:lstStyle/>
          <a:p>
            <a:pPr indent="0" marL="0">
              <a:buNone/>
            </a:pPr>
            <a:r>
              <a:rPr lang="en-US" sz="2200" i="1" dirty="0">
                <a:solidFill>
                  <a:schemeClr val="bg1"/>
                </a:solidFill>
                <a:latin typeface="+mj-lt" pitchFamily="34" charset="0"/>
                <a:ea typeface="+mj-lt" pitchFamily="34" charset="-122"/>
                <a:cs typeface="+mj-lt" pitchFamily="34" charset="-120"/>
              </a:rPr>
              <a:t>« Renforcer les stations X et Y entre 8 h et 10 h les jours de pluie »</a:t>
            </a:r>
            <a:endParaRPr lang="en-US" sz="2200" dirty="0"/>
          </a:p>
        </p:txBody>
      </p:sp>
      <p:sp>
        <p:nvSpPr>
          <p:cNvPr id="44" name="Text 32"/>
          <p:cNvSpPr txBox="1"/>
          <p:nvPr/>
        </p:nvSpPr>
        <p:spPr>
          <a:xfrm>
            <a:off x="5943600" y="5596128"/>
            <a:ext cx="5379415" cy="320040"/>
          </a:xfrm>
          <a:prstGeom prst="rect">
            <a:avLst/>
          </a:prstGeom>
          <a:noFill/>
          <a:ln/>
        </p:spPr>
        <p:txBody>
          <a:bodyPr wrap="square" lIns="0" tIns="0" rIns="0" bIns="0" rtlCol="0" anchor="t"/>
          <a:lstStyle/>
          <a:p>
            <a:pPr indent="0" marL="0">
              <a:buNone/>
            </a:pPr>
            <a:r>
              <a:rPr lang="en-US" sz="1300" dirty="0">
                <a:solidFill>
                  <a:schemeClr val="bg2"/>
                </a:solidFill>
              </a:rPr>
              <a:t>À valider sur les données réellement collectées</a:t>
            </a:r>
            <a:endParaRPr lang="en-US"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Qualité des données : quatre pièges</a:t>
            </a:r>
            <a:endParaRPr lang="en-US" sz="3400" dirty="0"/>
          </a:p>
        </p:txBody>
      </p:sp>
      <p:sp>
        <p:nvSpPr>
          <p:cNvPr id="3" name="Text 1"/>
          <p:cNvSpPr txBox="1"/>
          <p:nvPr/>
        </p:nvSpPr>
        <p:spPr>
          <a:xfrm>
            <a:off x="1417320" y="1325880"/>
            <a:ext cx="4572000" cy="228600"/>
          </a:xfrm>
          <a:prstGeom prst="rect">
            <a:avLst/>
          </a:prstGeom>
          <a:noFill/>
          <a:ln/>
        </p:spPr>
        <p:txBody>
          <a:bodyPr wrap="square" lIns="0" tIns="0" rIns="0" bIns="0" rtlCol="0" anchor="t"/>
          <a:lstStyle/>
          <a:p>
            <a:pPr indent="0" marL="0">
              <a:buNone/>
            </a:pPr>
            <a:r>
              <a:rPr lang="en-US" sz="1100" b="1" spc="100" kern="0" dirty="0">
                <a:solidFill>
                  <a:schemeClr val="accent4"/>
                </a:solidFill>
              </a:rPr>
              <a:t>PROBLÈME</a:t>
            </a:r>
            <a:endParaRPr lang="en-US" sz="1100" dirty="0"/>
          </a:p>
        </p:txBody>
      </p:sp>
      <p:sp>
        <p:nvSpPr>
          <p:cNvPr id="4" name="Text 2"/>
          <p:cNvSpPr txBox="1"/>
          <p:nvPr/>
        </p:nvSpPr>
        <p:spPr>
          <a:xfrm>
            <a:off x="7086600" y="1325880"/>
            <a:ext cx="36576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PARADE</a:t>
            </a:r>
            <a:endParaRPr lang="en-US" sz="1100" dirty="0"/>
          </a:p>
        </p:txBody>
      </p:sp>
      <p:sp>
        <p:nvSpPr>
          <p:cNvPr id="5" name="Problème 1"/>
          <p:cNvSpPr/>
          <p:nvPr/>
        </p:nvSpPr>
        <p:spPr>
          <a:xfrm>
            <a:off x="548640" y="1645920"/>
            <a:ext cx="5440680" cy="932688"/>
          </a:xfrm>
          <a:prstGeom prst="roundRect">
            <a:avLst>
              <a:gd name="adj" fmla="val 9804"/>
            </a:avLst>
          </a:prstGeom>
          <a:solidFill>
            <a:schemeClr val="bg2"/>
          </a:solidFill>
          <a:ln/>
        </p:spPr>
      </p:sp>
      <p:sp>
        <p:nvSpPr>
          <p:cNvPr id="6" name="Icône problème 1"/>
          <p:cNvSpPr/>
          <p:nvPr/>
        </p:nvSpPr>
        <p:spPr>
          <a:xfrm>
            <a:off x="777240" y="1837944"/>
            <a:ext cx="548640" cy="548640"/>
          </a:xfrm>
          <a:prstGeom prst="ellipse">
            <a:avLst/>
          </a:prstGeom>
          <a:solidFill>
            <a:schemeClr val="accent4"/>
          </a:solidFill>
          <a:ln/>
        </p:spPr>
      </p:sp>
      <p:pic>
        <p:nvPicPr>
          <p:cNvPr id="7" name="Image 0" descr="preencoded.png">    </p:cNvPr>
          <p:cNvPicPr>
            <a:picLocks noChangeAspect="1"/>
          </p:cNvPicPr>
          <p:nvPr/>
        </p:nvPicPr>
        <p:blipFill>
          <a:blip r:embed="rId1"/>
          <a:stretch>
            <a:fillRect/>
          </a:stretch>
        </p:blipFill>
        <p:spPr>
          <a:xfrm>
            <a:off x="914400" y="1975104"/>
            <a:ext cx="274320" cy="274320"/>
          </a:xfrm>
          <a:prstGeom prst="rect">
            <a:avLst/>
          </a:prstGeom>
        </p:spPr>
      </p:pic>
      <p:sp>
        <p:nvSpPr>
          <p:cNvPr id="8" name="Text 5"/>
          <p:cNvSpPr txBox="1"/>
          <p:nvPr/>
        </p:nvSpPr>
        <p:spPr>
          <a:xfrm>
            <a:off x="1508760" y="1773936"/>
            <a:ext cx="429768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last_reported en retard</a:t>
            </a:r>
            <a:endParaRPr lang="en-US" sz="1700" dirty="0"/>
          </a:p>
        </p:txBody>
      </p:sp>
      <p:sp>
        <p:nvSpPr>
          <p:cNvPr id="9" name="Text 6"/>
          <p:cNvSpPr txBox="1"/>
          <p:nvPr/>
        </p:nvSpPr>
        <p:spPr>
          <a:xfrm>
            <a:off x="1508760" y="2121408"/>
            <a:ext cx="4297680" cy="347472"/>
          </a:xfrm>
          <a:prstGeom prst="rect">
            <a:avLst/>
          </a:prstGeom>
          <a:noFill/>
          <a:ln/>
        </p:spPr>
        <p:txBody>
          <a:bodyPr wrap="square" lIns="0" tIns="0" rIns="0" bIns="0" rtlCol="0" anchor="t"/>
          <a:lstStyle/>
          <a:p>
            <a:pPr indent="0" marL="0">
              <a:buNone/>
            </a:pPr>
            <a:r>
              <a:rPr lang="en-US" sz="1400" dirty="0">
                <a:solidFill>
                  <a:schemeClr val="tx2"/>
                </a:solidFill>
              </a:rPr>
              <a:t>Mis à jour par lots, ≈ 20 min de retard</a:t>
            </a:r>
            <a:endParaRPr lang="en-US" sz="1400" dirty="0"/>
          </a:p>
        </p:txBody>
      </p:sp>
      <p:sp>
        <p:nvSpPr>
          <p:cNvPr id="10" name="Flèche piège 1"/>
          <p:cNvSpPr/>
          <p:nvPr/>
        </p:nvSpPr>
        <p:spPr>
          <a:xfrm>
            <a:off x="6080760" y="2112264"/>
            <a:ext cx="502920" cy="0"/>
          </a:xfrm>
          <a:prstGeom prst="line">
            <a:avLst/>
          </a:prstGeom>
          <a:noFill/>
          <a:ln w="25400">
            <a:solidFill>
              <a:schemeClr val="tx2"/>
            </a:solidFill>
            <a:prstDash val="solid"/>
            <a:tailEnd type="triangle"/>
          </a:ln>
        </p:spPr>
      </p:sp>
      <p:sp>
        <p:nvSpPr>
          <p:cNvPr id="11" name="Parade 1"/>
          <p:cNvSpPr/>
          <p:nvPr/>
        </p:nvSpPr>
        <p:spPr>
          <a:xfrm>
            <a:off x="6675120" y="1645920"/>
            <a:ext cx="4967935" cy="932688"/>
          </a:xfrm>
          <a:prstGeom prst="roundRect">
            <a:avLst>
              <a:gd name="adj" fmla="val 9804"/>
            </a:avLst>
          </a:prstGeom>
          <a:solidFill>
            <a:schemeClr val="bg1"/>
          </a:solidFill>
          <a:ln/>
          <a:effectLst>
            <a:outerShdw sx="100000" sy="100000" kx="0" ky="0" algn="bl" rotWithShape="0" blurRad="127000" dist="25400" dir="5400000">
              <a:srgbClr val="102A2C">
                <a:alpha val="12000"/>
              </a:srgbClr>
            </a:outerShdw>
          </a:effectLst>
        </p:spPr>
      </p:sp>
      <p:sp>
        <p:nvSpPr>
          <p:cNvPr id="12" name="Icône parade 1"/>
          <p:cNvSpPr/>
          <p:nvPr/>
        </p:nvSpPr>
        <p:spPr>
          <a:xfrm>
            <a:off x="6903720" y="1837944"/>
            <a:ext cx="548640" cy="54864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7040880" y="1975104"/>
            <a:ext cx="274320" cy="274320"/>
          </a:xfrm>
          <a:prstGeom prst="rect">
            <a:avLst/>
          </a:prstGeom>
        </p:spPr>
      </p:pic>
      <p:sp>
        <p:nvSpPr>
          <p:cNvPr id="14" name="Text 10"/>
          <p:cNvSpPr txBox="1"/>
          <p:nvPr/>
        </p:nvSpPr>
        <p:spPr>
          <a:xfrm>
            <a:off x="7635240" y="1737360"/>
            <a:ext cx="3824935" cy="749808"/>
          </a:xfrm>
          <a:prstGeom prst="rect">
            <a:avLst/>
          </a:prstGeom>
          <a:noFill/>
          <a:ln/>
        </p:spPr>
        <p:txBody>
          <a:bodyPr wrap="square" lIns="0" tIns="0" rIns="0" bIns="0" rtlCol="0" anchor="ctr"/>
          <a:lstStyle/>
          <a:p>
            <a:pPr indent="0" marL="0">
              <a:buNone/>
            </a:pPr>
            <a:r>
              <a:rPr lang="en-US" sz="1500" dirty="0">
                <a:solidFill>
                  <a:schemeClr val="tx1"/>
                </a:solidFill>
              </a:rPr>
              <a:t>Horodater avec lastUpdatedOther ou l’heure de collecte</a:t>
            </a:r>
            <a:endParaRPr lang="en-US" sz="1500" dirty="0"/>
          </a:p>
        </p:txBody>
      </p:sp>
      <p:sp>
        <p:nvSpPr>
          <p:cNvPr id="15" name="Problème 2"/>
          <p:cNvSpPr/>
          <p:nvPr/>
        </p:nvSpPr>
        <p:spPr>
          <a:xfrm>
            <a:off x="548640" y="2761488"/>
            <a:ext cx="5440680" cy="932688"/>
          </a:xfrm>
          <a:prstGeom prst="roundRect">
            <a:avLst>
              <a:gd name="adj" fmla="val 9804"/>
            </a:avLst>
          </a:prstGeom>
          <a:solidFill>
            <a:schemeClr val="bg2"/>
          </a:solidFill>
          <a:ln/>
        </p:spPr>
      </p:sp>
      <p:sp>
        <p:nvSpPr>
          <p:cNvPr id="16" name="Icône problème 2"/>
          <p:cNvSpPr/>
          <p:nvPr/>
        </p:nvSpPr>
        <p:spPr>
          <a:xfrm>
            <a:off x="777240" y="2953512"/>
            <a:ext cx="548640" cy="548640"/>
          </a:xfrm>
          <a:prstGeom prst="ellipse">
            <a:avLst/>
          </a:prstGeom>
          <a:solidFill>
            <a:schemeClr val="accent4"/>
          </a:solidFill>
          <a:ln/>
        </p:spPr>
      </p:sp>
      <p:pic>
        <p:nvPicPr>
          <p:cNvPr id="17" name="Image 2" descr="preencoded.png">    </p:cNvPr>
          <p:cNvPicPr>
            <a:picLocks noChangeAspect="1"/>
          </p:cNvPicPr>
          <p:nvPr/>
        </p:nvPicPr>
        <p:blipFill>
          <a:blip r:embed="rId3"/>
          <a:stretch>
            <a:fillRect/>
          </a:stretch>
        </p:blipFill>
        <p:spPr>
          <a:xfrm>
            <a:off x="914400" y="3090672"/>
            <a:ext cx="274320" cy="274320"/>
          </a:xfrm>
          <a:prstGeom prst="rect">
            <a:avLst/>
          </a:prstGeom>
        </p:spPr>
      </p:pic>
      <p:sp>
        <p:nvSpPr>
          <p:cNvPr id="18" name="Text 13"/>
          <p:cNvSpPr txBox="1"/>
          <p:nvPr/>
        </p:nvSpPr>
        <p:spPr>
          <a:xfrm>
            <a:off x="1508760" y="2889504"/>
            <a:ext cx="429768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Stations hors service</a:t>
            </a:r>
            <a:endParaRPr lang="en-US" sz="1700" dirty="0"/>
          </a:p>
        </p:txBody>
      </p:sp>
      <p:sp>
        <p:nvSpPr>
          <p:cNvPr id="19" name="Text 14"/>
          <p:cNvSpPr txBox="1"/>
          <p:nvPr/>
        </p:nvSpPr>
        <p:spPr>
          <a:xfrm>
            <a:off x="1508760" y="3236976"/>
            <a:ext cx="4297680" cy="347472"/>
          </a:xfrm>
          <a:prstGeom prst="rect">
            <a:avLst/>
          </a:prstGeom>
          <a:noFill/>
          <a:ln/>
        </p:spPr>
        <p:txBody>
          <a:bodyPr wrap="square" lIns="0" tIns="0" rIns="0" bIns="0" rtlCol="0" anchor="t"/>
          <a:lstStyle/>
          <a:p>
            <a:pPr indent="0" marL="0">
              <a:buNone/>
            </a:pPr>
            <a:r>
              <a:rPr lang="en-US" sz="1400" dirty="0">
                <a:solidFill>
                  <a:schemeClr val="tx2"/>
                </a:solidFill>
              </a:rPr>
              <a:t>is_installed ou is_renting à 0</a:t>
            </a:r>
            <a:endParaRPr lang="en-US" sz="1400" dirty="0"/>
          </a:p>
        </p:txBody>
      </p:sp>
      <p:sp>
        <p:nvSpPr>
          <p:cNvPr id="20" name="Flèche piège 2"/>
          <p:cNvSpPr/>
          <p:nvPr/>
        </p:nvSpPr>
        <p:spPr>
          <a:xfrm>
            <a:off x="6080760" y="3227832"/>
            <a:ext cx="502920" cy="0"/>
          </a:xfrm>
          <a:prstGeom prst="line">
            <a:avLst/>
          </a:prstGeom>
          <a:noFill/>
          <a:ln w="25400">
            <a:solidFill>
              <a:schemeClr val="tx2"/>
            </a:solidFill>
            <a:prstDash val="solid"/>
            <a:tailEnd type="triangle"/>
          </a:ln>
        </p:spPr>
      </p:sp>
      <p:sp>
        <p:nvSpPr>
          <p:cNvPr id="21" name="Parade 2"/>
          <p:cNvSpPr/>
          <p:nvPr/>
        </p:nvSpPr>
        <p:spPr>
          <a:xfrm>
            <a:off x="6675120" y="2761488"/>
            <a:ext cx="4967935" cy="932688"/>
          </a:xfrm>
          <a:prstGeom prst="roundRect">
            <a:avLst>
              <a:gd name="adj" fmla="val 9804"/>
            </a:avLst>
          </a:prstGeom>
          <a:solidFill>
            <a:schemeClr val="bg1"/>
          </a:solidFill>
          <a:ln/>
          <a:effectLst>
            <a:outerShdw sx="100000" sy="100000" kx="0" ky="0" algn="bl" rotWithShape="0" blurRad="127000" dist="25400" dir="5400000">
              <a:srgbClr val="102A2C">
                <a:alpha val="12000"/>
              </a:srgbClr>
            </a:outerShdw>
          </a:effectLst>
        </p:spPr>
      </p:sp>
      <p:sp>
        <p:nvSpPr>
          <p:cNvPr id="22" name="Icône parade 2"/>
          <p:cNvSpPr/>
          <p:nvPr/>
        </p:nvSpPr>
        <p:spPr>
          <a:xfrm>
            <a:off x="6903720" y="2953512"/>
            <a:ext cx="548640" cy="548640"/>
          </a:xfrm>
          <a:prstGeom prst="ellipse">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7040880" y="3090672"/>
            <a:ext cx="274320" cy="274320"/>
          </a:xfrm>
          <a:prstGeom prst="rect">
            <a:avLst/>
          </a:prstGeom>
        </p:spPr>
      </p:pic>
      <p:sp>
        <p:nvSpPr>
          <p:cNvPr id="24" name="Text 18"/>
          <p:cNvSpPr txBox="1"/>
          <p:nvPr/>
        </p:nvSpPr>
        <p:spPr>
          <a:xfrm>
            <a:off x="7635240" y="2852928"/>
            <a:ext cx="3824935" cy="749808"/>
          </a:xfrm>
          <a:prstGeom prst="rect">
            <a:avLst/>
          </a:prstGeom>
          <a:noFill/>
          <a:ln/>
        </p:spPr>
        <p:txBody>
          <a:bodyPr wrap="square" lIns="0" tIns="0" rIns="0" bIns="0" rtlCol="0" anchor="ctr"/>
          <a:lstStyle/>
          <a:p>
            <a:pPr indent="0" marL="0">
              <a:buNone/>
            </a:pPr>
            <a:r>
              <a:rPr lang="en-US" sz="1500" dirty="0">
                <a:solidFill>
                  <a:schemeClr val="tx1"/>
                </a:solidFill>
              </a:rPr>
              <a:t>Filtrer ces stations avant le calcul des taux</a:t>
            </a:r>
            <a:endParaRPr lang="en-US" sz="1500" dirty="0"/>
          </a:p>
        </p:txBody>
      </p:sp>
      <p:sp>
        <p:nvSpPr>
          <p:cNvPr id="25" name="Problème 3"/>
          <p:cNvSpPr/>
          <p:nvPr/>
        </p:nvSpPr>
        <p:spPr>
          <a:xfrm>
            <a:off x="548640" y="3877056"/>
            <a:ext cx="5440680" cy="932688"/>
          </a:xfrm>
          <a:prstGeom prst="roundRect">
            <a:avLst>
              <a:gd name="adj" fmla="val 9804"/>
            </a:avLst>
          </a:prstGeom>
          <a:solidFill>
            <a:schemeClr val="bg2"/>
          </a:solidFill>
          <a:ln/>
        </p:spPr>
      </p:sp>
      <p:sp>
        <p:nvSpPr>
          <p:cNvPr id="26" name="Icône problème 3"/>
          <p:cNvSpPr/>
          <p:nvPr/>
        </p:nvSpPr>
        <p:spPr>
          <a:xfrm>
            <a:off x="777240" y="4069080"/>
            <a:ext cx="548640" cy="548640"/>
          </a:xfrm>
          <a:prstGeom prst="ellipse">
            <a:avLst/>
          </a:prstGeom>
          <a:solidFill>
            <a:schemeClr val="accent4"/>
          </a:solidFill>
          <a:ln/>
        </p:spPr>
      </p:sp>
      <p:pic>
        <p:nvPicPr>
          <p:cNvPr id="27" name="Image 4" descr="preencoded.png">    </p:cNvPr>
          <p:cNvPicPr>
            <a:picLocks noChangeAspect="1"/>
          </p:cNvPicPr>
          <p:nvPr/>
        </p:nvPicPr>
        <p:blipFill>
          <a:blip r:embed="rId5"/>
          <a:stretch>
            <a:fillRect/>
          </a:stretch>
        </p:blipFill>
        <p:spPr>
          <a:xfrm>
            <a:off x="914400" y="4206240"/>
            <a:ext cx="274320" cy="274320"/>
          </a:xfrm>
          <a:prstGeom prst="rect">
            <a:avLst/>
          </a:prstGeom>
        </p:spPr>
      </p:pic>
      <p:sp>
        <p:nvSpPr>
          <p:cNvPr id="28" name="Text 21"/>
          <p:cNvSpPr txBox="1"/>
          <p:nvPr/>
        </p:nvSpPr>
        <p:spPr>
          <a:xfrm>
            <a:off x="1508760" y="4005072"/>
            <a:ext cx="429768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ttl trompeur</a:t>
            </a:r>
            <a:endParaRPr lang="en-US" sz="1700" dirty="0"/>
          </a:p>
        </p:txBody>
      </p:sp>
      <p:sp>
        <p:nvSpPr>
          <p:cNvPr id="29" name="Text 22"/>
          <p:cNvSpPr txBox="1"/>
          <p:nvPr/>
        </p:nvSpPr>
        <p:spPr>
          <a:xfrm>
            <a:off x="1508760" y="4352544"/>
            <a:ext cx="4297680" cy="347472"/>
          </a:xfrm>
          <a:prstGeom prst="rect">
            <a:avLst/>
          </a:prstGeom>
          <a:noFill/>
          <a:ln/>
        </p:spPr>
        <p:txBody>
          <a:bodyPr wrap="square" lIns="0" tIns="0" rIns="0" bIns="0" rtlCol="0" anchor="t"/>
          <a:lstStyle/>
          <a:p>
            <a:pPr indent="0" marL="0">
              <a:buNone/>
            </a:pPr>
            <a:r>
              <a:rPr lang="en-US" sz="1400" dirty="0">
                <a:solidFill>
                  <a:schemeClr val="tx2"/>
                </a:solidFill>
              </a:rPr>
              <a:t>3 600 s annoncés, données mises à jour chaque minute</a:t>
            </a:r>
            <a:endParaRPr lang="en-US" sz="1400" dirty="0"/>
          </a:p>
        </p:txBody>
      </p:sp>
      <p:sp>
        <p:nvSpPr>
          <p:cNvPr id="30" name="Flèche piège 3"/>
          <p:cNvSpPr/>
          <p:nvPr/>
        </p:nvSpPr>
        <p:spPr>
          <a:xfrm>
            <a:off x="6080760" y="4343400"/>
            <a:ext cx="502920" cy="0"/>
          </a:xfrm>
          <a:prstGeom prst="line">
            <a:avLst/>
          </a:prstGeom>
          <a:noFill/>
          <a:ln w="25400">
            <a:solidFill>
              <a:schemeClr val="tx2"/>
            </a:solidFill>
            <a:prstDash val="solid"/>
            <a:tailEnd type="triangle"/>
          </a:ln>
        </p:spPr>
      </p:sp>
      <p:sp>
        <p:nvSpPr>
          <p:cNvPr id="31" name="Parade 3"/>
          <p:cNvSpPr/>
          <p:nvPr/>
        </p:nvSpPr>
        <p:spPr>
          <a:xfrm>
            <a:off x="6675120" y="3877056"/>
            <a:ext cx="4967935" cy="932688"/>
          </a:xfrm>
          <a:prstGeom prst="roundRect">
            <a:avLst>
              <a:gd name="adj" fmla="val 9804"/>
            </a:avLst>
          </a:prstGeom>
          <a:solidFill>
            <a:schemeClr val="bg1"/>
          </a:solidFill>
          <a:ln/>
          <a:effectLst>
            <a:outerShdw sx="100000" sy="100000" kx="0" ky="0" algn="bl" rotWithShape="0" blurRad="127000" dist="25400" dir="5400000">
              <a:srgbClr val="102A2C">
                <a:alpha val="12000"/>
              </a:srgbClr>
            </a:outerShdw>
          </a:effectLst>
        </p:spPr>
      </p:sp>
      <p:sp>
        <p:nvSpPr>
          <p:cNvPr id="32" name="Icône parade 3"/>
          <p:cNvSpPr/>
          <p:nvPr/>
        </p:nvSpPr>
        <p:spPr>
          <a:xfrm>
            <a:off x="6903720" y="4069080"/>
            <a:ext cx="548640" cy="548640"/>
          </a:xfrm>
          <a:prstGeom prst="ellipse">
            <a:avLst/>
          </a:prstGeom>
          <a:solidFill>
            <a:schemeClr val="accent1"/>
          </a:solidFill>
          <a:ln/>
        </p:spPr>
      </p:sp>
      <p:pic>
        <p:nvPicPr>
          <p:cNvPr id="33" name="Image 5" descr="preencoded.png">    </p:cNvPr>
          <p:cNvPicPr>
            <a:picLocks noChangeAspect="1"/>
          </p:cNvPicPr>
          <p:nvPr/>
        </p:nvPicPr>
        <p:blipFill>
          <a:blip r:embed="rId6"/>
          <a:stretch>
            <a:fillRect/>
          </a:stretch>
        </p:blipFill>
        <p:spPr>
          <a:xfrm>
            <a:off x="7040880" y="4206240"/>
            <a:ext cx="274320" cy="274320"/>
          </a:xfrm>
          <a:prstGeom prst="rect">
            <a:avLst/>
          </a:prstGeom>
        </p:spPr>
      </p:pic>
      <p:sp>
        <p:nvSpPr>
          <p:cNvPr id="34" name="Text 26"/>
          <p:cNvSpPr txBox="1"/>
          <p:nvPr/>
        </p:nvSpPr>
        <p:spPr>
          <a:xfrm>
            <a:off x="7635240" y="3968496"/>
            <a:ext cx="3824935" cy="749808"/>
          </a:xfrm>
          <a:prstGeom prst="rect">
            <a:avLst/>
          </a:prstGeom>
          <a:noFill/>
          <a:ln/>
        </p:spPr>
        <p:txBody>
          <a:bodyPr wrap="square" lIns="0" tIns="0" rIns="0" bIns="0" rtlCol="0" anchor="ctr"/>
          <a:lstStyle/>
          <a:p>
            <a:pPr indent="0" marL="0">
              <a:buNone/>
            </a:pPr>
            <a:r>
              <a:rPr lang="en-US" sz="1500" dirty="0">
                <a:solidFill>
                  <a:schemeClr val="tx1"/>
                </a:solidFill>
              </a:rPr>
              <a:t>Contrôler le nombre de stations à chaque relevé grâce au manifeste</a:t>
            </a:r>
            <a:endParaRPr lang="en-US" sz="1500" dirty="0"/>
          </a:p>
        </p:txBody>
      </p:sp>
      <p:sp>
        <p:nvSpPr>
          <p:cNvPr id="35" name="Problème 4"/>
          <p:cNvSpPr/>
          <p:nvPr/>
        </p:nvSpPr>
        <p:spPr>
          <a:xfrm>
            <a:off x="548640" y="4992624"/>
            <a:ext cx="5440680" cy="932688"/>
          </a:xfrm>
          <a:prstGeom prst="roundRect">
            <a:avLst>
              <a:gd name="adj" fmla="val 9804"/>
            </a:avLst>
          </a:prstGeom>
          <a:solidFill>
            <a:schemeClr val="bg2"/>
          </a:solidFill>
          <a:ln/>
        </p:spPr>
      </p:sp>
      <p:sp>
        <p:nvSpPr>
          <p:cNvPr id="36" name="Icône problème 4"/>
          <p:cNvSpPr/>
          <p:nvPr/>
        </p:nvSpPr>
        <p:spPr>
          <a:xfrm>
            <a:off x="777240" y="5184648"/>
            <a:ext cx="548640" cy="548640"/>
          </a:xfrm>
          <a:prstGeom prst="ellipse">
            <a:avLst/>
          </a:prstGeom>
          <a:solidFill>
            <a:schemeClr val="accent4"/>
          </a:solidFill>
          <a:ln/>
        </p:spPr>
      </p:sp>
      <p:pic>
        <p:nvPicPr>
          <p:cNvPr id="37" name="Image 6" descr="preencoded.png">    </p:cNvPr>
          <p:cNvPicPr>
            <a:picLocks noChangeAspect="1"/>
          </p:cNvPicPr>
          <p:nvPr/>
        </p:nvPicPr>
        <p:blipFill>
          <a:blip r:embed="rId7"/>
          <a:stretch>
            <a:fillRect/>
          </a:stretch>
        </p:blipFill>
        <p:spPr>
          <a:xfrm>
            <a:off x="914400" y="5321808"/>
            <a:ext cx="274320" cy="274320"/>
          </a:xfrm>
          <a:prstGeom prst="rect">
            <a:avLst/>
          </a:prstGeom>
        </p:spPr>
      </p:pic>
      <p:sp>
        <p:nvSpPr>
          <p:cNvPr id="38" name="Text 29"/>
          <p:cNvSpPr txBox="1"/>
          <p:nvPr/>
        </p:nvSpPr>
        <p:spPr>
          <a:xfrm>
            <a:off x="1508760" y="5120640"/>
            <a:ext cx="429768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Identifiants géants</a:t>
            </a:r>
            <a:endParaRPr lang="en-US" sz="1700" dirty="0"/>
          </a:p>
        </p:txBody>
      </p:sp>
      <p:sp>
        <p:nvSpPr>
          <p:cNvPr id="39" name="Text 30"/>
          <p:cNvSpPr txBox="1"/>
          <p:nvPr/>
        </p:nvSpPr>
        <p:spPr>
          <a:xfrm>
            <a:off x="1508760" y="5468112"/>
            <a:ext cx="4297680" cy="347472"/>
          </a:xfrm>
          <a:prstGeom prst="rect">
            <a:avLst/>
          </a:prstGeom>
          <a:noFill/>
          <a:ln/>
        </p:spPr>
        <p:txBody>
          <a:bodyPr wrap="square" lIns="0" tIns="0" rIns="0" bIns="0" rtlCol="0" anchor="t"/>
          <a:lstStyle/>
          <a:p>
            <a:pPr indent="0" marL="0">
              <a:buNone/>
            </a:pPr>
            <a:r>
              <a:rPr lang="en-US" sz="1400" dirty="0">
                <a:solidFill>
                  <a:schemeClr val="tx2"/>
                </a:solidFill>
              </a:rPr>
              <a:t>station_id supérieur à 2³¹</a:t>
            </a:r>
            <a:endParaRPr lang="en-US" sz="1400" dirty="0"/>
          </a:p>
        </p:txBody>
      </p:sp>
      <p:sp>
        <p:nvSpPr>
          <p:cNvPr id="40" name="Flèche piège 4"/>
          <p:cNvSpPr/>
          <p:nvPr/>
        </p:nvSpPr>
        <p:spPr>
          <a:xfrm>
            <a:off x="6080760" y="5458968"/>
            <a:ext cx="502920" cy="0"/>
          </a:xfrm>
          <a:prstGeom prst="line">
            <a:avLst/>
          </a:prstGeom>
          <a:noFill/>
          <a:ln w="25400">
            <a:solidFill>
              <a:schemeClr val="tx2"/>
            </a:solidFill>
            <a:prstDash val="solid"/>
            <a:tailEnd type="triangle"/>
          </a:ln>
        </p:spPr>
      </p:sp>
      <p:sp>
        <p:nvSpPr>
          <p:cNvPr id="41" name="Parade 4"/>
          <p:cNvSpPr/>
          <p:nvPr/>
        </p:nvSpPr>
        <p:spPr>
          <a:xfrm>
            <a:off x="6675120" y="4992624"/>
            <a:ext cx="4967935" cy="932688"/>
          </a:xfrm>
          <a:prstGeom prst="roundRect">
            <a:avLst>
              <a:gd name="adj" fmla="val 9804"/>
            </a:avLst>
          </a:prstGeom>
          <a:solidFill>
            <a:schemeClr val="bg1"/>
          </a:solidFill>
          <a:ln/>
          <a:effectLst>
            <a:outerShdw sx="100000" sy="100000" kx="0" ky="0" algn="bl" rotWithShape="0" blurRad="127000" dist="25400" dir="5400000">
              <a:srgbClr val="102A2C">
                <a:alpha val="12000"/>
              </a:srgbClr>
            </a:outerShdw>
          </a:effectLst>
        </p:spPr>
      </p:sp>
      <p:sp>
        <p:nvSpPr>
          <p:cNvPr id="42" name="Icône parade 4"/>
          <p:cNvSpPr/>
          <p:nvPr/>
        </p:nvSpPr>
        <p:spPr>
          <a:xfrm>
            <a:off x="6903720" y="5184648"/>
            <a:ext cx="548640" cy="548640"/>
          </a:xfrm>
          <a:prstGeom prst="ellipse">
            <a:avLst/>
          </a:prstGeom>
          <a:solidFill>
            <a:schemeClr val="accent1"/>
          </a:solidFill>
          <a:ln/>
        </p:spPr>
      </p:sp>
      <p:pic>
        <p:nvPicPr>
          <p:cNvPr id="43" name="Image 7" descr="preencoded.png">    </p:cNvPr>
          <p:cNvPicPr>
            <a:picLocks noChangeAspect="1"/>
          </p:cNvPicPr>
          <p:nvPr/>
        </p:nvPicPr>
        <p:blipFill>
          <a:blip r:embed="rId8"/>
          <a:stretch>
            <a:fillRect/>
          </a:stretch>
        </p:blipFill>
        <p:spPr>
          <a:xfrm>
            <a:off x="7040880" y="5321808"/>
            <a:ext cx="274320" cy="274320"/>
          </a:xfrm>
          <a:prstGeom prst="rect">
            <a:avLst/>
          </a:prstGeom>
        </p:spPr>
      </p:pic>
      <p:sp>
        <p:nvSpPr>
          <p:cNvPr id="44" name="Text 34"/>
          <p:cNvSpPr txBox="1"/>
          <p:nvPr/>
        </p:nvSpPr>
        <p:spPr>
          <a:xfrm>
            <a:off x="7635240" y="5084064"/>
            <a:ext cx="3824935" cy="749808"/>
          </a:xfrm>
          <a:prstGeom prst="rect">
            <a:avLst/>
          </a:prstGeom>
          <a:noFill/>
          <a:ln/>
        </p:spPr>
        <p:txBody>
          <a:bodyPr wrap="square" lIns="0" tIns="0" rIns="0" bIns="0" rtlCol="0" anchor="ctr"/>
          <a:lstStyle/>
          <a:p>
            <a:pPr indent="0" marL="0">
              <a:buNone/>
            </a:pPr>
            <a:r>
              <a:rPr lang="en-US" sz="1500" dirty="0">
                <a:solidFill>
                  <a:schemeClr val="tx1"/>
                </a:solidFill>
              </a:rPr>
              <a:t>Typer les identifiants en bigint</a:t>
            </a:r>
            <a:endParaRPr lang="en-US"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RGPD et limites assumées</a:t>
            </a:r>
            <a:endParaRPr lang="en-US" sz="3400" dirty="0"/>
          </a:p>
        </p:txBody>
      </p:sp>
      <p:sp>
        <p:nvSpPr>
          <p:cNvPr id="3" name="Carte RGPD : aucune donnée personnelle"/>
          <p:cNvSpPr/>
          <p:nvPr/>
        </p:nvSpPr>
        <p:spPr>
          <a:xfrm>
            <a:off x="548640" y="1417320"/>
            <a:ext cx="5364328" cy="4663440"/>
          </a:xfrm>
          <a:prstGeom prst="roundRect">
            <a:avLst>
              <a:gd name="adj" fmla="val 1961"/>
            </a:avLst>
          </a:prstGeom>
          <a:solidFill>
            <a:schemeClr val="bg1"/>
          </a:solidFill>
          <a:ln/>
          <a:effectLst>
            <a:outerShdw sx="100000" sy="100000" kx="0" ky="0" algn="bl" rotWithShape="0" blurRad="127000" dist="25400" dir="5400000">
              <a:srgbClr val="102A2C">
                <a:alpha val="12000"/>
              </a:srgbClr>
            </a:outerShdw>
          </a:effectLst>
        </p:spPr>
      </p:sp>
      <p:sp>
        <p:nvSpPr>
          <p:cNvPr id="4" name="Icône RGPD : aucune donnée personnelle"/>
          <p:cNvSpPr/>
          <p:nvPr/>
        </p:nvSpPr>
        <p:spPr>
          <a:xfrm>
            <a:off x="914400" y="173736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97280" y="1920240"/>
            <a:ext cx="365760" cy="365760"/>
          </a:xfrm>
          <a:prstGeom prst="rect">
            <a:avLst/>
          </a:prstGeom>
        </p:spPr>
      </p:pic>
      <p:sp>
        <p:nvSpPr>
          <p:cNvPr id="6" name="Text 3"/>
          <p:cNvSpPr txBox="1"/>
          <p:nvPr/>
        </p:nvSpPr>
        <p:spPr>
          <a:xfrm>
            <a:off x="1874520" y="1737360"/>
            <a:ext cx="3718408" cy="73152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RGPD : aucune donnée personnelle</a:t>
            </a:r>
            <a:endParaRPr lang="en-US" sz="2200" dirty="0"/>
          </a:p>
        </p:txBody>
      </p:sp>
      <p:sp>
        <p:nvSpPr>
          <p:cNvPr id="7" name="Text 4"/>
          <p:cNvSpPr txBox="1"/>
          <p:nvPr/>
        </p:nvSpPr>
        <p:spPr>
          <a:xfrm>
            <a:off x="914400" y="2697480"/>
            <a:ext cx="4632808" cy="914400"/>
          </a:xfrm>
          <a:prstGeom prst="rect">
            <a:avLst/>
          </a:prstGeom>
          <a:noFill/>
          <a:ln/>
        </p:spPr>
        <p:txBody>
          <a:bodyPr wrap="square" lIns="0" tIns="0" rIns="0" bIns="0" rtlCol="0" anchor="t"/>
          <a:lstStyle/>
          <a:p>
            <a:pPr indent="0" marL="0">
              <a:buNone/>
            </a:pPr>
            <a:r>
              <a:rPr lang="en-US" sz="1600" dirty="0">
                <a:solidFill>
                  <a:schemeClr val="tx2"/>
                </a:solidFill>
              </a:rPr>
              <a:t>Seulement des compteurs agrégés par station : ni données d’usagers, ni trajets individuels.</a:t>
            </a:r>
            <a:endParaRPr lang="en-US" sz="1600" dirty="0"/>
          </a:p>
        </p:txBody>
      </p:sp>
      <p:sp>
        <p:nvSpPr>
          <p:cNvPr id="8" name="Text 5"/>
          <p:cNvSpPr txBox="1"/>
          <p:nvPr/>
        </p:nvSpPr>
        <p:spPr>
          <a:xfrm>
            <a:off x="914400" y="3794760"/>
            <a:ext cx="27432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PARADE</a:t>
            </a:r>
            <a:endParaRPr lang="en-US" sz="1100" dirty="0"/>
          </a:p>
        </p:txBody>
      </p:sp>
      <p:sp>
        <p:nvSpPr>
          <p:cNvPr id="9" name="Text 6"/>
          <p:cNvSpPr txBox="1"/>
          <p:nvPr/>
        </p:nvSpPr>
        <p:spPr>
          <a:xfrm>
            <a:off x="914400" y="4114800"/>
            <a:ext cx="4632808" cy="173736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Le préciser dans la fiche</a:t>
            </a:r>
            <a:endParaRPr lang="en-US" sz="1500" dirty="0"/>
          </a:p>
          <a:p>
            <a:pPr marL="190500" indent="-190500">
              <a:spcAft>
                <a:spcPts val="600"/>
              </a:spcAft>
              <a:buSzPct val="100000"/>
              <a:buChar char="•"/>
            </a:pPr>
            <a:r>
              <a:rPr lang="en-US" sz="1500" dirty="0">
                <a:solidFill>
                  <a:schemeClr val="tx1"/>
                </a:solidFill>
              </a:rPr>
              <a:t>N’ajouter aucune source contenant des données personnelles</a:t>
            </a:r>
            <a:endParaRPr lang="en-US" sz="1500" dirty="0"/>
          </a:p>
          <a:p>
            <a:pPr marL="190500" indent="-190500">
              <a:spcAft>
                <a:spcPts val="600"/>
              </a:spcAft>
              <a:buSzPct val="100000"/>
              <a:buChar char="•"/>
            </a:pPr>
            <a:r>
              <a:rPr lang="en-US" sz="1500" dirty="0">
                <a:solidFill>
                  <a:schemeClr val="tx1"/>
                </a:solidFill>
              </a:rPr>
              <a:t>Citer la licence des sources (ODbL ou Licence Ouverte, à confirmer)</a:t>
            </a:r>
            <a:endParaRPr lang="en-US" sz="1500" dirty="0"/>
          </a:p>
        </p:txBody>
      </p:sp>
      <p:sp>
        <p:nvSpPr>
          <p:cNvPr id="10" name="Carte Limites de l’étude"/>
          <p:cNvSpPr/>
          <p:nvPr/>
        </p:nvSpPr>
        <p:spPr>
          <a:xfrm>
            <a:off x="6278728" y="1417320"/>
            <a:ext cx="5364328" cy="4663440"/>
          </a:xfrm>
          <a:prstGeom prst="roundRect">
            <a:avLst>
              <a:gd name="adj" fmla="val 1961"/>
            </a:avLst>
          </a:prstGeom>
          <a:solidFill>
            <a:schemeClr val="bg1"/>
          </a:solidFill>
          <a:ln/>
          <a:effectLst>
            <a:outerShdw sx="100000" sy="100000" kx="0" ky="0" algn="bl" rotWithShape="0" blurRad="127000" dist="25400" dir="5400000">
              <a:srgbClr val="102A2C">
                <a:alpha val="12000"/>
              </a:srgbClr>
            </a:outerShdw>
          </a:effectLst>
        </p:spPr>
      </p:sp>
      <p:sp>
        <p:nvSpPr>
          <p:cNvPr id="11" name="Icône Limites de l’étude"/>
          <p:cNvSpPr/>
          <p:nvPr/>
        </p:nvSpPr>
        <p:spPr>
          <a:xfrm>
            <a:off x="6644488" y="1737360"/>
            <a:ext cx="731520" cy="73152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6827368" y="1920240"/>
            <a:ext cx="365760" cy="365760"/>
          </a:xfrm>
          <a:prstGeom prst="rect">
            <a:avLst/>
          </a:prstGeom>
        </p:spPr>
      </p:pic>
      <p:sp>
        <p:nvSpPr>
          <p:cNvPr id="13" name="Text 9"/>
          <p:cNvSpPr txBox="1"/>
          <p:nvPr/>
        </p:nvSpPr>
        <p:spPr>
          <a:xfrm>
            <a:off x="7604608" y="1737360"/>
            <a:ext cx="3718408" cy="73152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Limites de l’étude</a:t>
            </a:r>
            <a:endParaRPr lang="en-US" sz="2200" dirty="0"/>
          </a:p>
        </p:txBody>
      </p:sp>
      <p:sp>
        <p:nvSpPr>
          <p:cNvPr id="14" name="Text 10"/>
          <p:cNvSpPr txBox="1"/>
          <p:nvPr/>
        </p:nvSpPr>
        <p:spPr>
          <a:xfrm>
            <a:off x="6644488" y="2697480"/>
            <a:ext cx="4632808" cy="914400"/>
          </a:xfrm>
          <a:prstGeom prst="rect">
            <a:avLst/>
          </a:prstGeom>
          <a:noFill/>
          <a:ln/>
        </p:spPr>
        <p:txBody>
          <a:bodyPr wrap="square" lIns="0" tIns="0" rIns="0" bIns="0" rtlCol="0" anchor="t"/>
          <a:lstStyle/>
          <a:p>
            <a:pPr indent="0" marL="0">
              <a:buNone/>
            </a:pPr>
            <a:r>
              <a:rPr lang="en-US" sz="1600" dirty="0">
                <a:solidFill>
                  <a:schemeClr val="tx2"/>
                </a:solidFill>
              </a:rPr>
              <a:t>Une seule semaine d’historique, un seul point météo pour Paris, quota gratuit d’Open-Meteo. Corrélation ≠ causalité.</a:t>
            </a:r>
            <a:endParaRPr lang="en-US" sz="1600" dirty="0"/>
          </a:p>
        </p:txBody>
      </p:sp>
      <p:sp>
        <p:nvSpPr>
          <p:cNvPr id="15" name="Text 11"/>
          <p:cNvSpPr txBox="1"/>
          <p:nvPr/>
        </p:nvSpPr>
        <p:spPr>
          <a:xfrm>
            <a:off x="6644488" y="3794760"/>
            <a:ext cx="274320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PARADE</a:t>
            </a:r>
            <a:endParaRPr lang="en-US" sz="1100" dirty="0"/>
          </a:p>
        </p:txBody>
      </p:sp>
      <p:sp>
        <p:nvSpPr>
          <p:cNvPr id="16" name="Text 12"/>
          <p:cNvSpPr txBox="1"/>
          <p:nvPr/>
        </p:nvSpPr>
        <p:spPr>
          <a:xfrm>
            <a:off x="6644488" y="4114800"/>
            <a:ext cx="4632808" cy="173736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Annoncer ces limites dans les conclusions</a:t>
            </a:r>
            <a:endParaRPr lang="en-US" sz="1500" dirty="0"/>
          </a:p>
          <a:p>
            <a:pPr marL="190500" indent="-190500">
              <a:spcAft>
                <a:spcPts val="600"/>
              </a:spcAft>
              <a:buSzPct val="100000"/>
              <a:buChar char="•"/>
            </a:pPr>
            <a:r>
              <a:rPr lang="en-US" sz="1500" dirty="0">
                <a:solidFill>
                  <a:schemeClr val="tx1"/>
                </a:solidFill>
              </a:rPr>
              <a:t>Limiter les appels météo à un par jour</a:t>
            </a:r>
            <a:endParaRPr lang="en-US" sz="1500" dirty="0"/>
          </a:p>
          <a:p>
            <a:pPr marL="190500" indent="-190500">
              <a:spcAft>
                <a:spcPts val="600"/>
              </a:spcAft>
              <a:buSzPct val="100000"/>
              <a:buChar char="•"/>
            </a:pPr>
            <a:r>
              <a:rPr lang="en-US" sz="1500" dirty="0">
                <a:solidFill>
                  <a:schemeClr val="tx1"/>
                </a:solidFill>
              </a:rPr>
              <a:t>Lancer la collecte dès le premier jour</a:t>
            </a:r>
            <a:endParaRPr lang="en-US"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Un budget étudiant sous contrôle</a:t>
            </a:r>
            <a:endParaRPr lang="en-US" sz="3400" dirty="0"/>
          </a:p>
        </p:txBody>
      </p:sp>
      <p:sp>
        <p:nvSpPr>
          <p:cNvPr id="3" name="Text 1"/>
          <p:cNvSpPr txBox="1"/>
          <p:nvPr/>
        </p:nvSpPr>
        <p:spPr>
          <a:xfrm>
            <a:off x="548640" y="1371600"/>
            <a:ext cx="11094415" cy="411480"/>
          </a:xfrm>
          <a:prstGeom prst="rect">
            <a:avLst/>
          </a:prstGeom>
          <a:noFill/>
          <a:ln/>
        </p:spPr>
        <p:txBody>
          <a:bodyPr wrap="square" lIns="0" tIns="0" rIns="0" bIns="0" rtlCol="0" anchor="t"/>
          <a:lstStyle/>
          <a:p>
            <a:pPr indent="0" marL="0">
              <a:buNone/>
            </a:pPr>
            <a:r>
              <a:rPr lang="en-US" sz="1800" dirty="0">
                <a:solidFill>
                  <a:schemeClr val="tx2"/>
                </a:solidFill>
              </a:rPr>
              <a:t>Le stockage est quasi gratuit à ce volume : le vrai risque est un service de calcul laissé allumé.</a:t>
            </a:r>
            <a:endParaRPr lang="en-US" sz="1800" dirty="0"/>
          </a:p>
        </p:txBody>
      </p:sp>
      <p:sp>
        <p:nvSpPr>
          <p:cNvPr id="4" name="Jauge crédit"/>
          <p:cNvSpPr/>
          <p:nvPr/>
        </p:nvSpPr>
        <p:spPr>
          <a:xfrm>
            <a:off x="548640" y="2743200"/>
            <a:ext cx="11094415" cy="502920"/>
          </a:xfrm>
          <a:prstGeom prst="rect">
            <a:avLst/>
          </a:prstGeom>
          <a:solidFill>
            <a:schemeClr val="bg2"/>
          </a:solidFill>
          <a:ln/>
        </p:spPr>
      </p:sp>
      <p:sp>
        <p:nvSpPr>
          <p:cNvPr id="5" name="Estimation 5-15 $"/>
          <p:cNvSpPr/>
          <p:nvPr/>
        </p:nvSpPr>
        <p:spPr>
          <a:xfrm>
            <a:off x="1103361" y="2743200"/>
            <a:ext cx="1109442" cy="502920"/>
          </a:xfrm>
          <a:prstGeom prst="rect">
            <a:avLst/>
          </a:prstGeom>
          <a:solidFill>
            <a:schemeClr val="accent1"/>
          </a:solidFill>
          <a:ln/>
        </p:spPr>
      </p:sp>
      <p:sp>
        <p:nvSpPr>
          <p:cNvPr id="6" name="Text 4"/>
          <p:cNvSpPr txBox="1"/>
          <p:nvPr/>
        </p:nvSpPr>
        <p:spPr>
          <a:xfrm>
            <a:off x="1103361" y="2240280"/>
            <a:ext cx="4114800" cy="365760"/>
          </a:xfrm>
          <a:prstGeom prst="rect">
            <a:avLst/>
          </a:prstGeom>
          <a:noFill/>
          <a:ln/>
        </p:spPr>
        <p:txBody>
          <a:bodyPr wrap="square" lIns="0" tIns="0" rIns="0" bIns="0" rtlCol="0" anchor="t"/>
          <a:lstStyle/>
          <a:p>
            <a:pPr indent="0" marL="0">
              <a:buNone/>
            </a:pPr>
            <a:r>
              <a:rPr lang="en-US" sz="1600" b="1" dirty="0">
                <a:solidFill>
                  <a:schemeClr val="accent1"/>
                </a:solidFill>
              </a:rPr>
              <a:t>Estimation : 5 à 15 $</a:t>
            </a:r>
            <a:pPr indent="0" marL="0">
              <a:buNone/>
            </a:pPr>
            <a:r>
              <a:rPr lang="en-US" sz="1600" dirty="0">
                <a:solidFill>
                  <a:schemeClr val="tx2"/>
                </a:solidFill>
              </a:rPr>
              <a:t> sur la semaine</a:t>
            </a:r>
            <a:endParaRPr lang="en-US" sz="1600" dirty="0"/>
          </a:p>
        </p:txBody>
      </p:sp>
      <p:sp>
        <p:nvSpPr>
          <p:cNvPr id="7" name="Seuil 20"/>
          <p:cNvSpPr/>
          <p:nvPr/>
        </p:nvSpPr>
        <p:spPr>
          <a:xfrm>
            <a:off x="2767523" y="2606040"/>
            <a:ext cx="0" cy="777240"/>
          </a:xfrm>
          <a:prstGeom prst="line">
            <a:avLst/>
          </a:prstGeom>
          <a:noFill/>
          <a:ln w="31750">
            <a:solidFill>
              <a:schemeClr val="accent3"/>
            </a:solidFill>
            <a:prstDash val="solid"/>
          </a:ln>
        </p:spPr>
      </p:sp>
      <p:sp>
        <p:nvSpPr>
          <p:cNvPr id="8" name="Text 6"/>
          <p:cNvSpPr txBox="1"/>
          <p:nvPr/>
        </p:nvSpPr>
        <p:spPr>
          <a:xfrm>
            <a:off x="2036003" y="3447288"/>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Alerte 20 $</a:t>
            </a:r>
            <a:endParaRPr lang="en-US" sz="1400" dirty="0"/>
          </a:p>
        </p:txBody>
      </p:sp>
      <p:sp>
        <p:nvSpPr>
          <p:cNvPr id="9" name="Seuil 50"/>
          <p:cNvSpPr/>
          <p:nvPr/>
        </p:nvSpPr>
        <p:spPr>
          <a:xfrm>
            <a:off x="6095848" y="2606040"/>
            <a:ext cx="0" cy="777240"/>
          </a:xfrm>
          <a:prstGeom prst="line">
            <a:avLst/>
          </a:prstGeom>
          <a:noFill/>
          <a:ln w="31750">
            <a:solidFill>
              <a:schemeClr val="accent3"/>
            </a:solidFill>
            <a:prstDash val="solid"/>
          </a:ln>
        </p:spPr>
      </p:sp>
      <p:sp>
        <p:nvSpPr>
          <p:cNvPr id="10" name="Text 8"/>
          <p:cNvSpPr txBox="1"/>
          <p:nvPr/>
        </p:nvSpPr>
        <p:spPr>
          <a:xfrm>
            <a:off x="5364328" y="3447288"/>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Alerte 50 $</a:t>
            </a:r>
            <a:endParaRPr lang="en-US" sz="1400" dirty="0"/>
          </a:p>
        </p:txBody>
      </p:sp>
      <p:sp>
        <p:nvSpPr>
          <p:cNvPr id="11" name="Seuil 80"/>
          <p:cNvSpPr/>
          <p:nvPr/>
        </p:nvSpPr>
        <p:spPr>
          <a:xfrm>
            <a:off x="9424172" y="2606040"/>
            <a:ext cx="0" cy="777240"/>
          </a:xfrm>
          <a:prstGeom prst="line">
            <a:avLst/>
          </a:prstGeom>
          <a:noFill/>
          <a:ln w="31750">
            <a:solidFill>
              <a:schemeClr val="accent3"/>
            </a:solidFill>
            <a:prstDash val="solid"/>
          </a:ln>
        </p:spPr>
      </p:sp>
      <p:sp>
        <p:nvSpPr>
          <p:cNvPr id="12" name="Text 10"/>
          <p:cNvSpPr txBox="1"/>
          <p:nvPr/>
        </p:nvSpPr>
        <p:spPr>
          <a:xfrm>
            <a:off x="8692652" y="3447288"/>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Alerte 80 $</a:t>
            </a:r>
            <a:endParaRPr lang="en-US" sz="1400" dirty="0"/>
          </a:p>
        </p:txBody>
      </p:sp>
      <p:sp>
        <p:nvSpPr>
          <p:cNvPr id="13" name="Text 11"/>
          <p:cNvSpPr txBox="1"/>
          <p:nvPr/>
        </p:nvSpPr>
        <p:spPr>
          <a:xfrm>
            <a:off x="548640" y="3447288"/>
            <a:ext cx="731520" cy="320040"/>
          </a:xfrm>
          <a:prstGeom prst="rect">
            <a:avLst/>
          </a:prstGeom>
          <a:noFill/>
          <a:ln/>
        </p:spPr>
        <p:txBody>
          <a:bodyPr wrap="square" lIns="0" tIns="0" rIns="0" bIns="0" rtlCol="0" anchor="t"/>
          <a:lstStyle/>
          <a:p>
            <a:pPr indent="0" marL="0">
              <a:buNone/>
            </a:pPr>
            <a:r>
              <a:rPr lang="en-US" sz="1400" dirty="0">
                <a:solidFill>
                  <a:schemeClr val="tx2"/>
                </a:solidFill>
              </a:rPr>
              <a:t>0 $</a:t>
            </a:r>
            <a:endParaRPr lang="en-US" sz="1400" dirty="0"/>
          </a:p>
        </p:txBody>
      </p:sp>
      <p:sp>
        <p:nvSpPr>
          <p:cNvPr id="14" name="Text 12"/>
          <p:cNvSpPr txBox="1"/>
          <p:nvPr/>
        </p:nvSpPr>
        <p:spPr>
          <a:xfrm>
            <a:off x="9814255" y="3447288"/>
            <a:ext cx="1828800" cy="320040"/>
          </a:xfrm>
          <a:prstGeom prst="rect">
            <a:avLst/>
          </a:prstGeom>
          <a:noFill/>
          <a:ln/>
        </p:spPr>
        <p:txBody>
          <a:bodyPr wrap="square" lIns="0" tIns="0" rIns="0" bIns="0" rtlCol="0" anchor="t"/>
          <a:lstStyle/>
          <a:p>
            <a:pPr algn="r" indent="0" marL="0">
              <a:buNone/>
            </a:pPr>
            <a:r>
              <a:rPr lang="en-US" sz="1400" b="1" dirty="0">
                <a:solidFill>
                  <a:schemeClr val="tx2"/>
                </a:solidFill>
              </a:rPr>
              <a:t>100 $ de crédit</a:t>
            </a:r>
            <a:endParaRPr lang="en-US" sz="1400" dirty="0"/>
          </a:p>
        </p:txBody>
      </p:sp>
      <p:sp>
        <p:nvSpPr>
          <p:cNvPr id="15" name="Parade coût 1"/>
          <p:cNvSpPr/>
          <p:nvPr/>
        </p:nvSpPr>
        <p:spPr>
          <a:xfrm>
            <a:off x="548640" y="4160520"/>
            <a:ext cx="3454298" cy="1600200"/>
          </a:xfrm>
          <a:prstGeom prst="roundRect">
            <a:avLst>
              <a:gd name="adj" fmla="val 5714"/>
            </a:avLst>
          </a:prstGeom>
          <a:solidFill>
            <a:schemeClr val="bg2"/>
          </a:solidFill>
          <a:ln/>
        </p:spPr>
      </p:sp>
      <p:sp>
        <p:nvSpPr>
          <p:cNvPr id="16" name="Icône Pas de cluster permanent"/>
          <p:cNvSpPr/>
          <p:nvPr/>
        </p:nvSpPr>
        <p:spPr>
          <a:xfrm>
            <a:off x="822960" y="4617720"/>
            <a:ext cx="685800" cy="685800"/>
          </a:xfrm>
          <a:prstGeom prst="ellipse">
            <a:avLst/>
          </a:prstGeom>
          <a:solidFill>
            <a:schemeClr val="accent4"/>
          </a:solidFill>
          <a:ln/>
        </p:spPr>
      </p:sp>
      <p:pic>
        <p:nvPicPr>
          <p:cNvPr id="17" name="Image 0" descr="preencoded.png">    </p:cNvPr>
          <p:cNvPicPr>
            <a:picLocks noChangeAspect="1"/>
          </p:cNvPicPr>
          <p:nvPr/>
        </p:nvPicPr>
        <p:blipFill>
          <a:blip r:embed="rId1"/>
          <a:stretch>
            <a:fillRect/>
          </a:stretch>
        </p:blipFill>
        <p:spPr>
          <a:xfrm>
            <a:off x="994410" y="4789170"/>
            <a:ext cx="342900" cy="342900"/>
          </a:xfrm>
          <a:prstGeom prst="rect">
            <a:avLst/>
          </a:prstGeom>
        </p:spPr>
      </p:pic>
      <p:sp>
        <p:nvSpPr>
          <p:cNvPr id="18" name="Text 15"/>
          <p:cNvSpPr txBox="1"/>
          <p:nvPr/>
        </p:nvSpPr>
        <p:spPr>
          <a:xfrm>
            <a:off x="1691640" y="4315968"/>
            <a:ext cx="2128418" cy="566928"/>
          </a:xfrm>
          <a:prstGeom prst="rect">
            <a:avLst/>
          </a:prstGeom>
          <a:noFill/>
          <a:ln/>
        </p:spPr>
        <p:txBody>
          <a:bodyPr wrap="square" lIns="0" tIns="0" rIns="0" bIns="0" rtlCol="0" anchor="b"/>
          <a:lstStyle/>
          <a:p>
            <a:pPr indent="0" marL="0">
              <a:buNone/>
            </a:pPr>
            <a:r>
              <a:rPr lang="en-US" sz="1600" b="1" dirty="0">
                <a:solidFill>
                  <a:schemeClr val="tx1"/>
                </a:solidFill>
                <a:latin typeface="+mj-lt" pitchFamily="34" charset="0"/>
                <a:ea typeface="+mj-lt" pitchFamily="34" charset="-122"/>
                <a:cs typeface="+mj-lt" pitchFamily="34" charset="-120"/>
              </a:rPr>
              <a:t>Pas de cluster permanent</a:t>
            </a:r>
            <a:endParaRPr lang="en-US" sz="1600" dirty="0"/>
          </a:p>
        </p:txBody>
      </p:sp>
      <p:sp>
        <p:nvSpPr>
          <p:cNvPr id="19" name="Text 16"/>
          <p:cNvSpPr txBox="1"/>
          <p:nvPr/>
        </p:nvSpPr>
        <p:spPr>
          <a:xfrm>
            <a:off x="1691640" y="4956048"/>
            <a:ext cx="2128418" cy="640080"/>
          </a:xfrm>
          <a:prstGeom prst="rect">
            <a:avLst/>
          </a:prstGeom>
          <a:noFill/>
          <a:ln/>
        </p:spPr>
        <p:txBody>
          <a:bodyPr wrap="square" lIns="0" tIns="0" rIns="0" bIns="0" rtlCol="0" anchor="t"/>
          <a:lstStyle/>
          <a:p>
            <a:pPr indent="0" marL="0">
              <a:buNone/>
            </a:pPr>
            <a:r>
              <a:rPr lang="en-US" sz="1400" dirty="0">
                <a:solidFill>
                  <a:schemeClr val="tx2"/>
                </a:solidFill>
              </a:rPr>
              <a:t>Le calcul ne tourne qu’à la demande</a:t>
            </a:r>
            <a:endParaRPr lang="en-US" sz="1400" dirty="0"/>
          </a:p>
        </p:txBody>
      </p:sp>
      <p:sp>
        <p:nvSpPr>
          <p:cNvPr id="20" name="Parade coût 2"/>
          <p:cNvSpPr/>
          <p:nvPr/>
        </p:nvSpPr>
        <p:spPr>
          <a:xfrm>
            <a:off x="4368698" y="4160520"/>
            <a:ext cx="3454298" cy="1600200"/>
          </a:xfrm>
          <a:prstGeom prst="roundRect">
            <a:avLst>
              <a:gd name="adj" fmla="val 5714"/>
            </a:avLst>
          </a:prstGeom>
          <a:solidFill>
            <a:schemeClr val="bg2"/>
          </a:solidFill>
          <a:ln/>
        </p:spPr>
      </p:sp>
      <p:sp>
        <p:nvSpPr>
          <p:cNvPr id="21" name="Icône Alertes de budget"/>
          <p:cNvSpPr/>
          <p:nvPr/>
        </p:nvSpPr>
        <p:spPr>
          <a:xfrm>
            <a:off x="4643018" y="4617720"/>
            <a:ext cx="685800" cy="685800"/>
          </a:xfrm>
          <a:prstGeom prst="ellipse">
            <a:avLst/>
          </a:prstGeom>
          <a:solidFill>
            <a:schemeClr val="accent3"/>
          </a:solidFill>
          <a:ln/>
        </p:spPr>
      </p:sp>
      <p:pic>
        <p:nvPicPr>
          <p:cNvPr id="22" name="Image 1" descr="preencoded.png">    </p:cNvPr>
          <p:cNvPicPr>
            <a:picLocks noChangeAspect="1"/>
          </p:cNvPicPr>
          <p:nvPr/>
        </p:nvPicPr>
        <p:blipFill>
          <a:blip r:embed="rId2"/>
          <a:stretch>
            <a:fillRect/>
          </a:stretch>
        </p:blipFill>
        <p:spPr>
          <a:xfrm>
            <a:off x="4814468" y="4789170"/>
            <a:ext cx="342900" cy="342900"/>
          </a:xfrm>
          <a:prstGeom prst="rect">
            <a:avLst/>
          </a:prstGeom>
        </p:spPr>
      </p:pic>
      <p:sp>
        <p:nvSpPr>
          <p:cNvPr id="23" name="Text 19"/>
          <p:cNvSpPr txBox="1"/>
          <p:nvPr/>
        </p:nvSpPr>
        <p:spPr>
          <a:xfrm>
            <a:off x="5511698" y="4315968"/>
            <a:ext cx="2128418" cy="566928"/>
          </a:xfrm>
          <a:prstGeom prst="rect">
            <a:avLst/>
          </a:prstGeom>
          <a:noFill/>
          <a:ln/>
        </p:spPr>
        <p:txBody>
          <a:bodyPr wrap="square" lIns="0" tIns="0" rIns="0" bIns="0" rtlCol="0" anchor="b"/>
          <a:lstStyle/>
          <a:p>
            <a:pPr indent="0" marL="0">
              <a:buNone/>
            </a:pPr>
            <a:r>
              <a:rPr lang="en-US" sz="1600" b="1" dirty="0">
                <a:solidFill>
                  <a:schemeClr val="tx1"/>
                </a:solidFill>
                <a:latin typeface="+mj-lt" pitchFamily="34" charset="0"/>
                <a:ea typeface="+mj-lt" pitchFamily="34" charset="-122"/>
                <a:cs typeface="+mj-lt" pitchFamily="34" charset="-120"/>
              </a:rPr>
              <a:t>Alertes de budget</a:t>
            </a:r>
            <a:endParaRPr lang="en-US" sz="1600" dirty="0"/>
          </a:p>
        </p:txBody>
      </p:sp>
      <p:sp>
        <p:nvSpPr>
          <p:cNvPr id="24" name="Text 20"/>
          <p:cNvSpPr txBox="1"/>
          <p:nvPr/>
        </p:nvSpPr>
        <p:spPr>
          <a:xfrm>
            <a:off x="5511698" y="4956048"/>
            <a:ext cx="2128418" cy="640080"/>
          </a:xfrm>
          <a:prstGeom prst="rect">
            <a:avLst/>
          </a:prstGeom>
          <a:noFill/>
          <a:ln/>
        </p:spPr>
        <p:txBody>
          <a:bodyPr wrap="square" lIns="0" tIns="0" rIns="0" bIns="0" rtlCol="0" anchor="t"/>
          <a:lstStyle/>
          <a:p>
            <a:pPr indent="0" marL="0">
              <a:buNone/>
            </a:pPr>
            <a:r>
              <a:rPr lang="en-US" sz="1400" dirty="0">
                <a:solidFill>
                  <a:schemeClr val="tx2"/>
                </a:solidFill>
              </a:rPr>
              <a:t>Seuils à 20 $, 50 $ et 80 $</a:t>
            </a:r>
            <a:endParaRPr lang="en-US" sz="1400" dirty="0"/>
          </a:p>
        </p:txBody>
      </p:sp>
      <p:sp>
        <p:nvSpPr>
          <p:cNvPr id="25" name="Parade coût 3"/>
          <p:cNvSpPr/>
          <p:nvPr/>
        </p:nvSpPr>
        <p:spPr>
          <a:xfrm>
            <a:off x="8188757" y="4160520"/>
            <a:ext cx="3454298" cy="1600200"/>
          </a:xfrm>
          <a:prstGeom prst="roundRect">
            <a:avLst>
              <a:gd name="adj" fmla="val 5714"/>
            </a:avLst>
          </a:prstGeom>
          <a:solidFill>
            <a:schemeClr val="bg2"/>
          </a:solidFill>
          <a:ln/>
        </p:spPr>
      </p:sp>
      <p:sp>
        <p:nvSpPr>
          <p:cNvPr id="26" name="Icône Un seul groupe de ressources"/>
          <p:cNvSpPr/>
          <p:nvPr/>
        </p:nvSpPr>
        <p:spPr>
          <a:xfrm>
            <a:off x="8463077" y="4617720"/>
            <a:ext cx="685800" cy="685800"/>
          </a:xfrm>
          <a:prstGeom prst="ellipse">
            <a:avLst/>
          </a:prstGeom>
          <a:solidFill>
            <a:schemeClr val="accent2"/>
          </a:solidFill>
          <a:ln/>
        </p:spPr>
      </p:sp>
      <p:pic>
        <p:nvPicPr>
          <p:cNvPr id="27" name="Image 2" descr="preencoded.png">    </p:cNvPr>
          <p:cNvPicPr>
            <a:picLocks noChangeAspect="1"/>
          </p:cNvPicPr>
          <p:nvPr/>
        </p:nvPicPr>
        <p:blipFill>
          <a:blip r:embed="rId3"/>
          <a:stretch>
            <a:fillRect/>
          </a:stretch>
        </p:blipFill>
        <p:spPr>
          <a:xfrm>
            <a:off x="8634527" y="4789170"/>
            <a:ext cx="342900" cy="342900"/>
          </a:xfrm>
          <a:prstGeom prst="rect">
            <a:avLst/>
          </a:prstGeom>
        </p:spPr>
      </p:pic>
      <p:sp>
        <p:nvSpPr>
          <p:cNvPr id="28" name="Text 23"/>
          <p:cNvSpPr txBox="1"/>
          <p:nvPr/>
        </p:nvSpPr>
        <p:spPr>
          <a:xfrm>
            <a:off x="9331757" y="4315968"/>
            <a:ext cx="2128418" cy="566928"/>
          </a:xfrm>
          <a:prstGeom prst="rect">
            <a:avLst/>
          </a:prstGeom>
          <a:noFill/>
          <a:ln/>
        </p:spPr>
        <p:txBody>
          <a:bodyPr wrap="square" lIns="0" tIns="0" rIns="0" bIns="0" rtlCol="0" anchor="b"/>
          <a:lstStyle/>
          <a:p>
            <a:pPr indent="0" marL="0">
              <a:buNone/>
            </a:pPr>
            <a:r>
              <a:rPr lang="en-US" sz="1600" b="1" dirty="0">
                <a:solidFill>
                  <a:schemeClr val="tx1"/>
                </a:solidFill>
                <a:latin typeface="+mj-lt" pitchFamily="34" charset="0"/>
                <a:ea typeface="+mj-lt" pitchFamily="34" charset="-122"/>
                <a:cs typeface="+mj-lt" pitchFamily="34" charset="-120"/>
              </a:rPr>
              <a:t>Un seul groupe de ressources</a:t>
            </a:r>
            <a:endParaRPr lang="en-US" sz="1600" dirty="0"/>
          </a:p>
        </p:txBody>
      </p:sp>
      <p:sp>
        <p:nvSpPr>
          <p:cNvPr id="29" name="Text 24"/>
          <p:cNvSpPr txBox="1"/>
          <p:nvPr/>
        </p:nvSpPr>
        <p:spPr>
          <a:xfrm>
            <a:off x="9331757" y="4956048"/>
            <a:ext cx="2128418" cy="640080"/>
          </a:xfrm>
          <a:prstGeom prst="rect">
            <a:avLst/>
          </a:prstGeom>
          <a:noFill/>
          <a:ln/>
        </p:spPr>
        <p:txBody>
          <a:bodyPr wrap="square" lIns="0" tIns="0" rIns="0" bIns="0" rtlCol="0" anchor="t"/>
          <a:lstStyle/>
          <a:p>
            <a:pPr indent="0" marL="0">
              <a:buNone/>
            </a:pPr>
            <a:r>
              <a:rPr lang="en-US" sz="1400" dirty="0">
                <a:solidFill>
                  <a:schemeClr val="tx2"/>
                </a:solidFill>
              </a:rPr>
              <a:t>Supprimé d’un coup en fin de projet</a:t>
            </a:r>
            <a:endParaRPr lang="en-US" sz="1400" dirty="0"/>
          </a:p>
        </p:txBody>
      </p:sp>
      <p:sp>
        <p:nvSpPr>
          <p:cNvPr id="30" name="Text 25"/>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100" i="1" dirty="0">
                <a:solidFill>
                  <a:schemeClr val="tx2"/>
                </a:solidFill>
              </a:rPr>
              <a:t>Estimation à confirmer avec le calculateur de prix Azure.</a:t>
            </a:r>
            <a:endParaRPr lang="en-US" sz="11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bg1"/>
                </a:solidFill>
              </a:rPr>
              <a:t>Prochaine étape : valider le cadrage</a:t>
            </a:r>
            <a:endParaRPr lang="en-US" sz="3400" dirty="0"/>
          </a:p>
        </p:txBody>
      </p:sp>
      <p:sp>
        <p:nvSpPr>
          <p:cNvPr id="3" name="Text 1"/>
          <p:cNvSpPr txBox="1"/>
          <p:nvPr/>
        </p:nvSpPr>
        <p:spPr>
          <a:xfrm>
            <a:off x="548640" y="1783080"/>
            <a:ext cx="5669280" cy="118872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1 519 / 1 519</a:t>
            </a:r>
            <a:endParaRPr lang="en-US" sz="6600" dirty="0"/>
          </a:p>
        </p:txBody>
      </p:sp>
      <p:sp>
        <p:nvSpPr>
          <p:cNvPr id="4" name="Text 2"/>
          <p:cNvSpPr txBox="1"/>
          <p:nvPr/>
        </p:nvSpPr>
        <p:spPr>
          <a:xfrm>
            <a:off x="548640" y="3017520"/>
            <a:ext cx="5120640" cy="731520"/>
          </a:xfrm>
          <a:prstGeom prst="rect">
            <a:avLst/>
          </a:prstGeom>
          <a:noFill/>
          <a:ln/>
        </p:spPr>
        <p:txBody>
          <a:bodyPr wrap="square" lIns="0" tIns="0" rIns="0" bIns="0" rtlCol="0" anchor="t"/>
          <a:lstStyle/>
          <a:p>
            <a:pPr indent="0" marL="0">
              <a:buNone/>
            </a:pPr>
            <a:r>
              <a:rPr lang="en-US" sz="2000" dirty="0">
                <a:solidFill>
                  <a:schemeClr val="bg1"/>
                </a:solidFill>
              </a:rPr>
              <a:t>stations jointes entre Vélib’ et la météo lors des tests du 5 octobre 2026</a:t>
            </a:r>
            <a:endParaRPr lang="en-US" sz="2000" dirty="0"/>
          </a:p>
        </p:txBody>
      </p:sp>
      <p:sp>
        <p:nvSpPr>
          <p:cNvPr id="5" name="Text 3"/>
          <p:cNvSpPr txBox="1"/>
          <p:nvPr/>
        </p:nvSpPr>
        <p:spPr>
          <a:xfrm>
            <a:off x="548640" y="3931920"/>
            <a:ext cx="5120640" cy="731520"/>
          </a:xfrm>
          <a:prstGeom prst="rect">
            <a:avLst/>
          </a:prstGeom>
          <a:noFill/>
          <a:ln/>
        </p:spPr>
        <p:txBody>
          <a:bodyPr wrap="square" lIns="0" tIns="0" rIns="0" bIns="0" rtlCol="0" anchor="t"/>
          <a:lstStyle/>
          <a:p>
            <a:pPr indent="0" marL="0">
              <a:buNone/>
            </a:pPr>
            <a:r>
              <a:rPr lang="en-US" sz="1600" dirty="0">
                <a:solidFill>
                  <a:schemeClr val="bg2"/>
                </a:solidFill>
              </a:rPr>
              <a:t>Accès, format et jointure des sources vérifiés : le sujet est faisable.</a:t>
            </a:r>
            <a:endParaRPr lang="en-US" sz="1600" dirty="0"/>
          </a:p>
        </p:txBody>
      </p:sp>
      <p:sp>
        <p:nvSpPr>
          <p:cNvPr id="6" name="Étape 1"/>
          <p:cNvSpPr/>
          <p:nvPr/>
        </p:nvSpPr>
        <p:spPr>
          <a:xfrm>
            <a:off x="6675120" y="1783080"/>
            <a:ext cx="731520" cy="731520"/>
          </a:xfrm>
          <a:prstGeom prst="ellipse">
            <a:avLst/>
          </a:prstGeom>
          <a:solidFill>
            <a:schemeClr val="accent1"/>
          </a:solidFill>
          <a:ln/>
        </p:spPr>
      </p:sp>
      <p:sp>
        <p:nvSpPr>
          <p:cNvPr id="7" name="Text 5"/>
          <p:cNvSpPr txBox="1"/>
          <p:nvPr/>
        </p:nvSpPr>
        <p:spPr>
          <a:xfrm>
            <a:off x="6675120" y="17830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1</a:t>
            </a:r>
            <a:endParaRPr lang="en-US" sz="2600" dirty="0"/>
          </a:p>
        </p:txBody>
      </p:sp>
      <p:sp>
        <p:nvSpPr>
          <p:cNvPr id="8" name="Text 6"/>
          <p:cNvSpPr txBox="1"/>
          <p:nvPr/>
        </p:nvSpPr>
        <p:spPr>
          <a:xfrm>
            <a:off x="7635240" y="1764792"/>
            <a:ext cx="4007815" cy="41148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Valider la fiche de cadrage</a:t>
            </a:r>
            <a:endParaRPr lang="en-US" sz="2000" dirty="0"/>
          </a:p>
        </p:txBody>
      </p:sp>
      <p:sp>
        <p:nvSpPr>
          <p:cNvPr id="9" name="Text 7"/>
          <p:cNvSpPr txBox="1"/>
          <p:nvPr/>
        </p:nvSpPr>
        <p:spPr>
          <a:xfrm>
            <a:off x="7635240" y="2194560"/>
            <a:ext cx="4007815" cy="365760"/>
          </a:xfrm>
          <a:prstGeom prst="rect">
            <a:avLst/>
          </a:prstGeom>
          <a:noFill/>
          <a:ln/>
        </p:spPr>
        <p:txBody>
          <a:bodyPr wrap="square" lIns="0" tIns="0" rIns="0" bIns="0" rtlCol="0" anchor="t"/>
          <a:lstStyle/>
          <a:p>
            <a:pPr indent="0" marL="0">
              <a:buNone/>
            </a:pPr>
            <a:r>
              <a:rPr lang="en-US" sz="1500" dirty="0">
                <a:solidFill>
                  <a:schemeClr val="bg2"/>
                </a:solidFill>
              </a:rPr>
              <a:t>Avant de construire quoi que ce soit</a:t>
            </a:r>
            <a:endParaRPr lang="en-US" sz="1500" dirty="0"/>
          </a:p>
        </p:txBody>
      </p:sp>
      <p:sp>
        <p:nvSpPr>
          <p:cNvPr id="10" name="Étape 2"/>
          <p:cNvSpPr/>
          <p:nvPr/>
        </p:nvSpPr>
        <p:spPr>
          <a:xfrm>
            <a:off x="6675120" y="3108960"/>
            <a:ext cx="731520" cy="731520"/>
          </a:xfrm>
          <a:prstGeom prst="ellipse">
            <a:avLst/>
          </a:prstGeom>
          <a:solidFill>
            <a:schemeClr val="accent1"/>
          </a:solidFill>
          <a:ln/>
        </p:spPr>
      </p:sp>
      <p:sp>
        <p:nvSpPr>
          <p:cNvPr id="11" name="Text 9"/>
          <p:cNvSpPr txBox="1"/>
          <p:nvPr/>
        </p:nvSpPr>
        <p:spPr>
          <a:xfrm>
            <a:off x="6675120" y="31089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2</a:t>
            </a:r>
            <a:endParaRPr lang="en-US" sz="2600" dirty="0"/>
          </a:p>
        </p:txBody>
      </p:sp>
      <p:sp>
        <p:nvSpPr>
          <p:cNvPr id="12" name="Text 10"/>
          <p:cNvSpPr txBox="1"/>
          <p:nvPr/>
        </p:nvSpPr>
        <p:spPr>
          <a:xfrm>
            <a:off x="7635240" y="3090672"/>
            <a:ext cx="4007815" cy="41148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Lancer la collecte dès le jour 1</a:t>
            </a:r>
            <a:endParaRPr lang="en-US" sz="2000" dirty="0"/>
          </a:p>
        </p:txBody>
      </p:sp>
      <p:sp>
        <p:nvSpPr>
          <p:cNvPr id="13" name="Text 11"/>
          <p:cNvSpPr txBox="1"/>
          <p:nvPr/>
        </p:nvSpPr>
        <p:spPr>
          <a:xfrm>
            <a:off x="7635240" y="3520440"/>
            <a:ext cx="4007815" cy="365760"/>
          </a:xfrm>
          <a:prstGeom prst="rect">
            <a:avLst/>
          </a:prstGeom>
          <a:noFill/>
          <a:ln/>
        </p:spPr>
        <p:txBody>
          <a:bodyPr wrap="square" lIns="0" tIns="0" rIns="0" bIns="0" rtlCol="0" anchor="t"/>
          <a:lstStyle/>
          <a:p>
            <a:pPr indent="0" marL="0">
              <a:buNone/>
            </a:pPr>
            <a:r>
              <a:rPr lang="en-US" sz="1500" dirty="0">
                <a:solidFill>
                  <a:schemeClr val="bg2"/>
                </a:solidFill>
              </a:rPr>
              <a:t>L’historique Vélib’ ne se rattrape pas</a:t>
            </a:r>
            <a:endParaRPr lang="en-US" sz="1500" dirty="0"/>
          </a:p>
        </p:txBody>
      </p:sp>
      <p:sp>
        <p:nvSpPr>
          <p:cNvPr id="14" name="Étape 3"/>
          <p:cNvSpPr/>
          <p:nvPr/>
        </p:nvSpPr>
        <p:spPr>
          <a:xfrm>
            <a:off x="6675120" y="4434840"/>
            <a:ext cx="731520" cy="731520"/>
          </a:xfrm>
          <a:prstGeom prst="ellipse">
            <a:avLst/>
          </a:prstGeom>
          <a:solidFill>
            <a:schemeClr val="accent1"/>
          </a:solidFill>
          <a:ln/>
        </p:spPr>
      </p:sp>
      <p:sp>
        <p:nvSpPr>
          <p:cNvPr id="15" name="Text 13"/>
          <p:cNvSpPr txBox="1"/>
          <p:nvPr/>
        </p:nvSpPr>
        <p:spPr>
          <a:xfrm>
            <a:off x="6675120" y="4434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3</a:t>
            </a:r>
            <a:endParaRPr lang="en-US" sz="2600" dirty="0"/>
          </a:p>
        </p:txBody>
      </p:sp>
      <p:sp>
        <p:nvSpPr>
          <p:cNvPr id="16" name="Text 14"/>
          <p:cNvSpPr txBox="1"/>
          <p:nvPr/>
        </p:nvSpPr>
        <p:spPr>
          <a:xfrm>
            <a:off x="7635240" y="4416552"/>
            <a:ext cx="4007815" cy="41148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Construire Bronze, Silver, Gold</a:t>
            </a:r>
            <a:endParaRPr lang="en-US" sz="2000" dirty="0"/>
          </a:p>
        </p:txBody>
      </p:sp>
      <p:sp>
        <p:nvSpPr>
          <p:cNvPr id="17" name="Text 15"/>
          <p:cNvSpPr txBox="1"/>
          <p:nvPr/>
        </p:nvSpPr>
        <p:spPr>
          <a:xfrm>
            <a:off x="7635240" y="4846320"/>
            <a:ext cx="4007815" cy="365760"/>
          </a:xfrm>
          <a:prstGeom prst="rect">
            <a:avLst/>
          </a:prstGeom>
          <a:noFill/>
          <a:ln/>
        </p:spPr>
        <p:txBody>
          <a:bodyPr wrap="square" lIns="0" tIns="0" rIns="0" bIns="0" rtlCol="0" anchor="t"/>
          <a:lstStyle/>
          <a:p>
            <a:pPr indent="0" marL="0">
              <a:buNone/>
            </a:pPr>
            <a:r>
              <a:rPr lang="en-US" sz="1500" dirty="0">
                <a:solidFill>
                  <a:schemeClr val="bg2"/>
                </a:solidFill>
              </a:rPr>
              <a:t>Puis le tableau de bord Power BI</a:t>
            </a:r>
            <a:endParaRPr lang="en-US"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Velib Meteo">
  <a:themeElements>
    <a:clrScheme name="Velib Meteo">
      <a:dk1>
        <a:srgbClr val="102A2C"/>
      </a:dk1>
      <a:lt1>
        <a:srgbClr val="FFFFFF"/>
      </a:lt1>
      <a:dk2>
        <a:srgbClr val="1F4E4A"/>
      </a:dk2>
      <a:lt2>
        <a:srgbClr val="EDF4F1"/>
      </a:lt2>
      <a:accent1>
        <a:srgbClr val="1E9E6E"/>
      </a:accent1>
      <a:accent2>
        <a:srgbClr val="2F78C4"/>
      </a:accent2>
      <a:accent3>
        <a:srgbClr val="D9A23A"/>
      </a:accent3>
      <a:accent4>
        <a:srgbClr val="D2504A"/>
      </a:accent4>
      <a:accent5>
        <a:srgbClr val="B5743C"/>
      </a:accent5>
      <a:accent6>
        <a:srgbClr val="8C9AA0"/>
      </a:accent6>
      <a:hlink>
        <a:srgbClr val="2F78C4"/>
      </a:hlink>
      <a:folHlink>
        <a:srgbClr val="1F4E4A"/>
      </a:folHlink>
    </a:clrScheme>
    <a:fontScheme name="Velib Mete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Pénuries et saturations des stations Vélib’ : le rôle de la météo</dc:title>
  <dc:subject>Fiche sujet – Datalake Azure (M2 Data)</dc:subject>
  <dc:creator>PptxGenJS</dc:creator>
  <cp:lastModifiedBy>PptxGenJS</cp:lastModifiedBy>
  <cp:revision>1</cp:revision>
  <dcterms:created xsi:type="dcterms:W3CDTF">2026-10-05T09:38:43Z</dcterms:created>
  <dcterms:modified xsi:type="dcterms:W3CDTF">2026-10-05T09:38:43Z</dcterms:modified>
</cp:coreProperties>
</file>