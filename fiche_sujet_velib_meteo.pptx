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jet" id="{f72c9146-0a95-e571-3573-b7d8fb3f4212}">
          <p14:sldIdLst>
            <p14:sldId id="256"/>
            <p14:sldId id="257"/>
            <p14:sldId id="258"/>
            <p14:sldId id="259"/>
          </p14:sldIdLst>
        </p14:section>
        <p14:section name="Sources" id="{7165d368-7c16-551a-d1b1-6d43f238e758}">
          <p14:sldIdLst>
            <p14:sldId id="260"/>
            <p14:sldId id="261"/>
          </p14:sldIdLst>
        </p14:section>
        <p14:section name="Architecture" id="{9eee607a-cf44-2444-824c-743150c1afdf}">
          <p14:sldIdLst>
            <p14:sldId id="262"/>
            <p14:sldId id="263"/>
            <p14:sldId id="264"/>
            <p14:sldId id="265"/>
          </p14:sldIdLst>
        </p14:section>
        <p14:section name="Analyse" id="{e962465b-73a5-15d1-92ac-6ffc65c924fd}">
          <p14:sldIdLst>
            <p14:sldId id="266"/>
            <p14:sldId id="267"/>
            <p14:sldId id="268"/>
          </p14:sldIdLst>
        </p14:section>
        <p14:section name="Risques" id="{197f8937-db9c-e601-3e1a-d505ec1a852e}">
          <p14:sldIdLst>
            <p14:sldId id="269"/>
            <p14:sldId id="270"/>
            <p14:sldId id="271"/>
            <p14:sldId id="272"/>
          </p14:sldIdLst>
        </p14:section>
        <p14:section name="Conclusion" id="{c0414531-ed12-a6a8-e183-50a88ff42f61}">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 sujet du projet Datalake Azure. Sujet : les pénuries (aucun vélo) et saturations (aucune borne libre) des stations Vélib’, expliquées par la météo et par les pannes de transport en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métier : quelles stations Vélib’ et quels créneaux horaires concentrent les pénuries et les saturations, et dans quelle mesure la pluie, la température et les pannes de transport en commun (métro, RER, tramway, bus) les expliquent-elles ? Utilité : aider l’exploitant à anticiper les besoins de rééquilibrage (camions de redistribution) en cas de perturbation, et informer les usagers des zones à risque.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Hypothèse testée : quand une ligne de transport en commun est perturbée, les usagers se reportent sur le Vélib’ et les stations proches de cette ligne connaissent plus de pénuries de vélos (au départ) et de saturations (à l’arrivée). Le projet vérifie si ce lien existe, sans prétendre le prouver.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 1 semaine de collecte (7 jours), Paris intra-muros et petite couronne (environ 1 500 stations), un appel toutes les 5 minutes. Volume total : environ 550 Mo par jour brut, environ 4 Go sur la semaine, beaucoup moins une fois compressé en Parquet.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Vélib’ station_status (JSON imbriqué, mis à jour chaque minute, collecte toutes les 5 min, environ 464 Ko par appel) ; station_information (quasi statique, 1 collecte par jour) ; Open-Meteo (horaire, 1 collecte par jour) ; API Info Trafic PRIM (messages de perturbation : lignes et arrêts touchés, période, gravité BLOQUANTE / PERTURBEE / INFORMATION, cause ; clé gratuite via l’en-tête apiKey ; quota de 1 000 appels par jour ; aucun historique, les perturbations terminées disparaissent du flux environ 1 h après ; environ 1,4 Mo par appel, 937 perturbations) ; référentiel arrets-lignes IDFM (35 536 arrêts, 2 026 lignes, licence ODbL, mis à jour chaque jour) ; calendrier des fériés et vacances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un datalake : Vélib’ ne conserve aucun historique, il faut le construire soi-même par collecte régulière. Il en va de même pour les perturbations de transport, qui disparaissent du flux environ 1 h après leur fin. Les données ont des formats et des rythmes différents, et le brut doit être conservé pour pouvoir rejouer les transformations.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 : Sources (appels HTTP publics, clé API pour PRIM) → Bronze (Azure Functions déclenchées toutes les 5 min pour Vélib’ et les perturbations, 1 fois par jour pour le reste, écriture dans ADLS Gen2) → Silver (Python pandas / DuckDB une fois par jour, Parquet) → Gold (agrégations Python, Parquet) → Power BI Desktop. Choix : stockage LRS, un seul groupe de ressources, pas de cluster permanent ; la clé API PRIM est stockée dans les paramètres sécurisés de l’Azure Function ou dans Azure Key Vault, jamais dans 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Silver : stations normalisées, horodatage corrigé, identifiant en bigint, jointure météo à l’heure de Paris ; perturbations mises à plat (une ligne par arrêt touché et par période, en retirant les préfixes line: et stop_point: pour la jointure) ; rattachement de chaque station aux arrêts touchés situés à moins de 300 m (jointure géographique sur une grille). Gold : taux de pénurie et de saturation par station et par heure, par arrondissement, par météo, et avec ou sans arrêt touché par une perturbation à proximité.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collecte Bronze. Vélib’ station_status : toutes les 5 min (Azure Function à déclencheur Timer), 288 appels par jour, contrôles : code HTTP 200, environ 1 519 stations, lastUpdatedOther relevé dans le manifeste. PRIM perturbations : toutes les 5 min, 288 appels par jour sur un quota de 1 000, contrôles : code HTTP 200, nombre de perturbations relevé, clé jamais écrite dans le manifeste. station_information, Open-Meteo et référentiel IDFM : 1 fois par jour, contrôles : taille, sha256, variation du nombre de stations ou d’arrêts d’un jour à l’autre.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Manifeste : un petit fichier .manifest.json est écrit à côté de chaque fichier brut avec la source, l’URL (sans clé), l’heure de collecte en UTC, le code HTTP, la taille, l’empreinte sha256 et le nombre d’enregistrements. Erreurs : 3 nouvelles tentatives avec attente croissante ; en cas d’échec définitif, un manifeste « échec » est écrit pour tracer le trou dans les données, et une alerte est déclenchée après 3 échecs consécutifs. Calendrier : jour 1 déploiement et lancement ; jours 1 à 6 collecte continue, contrôle quotidien, Silver et Gold recalculés chaque jour ; jour 7 arrêt de la collecte, analyse finale et tableau de bord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de la fiche : taux de pénurie, taux de saturation, durée moyenne d’un épisode de pénurie, nombre de stations critiques par heure, écart de taux de pénurie entre les périodes avec et sans perturbation à proximité (en points de pourcentage), nombre et durée des perturbations par ligne. Les lignes en italique sont des propositions de calcul (sauf « en points de pourcentage », qui vient de la fiche) ; la durée d’une perturbation se mesure entre sa première et sa dernière apparition dans le flux archivé.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Segments : heure de la journée ; jour de la semaine et week-end / férié ; arrondissement ou zone ; météo (pluie ou non, tranches de température) ; type de vélo ; présence d’un arrêt touché par une perturbation à moins de 300 m (oui / non) et sa gravité ; type de ligne : analyse principale sur le métro, le RER et le tramway, bus en complément. La règle « comparer à heure et météo comparables » vient de la parade du risque « lien avec les pannes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Visualisations : carte des stations colorée par taux de pénurie ; heatmap heure × jour ; courbes de pénurie comparées par météo (pluie / sec) ; classement des 20 stations les plus critiques ; courbe chronologique superposant les perturbations et le taux de pénurie des stations voisines ; comparaison avec / sans perturbation par arrondissement. La recommandation est un exemple, à valider sur les données réellement collectées.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Risques qualité : last_reported mis à jour par lots avec environ 20 min de retard ; dates PRIM en heure de Paris sans fuseau, à convertir en UTC ; stations hors service (is_installed ou is_renting à 0) ; ttl annoncé de 3 600 s qui ne reflète pas la fréquence réelle ; identifiants de station supérieurs à 2^31.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avec les pannes : le jour du test, 14 incidents ferrés (métro, RER, tramway) étaient actifs, avec 19 stations à moins de 300 m d’un arrêt ferré bloqué (74 en ajoutant les arrêts perturbés). Ce jour n’est pas représentatif (manifestations, grève du T4). Une panne coïncide souvent avec l’heure de pointe ou la pluie, ce qui brouille le lien. Joindre au niveau de la ligne entière est trompeur (92 % des stations concernées) : il faut joindre au niveau des arrêts touchés. Parades : comparer à heure et météo comparables ; annoncer le nombre de pannes réellement observées ; tester 200, 300 et 500 m ; plan B si la semaine est calme.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RGPD : aucune donnée personnelle, seulement des compteurs agrégés par station. Licences : ODbL pour le référentiel IDFM ; ODbL ou Licence Ouverte selon le jeu, à confirmer, pour les autres sources. Limites : une seule semaine d’historique, un seul point météo pour tout Paris, quota gratuit d’Open-Meteo, quota PRIM de 1 000 appels par jour (un appel toutes les 5 min en utilise 29 %), corrélation n’est pas causalité.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Coût : crédit étudiant limité à 100 dollars. Le stockage est quasi gratuit à ce volume (environ 550 Mo par jour brut, environ 4 Go sur la semaine, beaucoup moins une fois compressé en Parquet) ; le risque principal est un service de calcul laissé allumé. Parades : pas de cluster permanent, alertes de budget à 20, 50 et 80 dollars, suppression du groupe de ressources en fin de projet. Estimation : 5 à 15 dollars sur la semaine, à confirmer avec le calculateur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Sortie attendue : page de cadrage à valider avant de construire. Les quatre sources ont été testées le 5 octobre 2026 : jointure Vélib’ ↔ météo (1 519 stations sur 1 519) et jointure perturbations ↔ référentiel IDFM (722 lignes sur 722).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65960"/>
            <a:ext cx="76809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886200"/>
            <a:ext cx="7680960" cy="82296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4" name="Text 0"/>
          <p:cNvSpPr/>
          <p:nvPr>
            <p:ph idx="102" type="body" hasCustomPrompt="1"/>
          </p:nvPr>
        </p:nvSpPr>
        <p:spPr>
          <a:xfrm>
            <a:off x="731520" y="5760720"/>
            <a:ext cx="10698480" cy="411480"/>
          </a:xfrm>
          <a:prstGeom prst="rect">
            <a:avLst/>
          </a:prstGeom>
          <a:noFill/>
          <a:ln/>
        </p:spPr>
        <p:txBody>
          <a:bodyPr wrap="square" rtlCol="0"/>
          <a:lstStyle>
            <a:lvl1pPr indent="0" marL="0">
              <a:buNone/>
              <a:defRPr lang="en-US" sz="1400" dirty="0">
                <a:solidFill>
                  <a:schemeClr val="accent6"/>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tx2"/>
                </a:solidFill>
              </a:rPr>
              <a:t>Datalake Azure · Vélib’ × météo × pannes · M2 Data</a:t>
            </a: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teinté">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tx2"/>
                </a:solidFill>
              </a:rPr>
              <a:t>Datalake Azure · Vélib’ × météo × pannes · M2 Data</a:t>
            </a: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Datalake Azure · Vélib’ × météo × pannes · M2 Data</a:t>
            </a: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3.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3.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1005840"/>
            <a:ext cx="3657600" cy="3657600"/>
          </a:xfrm>
          <a:prstGeom prst="rect">
            <a:avLst/>
          </a:prstGeom>
        </p:spPr>
      </p:pic>
      <p:sp>
        <p:nvSpPr>
          <p:cNvPr id="3" name="Motif 1"/>
          <p:cNvSpPr/>
          <p:nvPr/>
        </p:nvSpPr>
        <p:spPr>
          <a:xfrm>
            <a:off x="731520" y="960120"/>
            <a:ext cx="685800" cy="685800"/>
          </a:xfrm>
          <a:prstGeom prst="ellipse">
            <a:avLst/>
          </a:prstGeom>
          <a:solidFill>
            <a:schemeClr val="accent1"/>
          </a:solidFill>
          <a:ln/>
        </p:spPr>
      </p:sp>
      <p:pic>
        <p:nvPicPr>
          <p:cNvPr id="4" name="Image 1" descr="preencoded.png">    </p:cNvPr>
          <p:cNvPicPr>
            <a:picLocks noChangeAspect="1"/>
          </p:cNvPicPr>
          <p:nvPr/>
        </p:nvPicPr>
        <p:blipFill>
          <a:blip r:embed="rId2"/>
          <a:stretch>
            <a:fillRect/>
          </a:stretch>
        </p:blipFill>
        <p:spPr>
          <a:xfrm>
            <a:off x="902970" y="1131570"/>
            <a:ext cx="342900" cy="342900"/>
          </a:xfrm>
          <a:prstGeom prst="rect">
            <a:avLst/>
          </a:prstGeom>
        </p:spPr>
      </p:pic>
      <p:sp>
        <p:nvSpPr>
          <p:cNvPr id="5" name="Motif 2"/>
          <p:cNvSpPr/>
          <p:nvPr/>
        </p:nvSpPr>
        <p:spPr>
          <a:xfrm>
            <a:off x="1600200" y="960120"/>
            <a:ext cx="685800" cy="685800"/>
          </a:xfrm>
          <a:prstGeom prst="ellipse">
            <a:avLst/>
          </a:prstGeom>
          <a:solidFill>
            <a:schemeClr val="accent2"/>
          </a:solidFill>
          <a:ln/>
        </p:spPr>
      </p:sp>
      <p:pic>
        <p:nvPicPr>
          <p:cNvPr id="6" name="Image 2" descr="preencoded.png">    </p:cNvPr>
          <p:cNvPicPr>
            <a:picLocks noChangeAspect="1"/>
          </p:cNvPicPr>
          <p:nvPr/>
        </p:nvPicPr>
        <p:blipFill>
          <a:blip r:embed="rId3"/>
          <a:stretch>
            <a:fillRect/>
          </a:stretch>
        </p:blipFill>
        <p:spPr>
          <a:xfrm>
            <a:off x="1771650" y="1131570"/>
            <a:ext cx="342900" cy="342900"/>
          </a:xfrm>
          <a:prstGeom prst="rect">
            <a:avLst/>
          </a:prstGeom>
        </p:spPr>
      </p:pic>
      <p:sp>
        <p:nvSpPr>
          <p:cNvPr id="7" name="Motif 3"/>
          <p:cNvSpPr/>
          <p:nvPr/>
        </p:nvSpPr>
        <p:spPr>
          <a:xfrm>
            <a:off x="2468880" y="960120"/>
            <a:ext cx="685800" cy="685800"/>
          </a:xfrm>
          <a:prstGeom prst="ellipse">
            <a:avLst/>
          </a:prstGeom>
          <a:solidFill>
            <a:schemeClr val="accent4"/>
          </a:solidFill>
          <a:ln/>
        </p:spPr>
      </p:sp>
      <p:pic>
        <p:nvPicPr>
          <p:cNvPr id="8" name="Image 3" descr="preencoded.png">    </p:cNvPr>
          <p:cNvPicPr>
            <a:picLocks noChangeAspect="1"/>
          </p:cNvPicPr>
          <p:nvPr/>
        </p:nvPicPr>
        <p:blipFill>
          <a:blip r:embed="rId4"/>
          <a:stretch>
            <a:fillRect/>
          </a:stretch>
        </p:blipFill>
        <p:spPr>
          <a:xfrm>
            <a:off x="2640330" y="1131570"/>
            <a:ext cx="342900" cy="342900"/>
          </a:xfrm>
          <a:prstGeom prst="rect">
            <a:avLst/>
          </a:prstGeom>
        </p:spPr>
      </p:pic>
      <p:sp>
        <p:nvSpPr>
          <p:cNvPr id="9" name="Motif 4"/>
          <p:cNvSpPr/>
          <p:nvPr/>
        </p:nvSpPr>
        <p:spPr>
          <a:xfrm>
            <a:off x="3337560" y="960120"/>
            <a:ext cx="685800" cy="685800"/>
          </a:xfrm>
          <a:prstGeom prst="ellipse">
            <a:avLst/>
          </a:prstGeom>
          <a:solidFill>
            <a:schemeClr val="accent3"/>
          </a:solidFill>
          <a:ln/>
        </p:spPr>
      </p:sp>
      <p:pic>
        <p:nvPicPr>
          <p:cNvPr id="10" name="Image 4" descr="preencoded.png">    </p:cNvPr>
          <p:cNvPicPr>
            <a:picLocks noChangeAspect="1"/>
          </p:cNvPicPr>
          <p:nvPr/>
        </p:nvPicPr>
        <p:blipFill>
          <a:blip r:embed="rId5"/>
          <a:stretch>
            <a:fillRect/>
          </a:stretch>
        </p:blipFill>
        <p:spPr>
          <a:xfrm>
            <a:off x="3509010" y="1131570"/>
            <a:ext cx="342900" cy="342900"/>
          </a:xfrm>
          <a:prstGeom prst="rect">
            <a:avLst/>
          </a:prstGeom>
        </p:spPr>
      </p:pic>
      <p:sp>
        <p:nvSpPr>
          <p:cNvPr id="11" name="Text 0"/>
          <p:cNvSpPr/>
          <p:nvPr>
            <p:ph idx="100" type="title" hasCustomPrompt="1"/>
          </p:nvPr>
        </p:nvSpPr>
        <p:spPr>
          <a:xfrm>
            <a:off x="731520" y="1965960"/>
            <a:ext cx="7680960" cy="1737360"/>
          </a:xfrm>
          <a:prstGeom prst="rect">
            <a:avLst/>
          </a:prstGeom>
          <a:noFill/>
          <a:ln/>
        </p:spPr>
        <p:txBody>
          <a:bodyPr wrap="square" lIns="0" tIns="0" rIns="0" bIns="0" rtlCol="0" anchor="b"/>
          <a:lstStyle/>
          <a:p>
            <a:pPr algn="l" indent="0" marL="0">
              <a:buNone/>
            </a:pPr>
            <a:r>
              <a:rPr lang="en-US" sz="4400" b="1" dirty="0">
                <a:solidFill>
                  <a:schemeClr val="bg1"/>
                </a:solidFill>
              </a:rPr>
              <a:t>Pénuries et saturations des stations Vélib’</a:t>
            </a:r>
            <a:endParaRPr lang="en-US" sz="4400" dirty="0"/>
          </a:p>
        </p:txBody>
      </p:sp>
      <p:sp>
        <p:nvSpPr>
          <p:cNvPr id="12" name="Text 0"/>
          <p:cNvSpPr/>
          <p:nvPr>
            <p:ph idx="101" type="body" hasCustomPrompt="1"/>
          </p:nvPr>
        </p:nvSpPr>
        <p:spPr>
          <a:xfrm>
            <a:off x="731520" y="3886200"/>
            <a:ext cx="7680960" cy="822960"/>
          </a:xfrm>
          <a:prstGeom prst="rect">
            <a:avLst/>
          </a:prstGeom>
          <a:noFill/>
          <a:ln/>
        </p:spPr>
        <p:txBody>
          <a:bodyPr wrap="square" lIns="0" tIns="0" rIns="0" bIns="0" rtlCol="0" anchor="t"/>
          <a:lstStyle/>
          <a:p>
            <a:pPr indent="0" marL="0">
              <a:buNone/>
            </a:pPr>
            <a:r>
              <a:rPr lang="en-US" sz="2200" dirty="0">
                <a:solidFill>
                  <a:schemeClr val="bg2"/>
                </a:solidFill>
              </a:rPr>
              <a:t>Météo et pannes de transport : fiche sujet du projet Datalake Azure</a:t>
            </a:r>
            <a:endParaRPr lang="en-US" sz="2200" dirty="0"/>
          </a:p>
        </p:txBody>
      </p:sp>
      <p:sp>
        <p:nvSpPr>
          <p:cNvPr id="13" name="Text 0"/>
          <p:cNvSpPr/>
          <p:nvPr>
            <p:ph idx="102" type="body" hasCustomPrompt="1"/>
          </p:nvPr>
        </p:nvSpPr>
        <p:spPr>
          <a:xfrm>
            <a:off x="731520" y="5760720"/>
            <a:ext cx="10698480" cy="411480"/>
          </a:xfrm>
          <a:prstGeom prst="rect">
            <a:avLst/>
          </a:prstGeom>
          <a:noFill/>
          <a:ln/>
        </p:spPr>
        <p:txBody>
          <a:bodyPr wrap="square" lIns="0" tIns="0" rIns="0" bIns="0" rtlCol="0" anchor="ctr"/>
          <a:lstStyle/>
          <a:p>
            <a:pPr indent="0" marL="0">
              <a:buNone/>
            </a:pPr>
            <a:r>
              <a:rPr lang="en-US" sz="1400" dirty="0">
                <a:solidFill>
                  <a:schemeClr val="accent6"/>
                </a:solidFill>
              </a:rPr>
              <a:t>Cours Datalake Azure · M2 Data   |   Nom : [à compléter]   |   5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La question métier</a:t>
            </a:r>
            <a:endParaRPr lang="en-US" sz="3400" dirty="0"/>
          </a:p>
        </p:txBody>
      </p:sp>
      <p:sp>
        <p:nvSpPr>
          <p:cNvPr id="3" name="Carte question"/>
          <p:cNvSpPr/>
          <p:nvPr/>
        </p:nvSpPr>
        <p:spPr>
          <a:xfrm>
            <a:off x="548640" y="1417320"/>
            <a:ext cx="6766560" cy="4663440"/>
          </a:xfrm>
          <a:prstGeom prst="roundRect">
            <a:avLst>
              <a:gd name="adj" fmla="val 1961"/>
            </a:avLst>
          </a:prstGeom>
          <a:solidFill>
            <a:schemeClr val="bg2"/>
          </a:solidFill>
          <a:ln/>
        </p:spPr>
      </p:sp>
      <p:sp>
        <p:nvSpPr>
          <p:cNvPr id="4" name="Icône citation"/>
          <p:cNvSpPr/>
          <p:nvPr/>
        </p:nvSpPr>
        <p:spPr>
          <a:xfrm>
            <a:off x="960120" y="1737360"/>
            <a:ext cx="685800" cy="685800"/>
          </a:xfrm>
          <a:prstGeom prst="ellipse">
            <a:avLst/>
          </a:prstGeom>
          <a:solidFill>
            <a:schemeClr val="tx1"/>
          </a:solidFill>
          <a:ln/>
        </p:spPr>
      </p:sp>
      <p:pic>
        <p:nvPicPr>
          <p:cNvPr id="5" name="Image 0" descr="preencoded.png">    </p:cNvPr>
          <p:cNvPicPr>
            <a:picLocks noChangeAspect="1"/>
          </p:cNvPicPr>
          <p:nvPr/>
        </p:nvPicPr>
        <p:blipFill>
          <a:blip r:embed="rId1"/>
          <a:stretch>
            <a:fillRect/>
          </a:stretch>
        </p:blipFill>
        <p:spPr>
          <a:xfrm>
            <a:off x="1131570" y="1908810"/>
            <a:ext cx="342900" cy="342900"/>
          </a:xfrm>
          <a:prstGeom prst="rect">
            <a:avLst/>
          </a:prstGeom>
        </p:spPr>
      </p:pic>
      <p:sp>
        <p:nvSpPr>
          <p:cNvPr id="6" name="Text 3"/>
          <p:cNvSpPr txBox="1"/>
          <p:nvPr/>
        </p:nvSpPr>
        <p:spPr>
          <a:xfrm>
            <a:off x="960120" y="2606040"/>
            <a:ext cx="5943600" cy="3291840"/>
          </a:xfrm>
          <a:prstGeom prst="rect">
            <a:avLst/>
          </a:prstGeom>
          <a:noFill/>
          <a:ln/>
        </p:spPr>
        <p:txBody>
          <a:bodyPr wrap="square" lIns="0" tIns="0" rIns="0" bIns="0" rtlCol="0" anchor="t"/>
          <a:lstStyle/>
          <a:p>
            <a:pPr indent="0" marL="0">
              <a:lnSpc>
                <a:spcPct val="110000"/>
              </a:lnSpc>
              <a:buNone/>
            </a:pPr>
            <a:r>
              <a:rPr lang="en-US" sz="2200" i="1" dirty="0">
                <a:solidFill>
                  <a:schemeClr val="tx1"/>
                </a:solidFill>
                <a:latin typeface="+mj-lt" pitchFamily="34" charset="0"/>
                <a:ea typeface="+mj-lt" pitchFamily="34" charset="-122"/>
                <a:cs typeface="+mj-lt" pitchFamily="34" charset="-120"/>
              </a:rPr>
              <a:t>« Quelles stations Vélib’ et quels créneaux horaires concentrent les pénuries (aucun vélo) et les saturations (aucune borne libre), et dans quelle mesure la pluie, la température et les pannes de transport en commun (métro, RER, tramway, bus) les expliquent-elles ? »</a:t>
            </a:r>
            <a:endParaRPr lang="en-US" sz="2200" dirty="0"/>
          </a:p>
        </p:txBody>
      </p:sp>
      <p:sp>
        <p:nvSpPr>
          <p:cNvPr id="7" name="Icône Pénurie"/>
          <p:cNvSpPr/>
          <p:nvPr/>
        </p:nvSpPr>
        <p:spPr>
          <a:xfrm>
            <a:off x="7726680" y="1463040"/>
            <a:ext cx="594360" cy="594360"/>
          </a:xfrm>
          <a:prstGeom prst="ellipse">
            <a:avLst/>
          </a:prstGeom>
          <a:solidFill>
            <a:schemeClr val="accent4"/>
          </a:solidFill>
          <a:ln/>
        </p:spPr>
      </p:sp>
      <p:pic>
        <p:nvPicPr>
          <p:cNvPr id="8" name="Image 1" descr="preencoded.png">    </p:cNvPr>
          <p:cNvPicPr>
            <a:picLocks noChangeAspect="1"/>
          </p:cNvPicPr>
          <p:nvPr/>
        </p:nvPicPr>
        <p:blipFill>
          <a:blip r:embed="rId2"/>
          <a:stretch>
            <a:fillRect/>
          </a:stretch>
        </p:blipFill>
        <p:spPr>
          <a:xfrm>
            <a:off x="7875270" y="1611630"/>
            <a:ext cx="297180" cy="297180"/>
          </a:xfrm>
          <a:prstGeom prst="rect">
            <a:avLst/>
          </a:prstGeom>
        </p:spPr>
      </p:pic>
      <p:sp>
        <p:nvSpPr>
          <p:cNvPr id="9" name="Text 5"/>
          <p:cNvSpPr txBox="1"/>
          <p:nvPr/>
        </p:nvSpPr>
        <p:spPr>
          <a:xfrm>
            <a:off x="8503920" y="1444752"/>
            <a:ext cx="3136392"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Pénurie</a:t>
            </a:r>
            <a:endParaRPr lang="en-US" sz="1800" dirty="0"/>
          </a:p>
        </p:txBody>
      </p:sp>
      <p:sp>
        <p:nvSpPr>
          <p:cNvPr id="10" name="Text 6"/>
          <p:cNvSpPr txBox="1"/>
          <p:nvPr/>
        </p:nvSpPr>
        <p:spPr>
          <a:xfrm>
            <a:off x="8503920" y="1828800"/>
            <a:ext cx="3136392" cy="685800"/>
          </a:xfrm>
          <a:prstGeom prst="rect">
            <a:avLst/>
          </a:prstGeom>
          <a:noFill/>
          <a:ln/>
        </p:spPr>
        <p:txBody>
          <a:bodyPr wrap="square" lIns="0" tIns="0" rIns="0" bIns="0" rtlCol="0" anchor="t"/>
          <a:lstStyle/>
          <a:p>
            <a:pPr indent="0" marL="0">
              <a:buNone/>
            </a:pPr>
            <a:r>
              <a:rPr lang="en-US" sz="1400" dirty="0">
                <a:solidFill>
                  <a:schemeClr val="tx2"/>
                </a:solidFill>
              </a:rPr>
              <a:t>Aucun vélo disponible à la station</a:t>
            </a:r>
            <a:endParaRPr lang="en-US" sz="1400" dirty="0"/>
          </a:p>
        </p:txBody>
      </p:sp>
      <p:sp>
        <p:nvSpPr>
          <p:cNvPr id="11" name="Icône Saturation"/>
          <p:cNvSpPr/>
          <p:nvPr/>
        </p:nvSpPr>
        <p:spPr>
          <a:xfrm>
            <a:off x="7726680" y="2633472"/>
            <a:ext cx="594360" cy="594360"/>
          </a:xfrm>
          <a:prstGeom prst="ellipse">
            <a:avLst/>
          </a:prstGeom>
          <a:solidFill>
            <a:schemeClr val="accent3"/>
          </a:solidFill>
          <a:ln/>
        </p:spPr>
      </p:sp>
      <p:pic>
        <p:nvPicPr>
          <p:cNvPr id="12" name="Image 2" descr="preencoded.png">    </p:cNvPr>
          <p:cNvPicPr>
            <a:picLocks noChangeAspect="1"/>
          </p:cNvPicPr>
          <p:nvPr/>
        </p:nvPicPr>
        <p:blipFill>
          <a:blip r:embed="rId3"/>
          <a:stretch>
            <a:fillRect/>
          </a:stretch>
        </p:blipFill>
        <p:spPr>
          <a:xfrm>
            <a:off x="7875270" y="2782062"/>
            <a:ext cx="297180" cy="297180"/>
          </a:xfrm>
          <a:prstGeom prst="rect">
            <a:avLst/>
          </a:prstGeom>
        </p:spPr>
      </p:pic>
      <p:sp>
        <p:nvSpPr>
          <p:cNvPr id="13" name="Text 8"/>
          <p:cNvSpPr txBox="1"/>
          <p:nvPr/>
        </p:nvSpPr>
        <p:spPr>
          <a:xfrm>
            <a:off x="8503920" y="2615184"/>
            <a:ext cx="3136392"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Saturation</a:t>
            </a:r>
            <a:endParaRPr lang="en-US" sz="1800" dirty="0"/>
          </a:p>
        </p:txBody>
      </p:sp>
      <p:sp>
        <p:nvSpPr>
          <p:cNvPr id="14" name="Text 9"/>
          <p:cNvSpPr txBox="1"/>
          <p:nvPr/>
        </p:nvSpPr>
        <p:spPr>
          <a:xfrm>
            <a:off x="8503920" y="2999232"/>
            <a:ext cx="3136392" cy="685800"/>
          </a:xfrm>
          <a:prstGeom prst="rect">
            <a:avLst/>
          </a:prstGeom>
          <a:noFill/>
          <a:ln/>
        </p:spPr>
        <p:txBody>
          <a:bodyPr wrap="square" lIns="0" tIns="0" rIns="0" bIns="0" rtlCol="0" anchor="t"/>
          <a:lstStyle/>
          <a:p>
            <a:pPr indent="0" marL="0">
              <a:buNone/>
            </a:pPr>
            <a:r>
              <a:rPr lang="en-US" sz="1400" dirty="0">
                <a:solidFill>
                  <a:schemeClr val="tx2"/>
                </a:solidFill>
              </a:rPr>
              <a:t>Aucune borne libre pour rendre son vélo</a:t>
            </a:r>
            <a:endParaRPr lang="en-US" sz="1400" dirty="0"/>
          </a:p>
        </p:txBody>
      </p:sp>
      <p:sp>
        <p:nvSpPr>
          <p:cNvPr id="15" name="Icône Anticiper"/>
          <p:cNvSpPr/>
          <p:nvPr/>
        </p:nvSpPr>
        <p:spPr>
          <a:xfrm>
            <a:off x="7726680" y="3803904"/>
            <a:ext cx="594360" cy="59436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875270" y="3952494"/>
            <a:ext cx="297180" cy="297180"/>
          </a:xfrm>
          <a:prstGeom prst="rect">
            <a:avLst/>
          </a:prstGeom>
        </p:spPr>
      </p:pic>
      <p:sp>
        <p:nvSpPr>
          <p:cNvPr id="17" name="Text 11"/>
          <p:cNvSpPr txBox="1"/>
          <p:nvPr/>
        </p:nvSpPr>
        <p:spPr>
          <a:xfrm>
            <a:off x="8503920" y="3785616"/>
            <a:ext cx="3136392"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Anticiper</a:t>
            </a:r>
            <a:endParaRPr lang="en-US" sz="1800" dirty="0"/>
          </a:p>
        </p:txBody>
      </p:sp>
      <p:sp>
        <p:nvSpPr>
          <p:cNvPr id="18" name="Text 12"/>
          <p:cNvSpPr txBox="1"/>
          <p:nvPr/>
        </p:nvSpPr>
        <p:spPr>
          <a:xfrm>
            <a:off x="8503920" y="4169664"/>
            <a:ext cx="3136392" cy="685800"/>
          </a:xfrm>
          <a:prstGeom prst="rect">
            <a:avLst/>
          </a:prstGeom>
          <a:noFill/>
          <a:ln/>
        </p:spPr>
        <p:txBody>
          <a:bodyPr wrap="square" lIns="0" tIns="0" rIns="0" bIns="0" rtlCol="0" anchor="t"/>
          <a:lstStyle/>
          <a:p>
            <a:pPr indent="0" marL="0">
              <a:buNone/>
            </a:pPr>
            <a:r>
              <a:rPr lang="en-US" sz="1400" dirty="0">
                <a:solidFill>
                  <a:schemeClr val="tx2"/>
                </a:solidFill>
              </a:rPr>
              <a:t>Aider l’exploitant à prévoir le rééquilibrage (camions) en cas de perturbation</a:t>
            </a:r>
            <a:endParaRPr lang="en-US" sz="1400" dirty="0"/>
          </a:p>
        </p:txBody>
      </p:sp>
      <p:sp>
        <p:nvSpPr>
          <p:cNvPr id="19" name="Icône Informer"/>
          <p:cNvSpPr/>
          <p:nvPr/>
        </p:nvSpPr>
        <p:spPr>
          <a:xfrm>
            <a:off x="7726680" y="4974336"/>
            <a:ext cx="594360" cy="594360"/>
          </a:xfrm>
          <a:prstGeom prst="ellipse">
            <a:avLst/>
          </a:prstGeom>
          <a:solidFill>
            <a:schemeClr val="accent2"/>
          </a:solidFill>
          <a:ln/>
        </p:spPr>
      </p:sp>
      <p:pic>
        <p:nvPicPr>
          <p:cNvPr id="20" name="Image 4" descr="preencoded.png">    </p:cNvPr>
          <p:cNvPicPr>
            <a:picLocks noChangeAspect="1"/>
          </p:cNvPicPr>
          <p:nvPr/>
        </p:nvPicPr>
        <p:blipFill>
          <a:blip r:embed="rId5"/>
          <a:stretch>
            <a:fillRect/>
          </a:stretch>
        </p:blipFill>
        <p:spPr>
          <a:xfrm>
            <a:off x="7875270" y="5122926"/>
            <a:ext cx="297180" cy="297180"/>
          </a:xfrm>
          <a:prstGeom prst="rect">
            <a:avLst/>
          </a:prstGeom>
        </p:spPr>
      </p:pic>
      <p:sp>
        <p:nvSpPr>
          <p:cNvPr id="21" name="Text 14"/>
          <p:cNvSpPr txBox="1"/>
          <p:nvPr/>
        </p:nvSpPr>
        <p:spPr>
          <a:xfrm>
            <a:off x="8503920" y="4956048"/>
            <a:ext cx="3136392"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Informer</a:t>
            </a:r>
            <a:endParaRPr lang="en-US" sz="1800" dirty="0"/>
          </a:p>
        </p:txBody>
      </p:sp>
      <p:sp>
        <p:nvSpPr>
          <p:cNvPr id="22" name="Text 15"/>
          <p:cNvSpPr txBox="1"/>
          <p:nvPr/>
        </p:nvSpPr>
        <p:spPr>
          <a:xfrm>
            <a:off x="8503920" y="5340096"/>
            <a:ext cx="3136392" cy="685800"/>
          </a:xfrm>
          <a:prstGeom prst="rect">
            <a:avLst/>
          </a:prstGeom>
          <a:noFill/>
          <a:ln/>
        </p:spPr>
        <p:txBody>
          <a:bodyPr wrap="square" lIns="0" tIns="0" rIns="0" bIns="0" rtlCol="0" anchor="t"/>
          <a:lstStyle/>
          <a:p>
            <a:pPr indent="0" marL="0">
              <a:buNone/>
            </a:pPr>
            <a:r>
              <a:rPr lang="en-US" sz="1400" dirty="0">
                <a:solidFill>
                  <a:schemeClr val="tx2"/>
                </a:solidFill>
              </a:rPr>
              <a:t>Signaler aux usagers les zones à risque</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L’hypothèse testée</a:t>
            </a:r>
            <a:endParaRPr lang="en-US" sz="3400" dirty="0"/>
          </a:p>
        </p:txBody>
      </p:sp>
      <p:sp>
        <p:nvSpPr>
          <p:cNvPr id="3" name="Étape 1"/>
          <p:cNvSpPr/>
          <p:nvPr/>
        </p:nvSpPr>
        <p:spPr>
          <a:xfrm>
            <a:off x="548640" y="1463040"/>
            <a:ext cx="3291840" cy="2880360"/>
          </a:xfrm>
          <a:prstGeom prst="roundRect">
            <a:avLst>
              <a:gd name="adj" fmla="val 3175"/>
            </a:avLst>
          </a:prstGeom>
          <a:solidFill>
            <a:schemeClr val="bg1"/>
          </a:solidFill>
          <a:ln/>
          <a:effectLst>
            <a:outerShdw sx="100000" sy="100000" kx="0" ky="0" algn="bl" rotWithShape="0" blurRad="127000" dist="25400" dir="5400000">
              <a:srgbClr val="102A2C">
                <a:alpha val="12000"/>
              </a:srgbClr>
            </a:outerShdw>
          </a:effectLst>
        </p:spPr>
      </p:sp>
      <p:sp>
        <p:nvSpPr>
          <p:cNvPr id="4" name="Icône Une ligne est perturbée"/>
          <p:cNvSpPr/>
          <p:nvPr/>
        </p:nvSpPr>
        <p:spPr>
          <a:xfrm>
            <a:off x="868680" y="1783080"/>
            <a:ext cx="731520" cy="73152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1051560" y="1965960"/>
            <a:ext cx="365760" cy="365760"/>
          </a:xfrm>
          <a:prstGeom prst="rect">
            <a:avLst/>
          </a:prstGeom>
        </p:spPr>
      </p:pic>
      <p:sp>
        <p:nvSpPr>
          <p:cNvPr id="6" name="Text 3"/>
          <p:cNvSpPr txBox="1"/>
          <p:nvPr/>
        </p:nvSpPr>
        <p:spPr>
          <a:xfrm>
            <a:off x="868680" y="2697480"/>
            <a:ext cx="265176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Une ligne est perturbée</a:t>
            </a:r>
            <a:endParaRPr lang="en-US" sz="2000" dirty="0"/>
          </a:p>
        </p:txBody>
      </p:sp>
      <p:sp>
        <p:nvSpPr>
          <p:cNvPr id="7" name="Text 4"/>
          <p:cNvSpPr txBox="1"/>
          <p:nvPr/>
        </p:nvSpPr>
        <p:spPr>
          <a:xfrm>
            <a:off x="868680" y="3383280"/>
            <a:ext cx="2651760" cy="822960"/>
          </a:xfrm>
          <a:prstGeom prst="rect">
            <a:avLst/>
          </a:prstGeom>
          <a:noFill/>
          <a:ln/>
        </p:spPr>
        <p:txBody>
          <a:bodyPr wrap="square" lIns="0" tIns="0" rIns="0" bIns="0" rtlCol="0" anchor="t"/>
          <a:lstStyle/>
          <a:p>
            <a:pPr indent="0" marL="0">
              <a:buNone/>
            </a:pPr>
            <a:r>
              <a:rPr lang="en-US" sz="1400" dirty="0">
                <a:solidFill>
                  <a:schemeClr val="tx2"/>
                </a:solidFill>
              </a:rPr>
              <a:t>Métro, RER, tramway ou bus : arrêts non desservis, trafic interrompu ou ralenti</a:t>
            </a:r>
            <a:endParaRPr lang="en-US" sz="1400" dirty="0"/>
          </a:p>
        </p:txBody>
      </p:sp>
      <p:sp>
        <p:nvSpPr>
          <p:cNvPr id="8" name="Flèche hypothèse 1"/>
          <p:cNvSpPr/>
          <p:nvPr/>
        </p:nvSpPr>
        <p:spPr>
          <a:xfrm>
            <a:off x="3931920" y="2903220"/>
            <a:ext cx="426568" cy="0"/>
          </a:xfrm>
          <a:prstGeom prst="line">
            <a:avLst/>
          </a:prstGeom>
          <a:noFill/>
          <a:ln w="31750">
            <a:solidFill>
              <a:schemeClr val="tx2"/>
            </a:solidFill>
            <a:prstDash val="solid"/>
            <a:tailEnd type="triangle"/>
          </a:ln>
        </p:spPr>
      </p:sp>
      <p:sp>
        <p:nvSpPr>
          <p:cNvPr id="9" name="Étape 2"/>
          <p:cNvSpPr/>
          <p:nvPr/>
        </p:nvSpPr>
        <p:spPr>
          <a:xfrm>
            <a:off x="4449928" y="1463040"/>
            <a:ext cx="3291840" cy="2880360"/>
          </a:xfrm>
          <a:prstGeom prst="roundRect">
            <a:avLst>
              <a:gd name="adj" fmla="val 3175"/>
            </a:avLst>
          </a:prstGeom>
          <a:solidFill>
            <a:schemeClr val="bg1"/>
          </a:solidFill>
          <a:ln/>
          <a:effectLst>
            <a:outerShdw sx="100000" sy="100000" kx="0" ky="0" algn="bl" rotWithShape="0" blurRad="127000" dist="25400" dir="5400000">
              <a:srgbClr val="102A2C">
                <a:alpha val="12000"/>
              </a:srgbClr>
            </a:outerShdw>
          </a:effectLst>
        </p:spPr>
      </p:sp>
      <p:sp>
        <p:nvSpPr>
          <p:cNvPr id="10" name="Icône Les usagers se reportent"/>
          <p:cNvSpPr/>
          <p:nvPr/>
        </p:nvSpPr>
        <p:spPr>
          <a:xfrm>
            <a:off x="4769968" y="1783080"/>
            <a:ext cx="731520" cy="731520"/>
          </a:xfrm>
          <a:prstGeom prst="ellipse">
            <a:avLst/>
          </a:prstGeom>
          <a:solidFill>
            <a:schemeClr val="accent2"/>
          </a:solidFill>
          <a:ln/>
        </p:spPr>
      </p:sp>
      <p:pic>
        <p:nvPicPr>
          <p:cNvPr id="11" name="Image 1" descr="preencoded.png">    </p:cNvPr>
          <p:cNvPicPr>
            <a:picLocks noChangeAspect="1"/>
          </p:cNvPicPr>
          <p:nvPr/>
        </p:nvPicPr>
        <p:blipFill>
          <a:blip r:embed="rId2"/>
          <a:stretch>
            <a:fillRect/>
          </a:stretch>
        </p:blipFill>
        <p:spPr>
          <a:xfrm>
            <a:off x="4952848" y="1965960"/>
            <a:ext cx="365760" cy="365760"/>
          </a:xfrm>
          <a:prstGeom prst="rect">
            <a:avLst/>
          </a:prstGeom>
        </p:spPr>
      </p:pic>
      <p:sp>
        <p:nvSpPr>
          <p:cNvPr id="12" name="Text 8"/>
          <p:cNvSpPr txBox="1"/>
          <p:nvPr/>
        </p:nvSpPr>
        <p:spPr>
          <a:xfrm>
            <a:off x="4769968" y="2697480"/>
            <a:ext cx="265176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Les usagers se reportent</a:t>
            </a:r>
            <a:endParaRPr lang="en-US" sz="2000" dirty="0"/>
          </a:p>
        </p:txBody>
      </p:sp>
      <p:sp>
        <p:nvSpPr>
          <p:cNvPr id="13" name="Text 9"/>
          <p:cNvSpPr txBox="1"/>
          <p:nvPr/>
        </p:nvSpPr>
        <p:spPr>
          <a:xfrm>
            <a:off x="4769968" y="3383280"/>
            <a:ext cx="2651760" cy="822960"/>
          </a:xfrm>
          <a:prstGeom prst="rect">
            <a:avLst/>
          </a:prstGeom>
          <a:noFill/>
          <a:ln/>
        </p:spPr>
        <p:txBody>
          <a:bodyPr wrap="square" lIns="0" tIns="0" rIns="0" bIns="0" rtlCol="0" anchor="t"/>
          <a:lstStyle/>
          <a:p>
            <a:pPr indent="0" marL="0">
              <a:buNone/>
            </a:pPr>
            <a:r>
              <a:rPr lang="en-US" sz="1400" dirty="0">
                <a:solidFill>
                  <a:schemeClr val="tx2"/>
                </a:solidFill>
              </a:rPr>
              <a:t>Une partie des voyageurs prend un Vélib’ près de la ligne touchée</a:t>
            </a:r>
            <a:endParaRPr lang="en-US" sz="1400" dirty="0"/>
          </a:p>
        </p:txBody>
      </p:sp>
      <p:sp>
        <p:nvSpPr>
          <p:cNvPr id="14" name="Flèche hypothèse 2"/>
          <p:cNvSpPr/>
          <p:nvPr/>
        </p:nvSpPr>
        <p:spPr>
          <a:xfrm>
            <a:off x="7833208" y="2903220"/>
            <a:ext cx="426568" cy="0"/>
          </a:xfrm>
          <a:prstGeom prst="line">
            <a:avLst/>
          </a:prstGeom>
          <a:noFill/>
          <a:ln w="31750">
            <a:solidFill>
              <a:schemeClr val="tx2"/>
            </a:solidFill>
            <a:prstDash val="solid"/>
            <a:tailEnd type="triangle"/>
          </a:ln>
        </p:spPr>
      </p:sp>
      <p:sp>
        <p:nvSpPr>
          <p:cNvPr id="15" name="Étape 3"/>
          <p:cNvSpPr/>
          <p:nvPr/>
        </p:nvSpPr>
        <p:spPr>
          <a:xfrm>
            <a:off x="8351215" y="1463040"/>
            <a:ext cx="3291840" cy="2880360"/>
          </a:xfrm>
          <a:prstGeom prst="roundRect">
            <a:avLst>
              <a:gd name="adj" fmla="val 3175"/>
            </a:avLst>
          </a:prstGeom>
          <a:solidFill>
            <a:schemeClr val="bg1"/>
          </a:solidFill>
          <a:ln/>
          <a:effectLst>
            <a:outerShdw sx="100000" sy="100000" kx="0" ky="0" algn="bl" rotWithShape="0" blurRad="127000" dist="25400" dir="5400000">
              <a:srgbClr val="102A2C">
                <a:alpha val="12000"/>
              </a:srgbClr>
            </a:outerShdw>
          </a:effectLst>
        </p:spPr>
      </p:sp>
      <p:sp>
        <p:nvSpPr>
          <p:cNvPr id="16" name="Text 12"/>
          <p:cNvSpPr txBox="1"/>
          <p:nvPr/>
        </p:nvSpPr>
        <p:spPr>
          <a:xfrm>
            <a:off x="8671255" y="1691640"/>
            <a:ext cx="2651760" cy="68580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Les stations proches de la ligne subissent</a:t>
            </a:r>
            <a:endParaRPr lang="en-US" sz="1800" dirty="0"/>
          </a:p>
        </p:txBody>
      </p:sp>
      <p:sp>
        <p:nvSpPr>
          <p:cNvPr id="17" name="Icône Plus de pénuries"/>
          <p:cNvSpPr/>
          <p:nvPr/>
        </p:nvSpPr>
        <p:spPr>
          <a:xfrm>
            <a:off x="8671255" y="2560320"/>
            <a:ext cx="640080" cy="640080"/>
          </a:xfrm>
          <a:prstGeom prst="ellipse">
            <a:avLst/>
          </a:prstGeom>
          <a:solidFill>
            <a:schemeClr val="accent4"/>
          </a:solidFill>
          <a:ln/>
        </p:spPr>
      </p:sp>
      <p:pic>
        <p:nvPicPr>
          <p:cNvPr id="18" name="Image 2" descr="preencoded.png">    </p:cNvPr>
          <p:cNvPicPr>
            <a:picLocks noChangeAspect="1"/>
          </p:cNvPicPr>
          <p:nvPr/>
        </p:nvPicPr>
        <p:blipFill>
          <a:blip r:embed="rId3"/>
          <a:stretch>
            <a:fillRect/>
          </a:stretch>
        </p:blipFill>
        <p:spPr>
          <a:xfrm>
            <a:off x="8831275" y="2720340"/>
            <a:ext cx="320040" cy="320040"/>
          </a:xfrm>
          <a:prstGeom prst="rect">
            <a:avLst/>
          </a:prstGeom>
        </p:spPr>
      </p:pic>
      <p:sp>
        <p:nvSpPr>
          <p:cNvPr id="19" name="Text 14"/>
          <p:cNvSpPr txBox="1"/>
          <p:nvPr/>
        </p:nvSpPr>
        <p:spPr>
          <a:xfrm>
            <a:off x="9494215" y="2578608"/>
            <a:ext cx="192024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Plus de pénuries</a:t>
            </a:r>
            <a:endParaRPr lang="en-US" sz="1700" dirty="0"/>
          </a:p>
        </p:txBody>
      </p:sp>
      <p:sp>
        <p:nvSpPr>
          <p:cNvPr id="20" name="Text 15"/>
          <p:cNvSpPr txBox="1"/>
          <p:nvPr/>
        </p:nvSpPr>
        <p:spPr>
          <a:xfrm>
            <a:off x="9494215" y="2898648"/>
            <a:ext cx="1920240" cy="320040"/>
          </a:xfrm>
          <a:prstGeom prst="rect">
            <a:avLst/>
          </a:prstGeom>
          <a:noFill/>
          <a:ln/>
        </p:spPr>
        <p:txBody>
          <a:bodyPr wrap="square" lIns="0" tIns="0" rIns="0" bIns="0" rtlCol="0" anchor="t"/>
          <a:lstStyle/>
          <a:p>
            <a:pPr indent="0" marL="0">
              <a:buNone/>
            </a:pPr>
            <a:r>
              <a:rPr lang="en-US" sz="1400" dirty="0">
                <a:solidFill>
                  <a:schemeClr val="tx2"/>
                </a:solidFill>
              </a:rPr>
              <a:t>au départ (aucun vélo)</a:t>
            </a:r>
            <a:endParaRPr lang="en-US" sz="1400" dirty="0"/>
          </a:p>
        </p:txBody>
      </p:sp>
      <p:sp>
        <p:nvSpPr>
          <p:cNvPr id="21" name="Icône Plus de saturations"/>
          <p:cNvSpPr/>
          <p:nvPr/>
        </p:nvSpPr>
        <p:spPr>
          <a:xfrm>
            <a:off x="8671255" y="3429000"/>
            <a:ext cx="640080" cy="640080"/>
          </a:xfrm>
          <a:prstGeom prst="ellipse">
            <a:avLst/>
          </a:prstGeom>
          <a:solidFill>
            <a:schemeClr val="accent3"/>
          </a:solidFill>
          <a:ln/>
        </p:spPr>
      </p:sp>
      <p:pic>
        <p:nvPicPr>
          <p:cNvPr id="22" name="Image 3" descr="preencoded.png">    </p:cNvPr>
          <p:cNvPicPr>
            <a:picLocks noChangeAspect="1"/>
          </p:cNvPicPr>
          <p:nvPr/>
        </p:nvPicPr>
        <p:blipFill>
          <a:blip r:embed="rId4"/>
          <a:stretch>
            <a:fillRect/>
          </a:stretch>
        </p:blipFill>
        <p:spPr>
          <a:xfrm>
            <a:off x="8831275" y="3589020"/>
            <a:ext cx="320040" cy="320040"/>
          </a:xfrm>
          <a:prstGeom prst="rect">
            <a:avLst/>
          </a:prstGeom>
        </p:spPr>
      </p:pic>
      <p:sp>
        <p:nvSpPr>
          <p:cNvPr id="23" name="Text 17"/>
          <p:cNvSpPr txBox="1"/>
          <p:nvPr/>
        </p:nvSpPr>
        <p:spPr>
          <a:xfrm>
            <a:off x="9494215" y="3447288"/>
            <a:ext cx="192024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Plus de saturations</a:t>
            </a:r>
            <a:endParaRPr lang="en-US" sz="1700" dirty="0"/>
          </a:p>
        </p:txBody>
      </p:sp>
      <p:sp>
        <p:nvSpPr>
          <p:cNvPr id="24" name="Text 18"/>
          <p:cNvSpPr txBox="1"/>
          <p:nvPr/>
        </p:nvSpPr>
        <p:spPr>
          <a:xfrm>
            <a:off x="9494215" y="3767328"/>
            <a:ext cx="1920240" cy="320040"/>
          </a:xfrm>
          <a:prstGeom prst="rect">
            <a:avLst/>
          </a:prstGeom>
          <a:noFill/>
          <a:ln/>
        </p:spPr>
        <p:txBody>
          <a:bodyPr wrap="square" lIns="0" tIns="0" rIns="0" bIns="0" rtlCol="0" anchor="t"/>
          <a:lstStyle/>
          <a:p>
            <a:pPr indent="0" marL="0">
              <a:buNone/>
            </a:pPr>
            <a:r>
              <a:rPr lang="en-US" sz="1400" dirty="0">
                <a:solidFill>
                  <a:schemeClr val="tx2"/>
                </a:solidFill>
              </a:rPr>
              <a:t>à l’arrivée (aucune borne)</a:t>
            </a:r>
            <a:endParaRPr lang="en-US" sz="1400" dirty="0"/>
          </a:p>
        </p:txBody>
      </p:sp>
      <p:sp>
        <p:nvSpPr>
          <p:cNvPr id="25" name="Posture"/>
          <p:cNvSpPr/>
          <p:nvPr/>
        </p:nvSpPr>
        <p:spPr>
          <a:xfrm>
            <a:off x="548640" y="4663440"/>
            <a:ext cx="11094415" cy="1280160"/>
          </a:xfrm>
          <a:prstGeom prst="roundRect">
            <a:avLst>
              <a:gd name="adj" fmla="val 7143"/>
            </a:avLst>
          </a:prstGeom>
          <a:solidFill>
            <a:schemeClr val="tx1"/>
          </a:solidFill>
          <a:ln/>
          <a:effectLst>
            <a:outerShdw sx="100000" sy="100000" kx="0" ky="0" algn="bl" rotWithShape="0" blurRad="127000" dist="25400" dir="5400000">
              <a:srgbClr val="102A2C">
                <a:alpha val="12000"/>
              </a:srgbClr>
            </a:outerShdw>
          </a:effectLst>
        </p:spPr>
      </p:sp>
      <p:sp>
        <p:nvSpPr>
          <p:cNvPr id="26" name="Icône vérification"/>
          <p:cNvSpPr/>
          <p:nvPr/>
        </p:nvSpPr>
        <p:spPr>
          <a:xfrm>
            <a:off x="868680" y="4937760"/>
            <a:ext cx="731520" cy="731520"/>
          </a:xfrm>
          <a:prstGeom prst="ellipse">
            <a:avLst/>
          </a:prstGeom>
          <a:solidFill>
            <a:schemeClr val="accent1"/>
          </a:solidFill>
          <a:ln/>
        </p:spPr>
      </p:sp>
      <p:pic>
        <p:nvPicPr>
          <p:cNvPr id="27" name="Image 4" descr="preencoded.png">    </p:cNvPr>
          <p:cNvPicPr>
            <a:picLocks noChangeAspect="1"/>
          </p:cNvPicPr>
          <p:nvPr/>
        </p:nvPicPr>
        <p:blipFill>
          <a:blip r:embed="rId5"/>
          <a:stretch>
            <a:fillRect/>
          </a:stretch>
        </p:blipFill>
        <p:spPr>
          <a:xfrm>
            <a:off x="1051560" y="5120640"/>
            <a:ext cx="365760" cy="365760"/>
          </a:xfrm>
          <a:prstGeom prst="rect">
            <a:avLst/>
          </a:prstGeom>
        </p:spPr>
      </p:pic>
      <p:sp>
        <p:nvSpPr>
          <p:cNvPr id="28" name="Text 21"/>
          <p:cNvSpPr txBox="1"/>
          <p:nvPr/>
        </p:nvSpPr>
        <p:spPr>
          <a:xfrm>
            <a:off x="1874520" y="4892040"/>
            <a:ext cx="9448495" cy="45720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Le projet vérifie si ce lien existe, sans prétendre le prouver.</a:t>
            </a:r>
            <a:endParaRPr lang="en-US" sz="2200" dirty="0"/>
          </a:p>
        </p:txBody>
      </p:sp>
      <p:sp>
        <p:nvSpPr>
          <p:cNvPr id="29" name="Text 22"/>
          <p:cNvSpPr txBox="1"/>
          <p:nvPr/>
        </p:nvSpPr>
        <p:spPr>
          <a:xfrm>
            <a:off x="1874520" y="5376672"/>
            <a:ext cx="9448495" cy="320040"/>
          </a:xfrm>
          <a:prstGeom prst="rect">
            <a:avLst/>
          </a:prstGeom>
          <a:noFill/>
          <a:ln/>
        </p:spPr>
        <p:txBody>
          <a:bodyPr wrap="square" lIns="0" tIns="0" rIns="0" bIns="0" rtlCol="0" anchor="t"/>
          <a:lstStyle/>
          <a:p>
            <a:pPr indent="0" marL="0">
              <a:buNone/>
            </a:pPr>
            <a:r>
              <a:rPr lang="en-US" sz="1400" dirty="0">
                <a:solidFill>
                  <a:schemeClr val="bg2"/>
                </a:solidFill>
              </a:rPr>
              <a:t>Une corrélation observée sur une semaine n’est pas une preuve de causalité.</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Un cadrage tenable en une semaine</a:t>
            </a:r>
            <a:endParaRPr lang="en-US" sz="3400" dirty="0"/>
          </a:p>
        </p:txBody>
      </p:sp>
      <p:sp>
        <p:nvSpPr>
          <p:cNvPr id="3" name="Carte 7 jours"/>
          <p:cNvSpPr/>
          <p:nvPr/>
        </p:nvSpPr>
        <p:spPr>
          <a:xfrm>
            <a:off x="548640" y="1463040"/>
            <a:ext cx="2499284" cy="3383280"/>
          </a:xfrm>
          <a:prstGeom prst="roundRect">
            <a:avLst>
              <a:gd name="adj" fmla="val 3659"/>
            </a:avLst>
          </a:prstGeom>
          <a:solidFill>
            <a:schemeClr val="bg2"/>
          </a:solidFill>
          <a:ln/>
        </p:spPr>
      </p:sp>
      <p:sp>
        <p:nvSpPr>
          <p:cNvPr id="4" name="Icône 7 jours"/>
          <p:cNvSpPr/>
          <p:nvPr/>
        </p:nvSpPr>
        <p:spPr>
          <a:xfrm>
            <a:off x="868680" y="1783080"/>
            <a:ext cx="640080" cy="64008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28700" y="1943100"/>
            <a:ext cx="320040" cy="320040"/>
          </a:xfrm>
          <a:prstGeom prst="rect">
            <a:avLst/>
          </a:prstGeom>
        </p:spPr>
      </p:pic>
      <p:sp>
        <p:nvSpPr>
          <p:cNvPr id="6" name="Text 3"/>
          <p:cNvSpPr txBox="1"/>
          <p:nvPr/>
        </p:nvSpPr>
        <p:spPr>
          <a:xfrm>
            <a:off x="868680" y="2651760"/>
            <a:ext cx="1859204" cy="914400"/>
          </a:xfrm>
          <a:prstGeom prst="rect">
            <a:avLst/>
          </a:prstGeom>
          <a:noFill/>
          <a:ln/>
        </p:spPr>
        <p:txBody>
          <a:bodyPr wrap="square" lIns="0" tIns="0" rIns="0" bIns="0" rtlCol="0" anchor="ctr"/>
          <a:lstStyle/>
          <a:p>
            <a:pPr indent="0" marL="0">
              <a:buNone/>
            </a:pPr>
            <a:r>
              <a:rPr lang="en-US" sz="4400" b="1" dirty="0">
                <a:solidFill>
                  <a:schemeClr val="accent1"/>
                </a:solidFill>
                <a:latin typeface="+mj-lt" pitchFamily="34" charset="0"/>
                <a:ea typeface="+mj-lt" pitchFamily="34" charset="-122"/>
                <a:cs typeface="+mj-lt" pitchFamily="34" charset="-120"/>
              </a:rPr>
              <a:t>7 jours</a:t>
            </a:r>
            <a:endParaRPr lang="en-US" sz="4400" dirty="0"/>
          </a:p>
        </p:txBody>
      </p:sp>
      <p:sp>
        <p:nvSpPr>
          <p:cNvPr id="7" name="Text 4"/>
          <p:cNvSpPr txBox="1"/>
          <p:nvPr/>
        </p:nvSpPr>
        <p:spPr>
          <a:xfrm>
            <a:off x="868680" y="3657600"/>
            <a:ext cx="1859204" cy="1005840"/>
          </a:xfrm>
          <a:prstGeom prst="rect">
            <a:avLst/>
          </a:prstGeom>
          <a:noFill/>
          <a:ln/>
        </p:spPr>
        <p:txBody>
          <a:bodyPr wrap="square" lIns="0" tIns="0" rIns="0" bIns="0" rtlCol="0" anchor="t"/>
          <a:lstStyle/>
          <a:p>
            <a:pPr indent="0" marL="0">
              <a:buNone/>
            </a:pPr>
            <a:r>
              <a:rPr lang="en-US" sz="1600" dirty="0">
                <a:solidFill>
                  <a:schemeClr val="tx2"/>
                </a:solidFill>
              </a:rPr>
              <a:t>de collecte continue</a:t>
            </a:r>
            <a:endParaRPr lang="en-US" sz="1600" dirty="0"/>
          </a:p>
        </p:txBody>
      </p:sp>
      <p:sp>
        <p:nvSpPr>
          <p:cNvPr id="8" name="Carte ≈ 1 500"/>
          <p:cNvSpPr/>
          <p:nvPr/>
        </p:nvSpPr>
        <p:spPr>
          <a:xfrm>
            <a:off x="3413684" y="1463040"/>
            <a:ext cx="2499284" cy="3383280"/>
          </a:xfrm>
          <a:prstGeom prst="roundRect">
            <a:avLst>
              <a:gd name="adj" fmla="val 3659"/>
            </a:avLst>
          </a:prstGeom>
          <a:solidFill>
            <a:schemeClr val="bg2"/>
          </a:solidFill>
          <a:ln/>
        </p:spPr>
      </p:sp>
      <p:sp>
        <p:nvSpPr>
          <p:cNvPr id="9" name="Icône ≈ 1 500"/>
          <p:cNvSpPr/>
          <p:nvPr/>
        </p:nvSpPr>
        <p:spPr>
          <a:xfrm>
            <a:off x="3733724" y="1783080"/>
            <a:ext cx="640080" cy="640080"/>
          </a:xfrm>
          <a:prstGeom prst="ellipse">
            <a:avLst/>
          </a:prstGeom>
          <a:solidFill>
            <a:schemeClr val="accent2"/>
          </a:solidFill>
          <a:ln/>
        </p:spPr>
      </p:sp>
      <p:pic>
        <p:nvPicPr>
          <p:cNvPr id="10" name="Image 1" descr="preencoded.png">    </p:cNvPr>
          <p:cNvPicPr>
            <a:picLocks noChangeAspect="1"/>
          </p:cNvPicPr>
          <p:nvPr/>
        </p:nvPicPr>
        <p:blipFill>
          <a:blip r:embed="rId2"/>
          <a:stretch>
            <a:fillRect/>
          </a:stretch>
        </p:blipFill>
        <p:spPr>
          <a:xfrm>
            <a:off x="3893744" y="1943100"/>
            <a:ext cx="320040" cy="320040"/>
          </a:xfrm>
          <a:prstGeom prst="rect">
            <a:avLst/>
          </a:prstGeom>
        </p:spPr>
      </p:pic>
      <p:sp>
        <p:nvSpPr>
          <p:cNvPr id="11" name="Text 7"/>
          <p:cNvSpPr txBox="1"/>
          <p:nvPr/>
        </p:nvSpPr>
        <p:spPr>
          <a:xfrm>
            <a:off x="3733724" y="2651760"/>
            <a:ext cx="1859204" cy="914400"/>
          </a:xfrm>
          <a:prstGeom prst="rect">
            <a:avLst/>
          </a:prstGeom>
          <a:noFill/>
          <a:ln/>
        </p:spPr>
        <p:txBody>
          <a:bodyPr wrap="square" lIns="0" tIns="0" rIns="0" bIns="0" rtlCol="0" anchor="ctr"/>
          <a:lstStyle/>
          <a:p>
            <a:pPr indent="0" marL="0">
              <a:buNone/>
            </a:pPr>
            <a:r>
              <a:rPr lang="en-US" sz="4400" b="1" dirty="0">
                <a:solidFill>
                  <a:schemeClr val="accent2"/>
                </a:solidFill>
                <a:latin typeface="+mj-lt" pitchFamily="34" charset="0"/>
                <a:ea typeface="+mj-lt" pitchFamily="34" charset="-122"/>
                <a:cs typeface="+mj-lt" pitchFamily="34" charset="-120"/>
              </a:rPr>
              <a:t>≈ 1 500</a:t>
            </a:r>
            <a:endParaRPr lang="en-US" sz="4400" dirty="0"/>
          </a:p>
        </p:txBody>
      </p:sp>
      <p:sp>
        <p:nvSpPr>
          <p:cNvPr id="12" name="Text 8"/>
          <p:cNvSpPr txBox="1"/>
          <p:nvPr/>
        </p:nvSpPr>
        <p:spPr>
          <a:xfrm>
            <a:off x="3733724" y="3657600"/>
            <a:ext cx="1859204" cy="1005840"/>
          </a:xfrm>
          <a:prstGeom prst="rect">
            <a:avLst/>
          </a:prstGeom>
          <a:noFill/>
          <a:ln/>
        </p:spPr>
        <p:txBody>
          <a:bodyPr wrap="square" lIns="0" tIns="0" rIns="0" bIns="0" rtlCol="0" anchor="t"/>
          <a:lstStyle/>
          <a:p>
            <a:pPr indent="0" marL="0">
              <a:buNone/>
            </a:pPr>
            <a:r>
              <a:rPr lang="en-US" sz="1600" dirty="0">
                <a:solidFill>
                  <a:schemeClr val="tx2"/>
                </a:solidFill>
              </a:rPr>
              <a:t>stations : Paris intra-muros et petite couronne</a:t>
            </a:r>
            <a:endParaRPr lang="en-US" sz="1600" dirty="0"/>
          </a:p>
        </p:txBody>
      </p:sp>
      <p:sp>
        <p:nvSpPr>
          <p:cNvPr id="13" name="Carte 5 min"/>
          <p:cNvSpPr/>
          <p:nvPr/>
        </p:nvSpPr>
        <p:spPr>
          <a:xfrm>
            <a:off x="6278728" y="1463040"/>
            <a:ext cx="2499284" cy="3383280"/>
          </a:xfrm>
          <a:prstGeom prst="roundRect">
            <a:avLst>
              <a:gd name="adj" fmla="val 3659"/>
            </a:avLst>
          </a:prstGeom>
          <a:solidFill>
            <a:schemeClr val="bg2"/>
          </a:solidFill>
          <a:ln/>
        </p:spPr>
      </p:sp>
      <p:sp>
        <p:nvSpPr>
          <p:cNvPr id="14" name="Icône 5 min"/>
          <p:cNvSpPr/>
          <p:nvPr/>
        </p:nvSpPr>
        <p:spPr>
          <a:xfrm>
            <a:off x="6598768" y="1783080"/>
            <a:ext cx="640080" cy="640080"/>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6758788" y="1943100"/>
            <a:ext cx="320040" cy="320040"/>
          </a:xfrm>
          <a:prstGeom prst="rect">
            <a:avLst/>
          </a:prstGeom>
        </p:spPr>
      </p:pic>
      <p:sp>
        <p:nvSpPr>
          <p:cNvPr id="16" name="Text 11"/>
          <p:cNvSpPr txBox="1"/>
          <p:nvPr/>
        </p:nvSpPr>
        <p:spPr>
          <a:xfrm>
            <a:off x="6598768" y="2651760"/>
            <a:ext cx="1859204" cy="914400"/>
          </a:xfrm>
          <a:prstGeom prst="rect">
            <a:avLst/>
          </a:prstGeom>
          <a:noFill/>
          <a:ln/>
        </p:spPr>
        <p:txBody>
          <a:bodyPr wrap="square" lIns="0" tIns="0" rIns="0" bIns="0" rtlCol="0" anchor="ctr"/>
          <a:lstStyle/>
          <a:p>
            <a:pPr indent="0" marL="0">
              <a:buNone/>
            </a:pPr>
            <a:r>
              <a:rPr lang="en-US" sz="4400" b="1" dirty="0">
                <a:solidFill>
                  <a:schemeClr val="accent3"/>
                </a:solidFill>
                <a:latin typeface="+mj-lt" pitchFamily="34" charset="0"/>
                <a:ea typeface="+mj-lt" pitchFamily="34" charset="-122"/>
                <a:cs typeface="+mj-lt" pitchFamily="34" charset="-120"/>
              </a:rPr>
              <a:t>5 min</a:t>
            </a:r>
            <a:endParaRPr lang="en-US" sz="4400" dirty="0"/>
          </a:p>
        </p:txBody>
      </p:sp>
      <p:sp>
        <p:nvSpPr>
          <p:cNvPr id="17" name="Text 12"/>
          <p:cNvSpPr txBox="1"/>
          <p:nvPr/>
        </p:nvSpPr>
        <p:spPr>
          <a:xfrm>
            <a:off x="6598768" y="3657600"/>
            <a:ext cx="1859204" cy="1005840"/>
          </a:xfrm>
          <a:prstGeom prst="rect">
            <a:avLst/>
          </a:prstGeom>
          <a:noFill/>
          <a:ln/>
        </p:spPr>
        <p:txBody>
          <a:bodyPr wrap="square" lIns="0" tIns="0" rIns="0" bIns="0" rtlCol="0" anchor="t"/>
          <a:lstStyle/>
          <a:p>
            <a:pPr indent="0" marL="0">
              <a:buNone/>
            </a:pPr>
            <a:r>
              <a:rPr lang="en-US" sz="1600" dirty="0">
                <a:solidFill>
                  <a:schemeClr val="tx2"/>
                </a:solidFill>
              </a:rPr>
              <a:t>entre deux appels Vélib’ et perturbations</a:t>
            </a:r>
            <a:endParaRPr lang="en-US" sz="1600" dirty="0"/>
          </a:p>
        </p:txBody>
      </p:sp>
      <p:sp>
        <p:nvSpPr>
          <p:cNvPr id="18" name="Carte ≈ 4 Go"/>
          <p:cNvSpPr/>
          <p:nvPr/>
        </p:nvSpPr>
        <p:spPr>
          <a:xfrm>
            <a:off x="9143771" y="1463040"/>
            <a:ext cx="2499284" cy="3383280"/>
          </a:xfrm>
          <a:prstGeom prst="roundRect">
            <a:avLst>
              <a:gd name="adj" fmla="val 3659"/>
            </a:avLst>
          </a:prstGeom>
          <a:solidFill>
            <a:schemeClr val="bg2"/>
          </a:solidFill>
          <a:ln/>
        </p:spPr>
      </p:sp>
      <p:sp>
        <p:nvSpPr>
          <p:cNvPr id="19" name="Icône ≈ 4 Go"/>
          <p:cNvSpPr/>
          <p:nvPr/>
        </p:nvSpPr>
        <p:spPr>
          <a:xfrm>
            <a:off x="9463811" y="1783080"/>
            <a:ext cx="640080" cy="640080"/>
          </a:xfrm>
          <a:prstGeom prst="ellipse">
            <a:avLst/>
          </a:prstGeom>
          <a:solidFill>
            <a:schemeClr val="accent5"/>
          </a:solidFill>
          <a:ln/>
        </p:spPr>
      </p:sp>
      <p:pic>
        <p:nvPicPr>
          <p:cNvPr id="20" name="Image 3" descr="preencoded.png">    </p:cNvPr>
          <p:cNvPicPr>
            <a:picLocks noChangeAspect="1"/>
          </p:cNvPicPr>
          <p:nvPr/>
        </p:nvPicPr>
        <p:blipFill>
          <a:blip r:embed="rId4"/>
          <a:stretch>
            <a:fillRect/>
          </a:stretch>
        </p:blipFill>
        <p:spPr>
          <a:xfrm>
            <a:off x="9623831" y="1943100"/>
            <a:ext cx="320040" cy="320040"/>
          </a:xfrm>
          <a:prstGeom prst="rect">
            <a:avLst/>
          </a:prstGeom>
        </p:spPr>
      </p:pic>
      <p:sp>
        <p:nvSpPr>
          <p:cNvPr id="21" name="Text 15"/>
          <p:cNvSpPr txBox="1"/>
          <p:nvPr/>
        </p:nvSpPr>
        <p:spPr>
          <a:xfrm>
            <a:off x="9463811" y="2651760"/>
            <a:ext cx="1859204" cy="914400"/>
          </a:xfrm>
          <a:prstGeom prst="rect">
            <a:avLst/>
          </a:prstGeom>
          <a:noFill/>
          <a:ln/>
        </p:spPr>
        <p:txBody>
          <a:bodyPr wrap="square" lIns="0" tIns="0" rIns="0" bIns="0" rtlCol="0" anchor="ctr"/>
          <a:lstStyle/>
          <a:p>
            <a:pPr indent="0" marL="0">
              <a:buNone/>
            </a:pPr>
            <a:r>
              <a:rPr lang="en-US" sz="4400" b="1" dirty="0">
                <a:solidFill>
                  <a:schemeClr val="accent5"/>
                </a:solidFill>
                <a:latin typeface="+mj-lt" pitchFamily="34" charset="0"/>
                <a:ea typeface="+mj-lt" pitchFamily="34" charset="-122"/>
                <a:cs typeface="+mj-lt" pitchFamily="34" charset="-120"/>
              </a:rPr>
              <a:t>≈ 4 Go</a:t>
            </a:r>
            <a:endParaRPr lang="en-US" sz="4400" dirty="0"/>
          </a:p>
        </p:txBody>
      </p:sp>
      <p:sp>
        <p:nvSpPr>
          <p:cNvPr id="22" name="Text 16"/>
          <p:cNvSpPr txBox="1"/>
          <p:nvPr/>
        </p:nvSpPr>
        <p:spPr>
          <a:xfrm>
            <a:off x="9463811" y="3657600"/>
            <a:ext cx="1859204" cy="1005840"/>
          </a:xfrm>
          <a:prstGeom prst="rect">
            <a:avLst/>
          </a:prstGeom>
          <a:noFill/>
          <a:ln/>
        </p:spPr>
        <p:txBody>
          <a:bodyPr wrap="square" lIns="0" tIns="0" rIns="0" bIns="0" rtlCol="0" anchor="t"/>
          <a:lstStyle/>
          <a:p>
            <a:pPr indent="0" marL="0">
              <a:buNone/>
            </a:pPr>
            <a:r>
              <a:rPr lang="en-US" sz="1600" dirty="0">
                <a:solidFill>
                  <a:schemeClr val="tx2"/>
                </a:solidFill>
              </a:rPr>
              <a:t>bruts sur la semaine, toutes sources</a:t>
            </a:r>
            <a:endParaRPr lang="en-US" sz="1600" dirty="0"/>
          </a:p>
        </p:txBody>
      </p:sp>
      <p:sp>
        <p:nvSpPr>
          <p:cNvPr id="23" name="Text 17"/>
          <p:cNvSpPr txBox="1"/>
          <p:nvPr/>
        </p:nvSpPr>
        <p:spPr>
          <a:xfrm>
            <a:off x="548640" y="5120640"/>
            <a:ext cx="11094415" cy="685800"/>
          </a:xfrm>
          <a:prstGeom prst="rect">
            <a:avLst/>
          </a:prstGeom>
          <a:noFill/>
          <a:ln/>
        </p:spPr>
        <p:txBody>
          <a:bodyPr wrap="square" lIns="0" tIns="0" rIns="0" bIns="0" rtlCol="0" anchor="t"/>
          <a:lstStyle/>
          <a:p>
            <a:pPr indent="0" marL="0">
              <a:buNone/>
            </a:pPr>
            <a:r>
              <a:rPr lang="en-US" sz="1600" b="1" dirty="0">
                <a:solidFill>
                  <a:schemeClr val="tx2"/>
                </a:solidFill>
              </a:rPr>
              <a:t>Calcul : </a:t>
            </a:r>
            <a:pPr indent="0" marL="0">
              <a:buNone/>
            </a:pPr>
            <a:r>
              <a:rPr lang="en-US" sz="1600" dirty="0">
                <a:solidFill>
                  <a:schemeClr val="tx2"/>
                </a:solidFill>
              </a:rPr>
              <a:t>Vélib’ ≈ 134 Mo/jour + perturbations PRIM ≈ 415 Mo/jour ≈ 550 Mo/jour brut, soit ≈ 4 Go en 7 jours (beaucoup moins une fois compressé en Parquet).</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Six sources à croiser</a:t>
            </a:r>
            <a:endParaRPr lang="en-US" sz="3400" dirty="0"/>
          </a:p>
        </p:txBody>
      </p:sp>
      <p:sp>
        <p:nvSpPr>
          <p:cNvPr id="3" name="Carte Vélib’ – station_status"/>
          <p:cNvSpPr/>
          <p:nvPr/>
        </p:nvSpPr>
        <p:spPr>
          <a:xfrm>
            <a:off x="548640" y="1325880"/>
            <a:ext cx="3515258" cy="2240280"/>
          </a:xfrm>
          <a:prstGeom prst="roundRect">
            <a:avLst>
              <a:gd name="adj" fmla="val 4082"/>
            </a:avLst>
          </a:prstGeom>
          <a:solidFill>
            <a:schemeClr val="bg2"/>
          </a:solidFill>
          <a:ln/>
        </p:spPr>
      </p:sp>
      <p:sp>
        <p:nvSpPr>
          <p:cNvPr id="4" name="Icône Vélib’ – station_status"/>
          <p:cNvSpPr/>
          <p:nvPr/>
        </p:nvSpPr>
        <p:spPr>
          <a:xfrm>
            <a:off x="777240" y="1554480"/>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2970" y="1680210"/>
            <a:ext cx="251460" cy="251460"/>
          </a:xfrm>
          <a:prstGeom prst="rect">
            <a:avLst/>
          </a:prstGeom>
        </p:spPr>
      </p:pic>
      <p:sp>
        <p:nvSpPr>
          <p:cNvPr id="6" name="Text 3"/>
          <p:cNvSpPr txBox="1"/>
          <p:nvPr/>
        </p:nvSpPr>
        <p:spPr>
          <a:xfrm>
            <a:off x="1417320" y="15270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Vélib’ – station_status</a:t>
            </a:r>
            <a:endParaRPr lang="en-US" sz="1500" dirty="0"/>
          </a:p>
        </p:txBody>
      </p:sp>
      <p:sp>
        <p:nvSpPr>
          <p:cNvPr id="7" name="Text 4"/>
          <p:cNvSpPr txBox="1"/>
          <p:nvPr/>
        </p:nvSpPr>
        <p:spPr>
          <a:xfrm>
            <a:off x="777240" y="2148840"/>
            <a:ext cx="3058058" cy="713232"/>
          </a:xfrm>
          <a:prstGeom prst="rect">
            <a:avLst/>
          </a:prstGeom>
          <a:noFill/>
          <a:ln/>
        </p:spPr>
        <p:txBody>
          <a:bodyPr wrap="square" lIns="0" tIns="0" rIns="0" bIns="0" rtlCol="0" anchor="t"/>
          <a:lstStyle/>
          <a:p>
            <a:pPr indent="0" marL="0">
              <a:buNone/>
            </a:pPr>
            <a:r>
              <a:rPr lang="en-US" sz="1400" dirty="0">
                <a:solidFill>
                  <a:schemeClr val="tx1"/>
                </a:solidFill>
              </a:rPr>
              <a:t>Vélos méca / électriques et bornes libres par station. Public, sans clé.</a:t>
            </a:r>
            <a:endParaRPr lang="en-US" sz="1400" dirty="0"/>
          </a:p>
        </p:txBody>
      </p:sp>
      <p:sp>
        <p:nvSpPr>
          <p:cNvPr id="8" name="Text 5"/>
          <p:cNvSpPr txBox="1"/>
          <p:nvPr/>
        </p:nvSpPr>
        <p:spPr>
          <a:xfrm>
            <a:off x="777240" y="28986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JSON imbriqué</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MAJ 1 min, collecte 5 min</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 134 Mo/jour</a:t>
            </a:r>
            <a:endParaRPr lang="en-US" sz="1200" dirty="0"/>
          </a:p>
        </p:txBody>
      </p:sp>
      <p:sp>
        <p:nvSpPr>
          <p:cNvPr id="9" name="Carte Vélib’ – station_information"/>
          <p:cNvSpPr/>
          <p:nvPr/>
        </p:nvSpPr>
        <p:spPr>
          <a:xfrm>
            <a:off x="4338218" y="1325880"/>
            <a:ext cx="3515258" cy="2240280"/>
          </a:xfrm>
          <a:prstGeom prst="roundRect">
            <a:avLst>
              <a:gd name="adj" fmla="val 4082"/>
            </a:avLst>
          </a:prstGeom>
          <a:solidFill>
            <a:schemeClr val="bg2"/>
          </a:solidFill>
          <a:ln/>
        </p:spPr>
      </p:sp>
      <p:sp>
        <p:nvSpPr>
          <p:cNvPr id="10" name="Icône Vélib’ – station_information"/>
          <p:cNvSpPr/>
          <p:nvPr/>
        </p:nvSpPr>
        <p:spPr>
          <a:xfrm>
            <a:off x="4566818" y="1554480"/>
            <a:ext cx="502920" cy="502920"/>
          </a:xfrm>
          <a:prstGeom prst="ellipse">
            <a:avLst/>
          </a:prstGeom>
          <a:solidFill>
            <a:schemeClr val="tx2"/>
          </a:solidFill>
          <a:ln/>
        </p:spPr>
      </p:sp>
      <p:pic>
        <p:nvPicPr>
          <p:cNvPr id="11" name="Image 1" descr="preencoded.png">    </p:cNvPr>
          <p:cNvPicPr>
            <a:picLocks noChangeAspect="1"/>
          </p:cNvPicPr>
          <p:nvPr/>
        </p:nvPicPr>
        <p:blipFill>
          <a:blip r:embed="rId2"/>
          <a:stretch>
            <a:fillRect/>
          </a:stretch>
        </p:blipFill>
        <p:spPr>
          <a:xfrm>
            <a:off x="4692548" y="1680210"/>
            <a:ext cx="251460" cy="251460"/>
          </a:xfrm>
          <a:prstGeom prst="rect">
            <a:avLst/>
          </a:prstGeom>
        </p:spPr>
      </p:pic>
      <p:sp>
        <p:nvSpPr>
          <p:cNvPr id="12" name="Text 8"/>
          <p:cNvSpPr txBox="1"/>
          <p:nvPr/>
        </p:nvSpPr>
        <p:spPr>
          <a:xfrm>
            <a:off x="5206898" y="15270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Vélib’ – station_information</a:t>
            </a:r>
            <a:endParaRPr lang="en-US" sz="1500" dirty="0"/>
          </a:p>
        </p:txBody>
      </p:sp>
      <p:sp>
        <p:nvSpPr>
          <p:cNvPr id="13" name="Text 9"/>
          <p:cNvSpPr txBox="1"/>
          <p:nvPr/>
        </p:nvSpPr>
        <p:spPr>
          <a:xfrm>
            <a:off x="4566818" y="2148840"/>
            <a:ext cx="3058058" cy="713232"/>
          </a:xfrm>
          <a:prstGeom prst="rect">
            <a:avLst/>
          </a:prstGeom>
          <a:noFill/>
          <a:ln/>
        </p:spPr>
        <p:txBody>
          <a:bodyPr wrap="square" lIns="0" tIns="0" rIns="0" bIns="0" rtlCol="0" anchor="t"/>
          <a:lstStyle/>
          <a:p>
            <a:pPr indent="0" marL="0">
              <a:buNone/>
            </a:pPr>
            <a:r>
              <a:rPr lang="en-US" sz="1400" dirty="0">
                <a:solidFill>
                  <a:schemeClr val="tx1"/>
                </a:solidFill>
              </a:rPr>
              <a:t>Nom, coordonnées (lat/lon) et capacité de chaque station.</a:t>
            </a:r>
            <a:endParaRPr lang="en-US" sz="1400" dirty="0"/>
          </a:p>
        </p:txBody>
      </p:sp>
      <p:sp>
        <p:nvSpPr>
          <p:cNvPr id="14" name="Text 10"/>
          <p:cNvSpPr txBox="1"/>
          <p:nvPr/>
        </p:nvSpPr>
        <p:spPr>
          <a:xfrm>
            <a:off x="4566818" y="28986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JSON</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Quasi statique, 1×/jour</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Quelques centaines de Ko</a:t>
            </a:r>
            <a:endParaRPr lang="en-US" sz="1200" dirty="0"/>
          </a:p>
        </p:txBody>
      </p:sp>
      <p:sp>
        <p:nvSpPr>
          <p:cNvPr id="15" name="Carte Open-Meteo (API)"/>
          <p:cNvSpPr/>
          <p:nvPr/>
        </p:nvSpPr>
        <p:spPr>
          <a:xfrm>
            <a:off x="8127797" y="1325880"/>
            <a:ext cx="3515258" cy="2240280"/>
          </a:xfrm>
          <a:prstGeom prst="roundRect">
            <a:avLst>
              <a:gd name="adj" fmla="val 4082"/>
            </a:avLst>
          </a:prstGeom>
          <a:solidFill>
            <a:schemeClr val="bg2"/>
          </a:solidFill>
          <a:ln/>
        </p:spPr>
      </p:sp>
      <p:sp>
        <p:nvSpPr>
          <p:cNvPr id="16" name="Icône Open-Meteo (API)"/>
          <p:cNvSpPr/>
          <p:nvPr/>
        </p:nvSpPr>
        <p:spPr>
          <a:xfrm>
            <a:off x="8356397" y="1554480"/>
            <a:ext cx="502920" cy="502920"/>
          </a:xfrm>
          <a:prstGeom prst="ellipse">
            <a:avLst/>
          </a:prstGeom>
          <a:solidFill>
            <a:schemeClr val="accent2"/>
          </a:solidFill>
          <a:ln/>
        </p:spPr>
      </p:sp>
      <p:pic>
        <p:nvPicPr>
          <p:cNvPr id="17" name="Image 2" descr="preencoded.png">    </p:cNvPr>
          <p:cNvPicPr>
            <a:picLocks noChangeAspect="1"/>
          </p:cNvPicPr>
          <p:nvPr/>
        </p:nvPicPr>
        <p:blipFill>
          <a:blip r:embed="rId3"/>
          <a:stretch>
            <a:fillRect/>
          </a:stretch>
        </p:blipFill>
        <p:spPr>
          <a:xfrm>
            <a:off x="8482127" y="1680210"/>
            <a:ext cx="251460" cy="251460"/>
          </a:xfrm>
          <a:prstGeom prst="rect">
            <a:avLst/>
          </a:prstGeom>
        </p:spPr>
      </p:pic>
      <p:sp>
        <p:nvSpPr>
          <p:cNvPr id="18" name="Text 13"/>
          <p:cNvSpPr txBox="1"/>
          <p:nvPr/>
        </p:nvSpPr>
        <p:spPr>
          <a:xfrm>
            <a:off x="8996477" y="15270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Open-Meteo (API)</a:t>
            </a:r>
            <a:endParaRPr lang="en-US" sz="1500" dirty="0"/>
          </a:p>
        </p:txBody>
      </p:sp>
      <p:sp>
        <p:nvSpPr>
          <p:cNvPr id="19" name="Text 14"/>
          <p:cNvSpPr txBox="1"/>
          <p:nvPr/>
        </p:nvSpPr>
        <p:spPr>
          <a:xfrm>
            <a:off x="8356397" y="2148840"/>
            <a:ext cx="3058058" cy="713232"/>
          </a:xfrm>
          <a:prstGeom prst="rect">
            <a:avLst/>
          </a:prstGeom>
          <a:noFill/>
          <a:ln/>
        </p:spPr>
        <p:txBody>
          <a:bodyPr wrap="square" lIns="0" tIns="0" rIns="0" bIns="0" rtlCol="0" anchor="t"/>
          <a:lstStyle/>
          <a:p>
            <a:pPr indent="0" marL="0">
              <a:buNone/>
            </a:pPr>
            <a:r>
              <a:rPr lang="en-US" sz="1400" dirty="0">
                <a:solidFill>
                  <a:schemeClr val="tx1"/>
                </a:solidFill>
              </a:rPr>
              <a:t>Température et précipitations horaires au centre de Paris. Sans clé.</a:t>
            </a:r>
            <a:endParaRPr lang="en-US" sz="1400" dirty="0"/>
          </a:p>
        </p:txBody>
      </p:sp>
      <p:sp>
        <p:nvSpPr>
          <p:cNvPr id="20" name="Text 15"/>
          <p:cNvSpPr txBox="1"/>
          <p:nvPr/>
        </p:nvSpPr>
        <p:spPr>
          <a:xfrm>
            <a:off x="8356397" y="28986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JSON en colonnes</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Horaire, 1×/jour</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 168 lignes/semaine</a:t>
            </a:r>
            <a:endParaRPr lang="en-US" sz="1200" dirty="0"/>
          </a:p>
        </p:txBody>
      </p:sp>
      <p:sp>
        <p:nvSpPr>
          <p:cNvPr id="21" name="Carte Info Trafic – PRIM (IDFM)"/>
          <p:cNvSpPr/>
          <p:nvPr/>
        </p:nvSpPr>
        <p:spPr>
          <a:xfrm>
            <a:off x="548640" y="3840480"/>
            <a:ext cx="3515258" cy="2240280"/>
          </a:xfrm>
          <a:prstGeom prst="roundRect">
            <a:avLst>
              <a:gd name="adj" fmla="val 4082"/>
            </a:avLst>
          </a:prstGeom>
          <a:solidFill>
            <a:schemeClr val="bg2"/>
          </a:solidFill>
          <a:ln/>
        </p:spPr>
      </p:sp>
      <p:sp>
        <p:nvSpPr>
          <p:cNvPr id="22" name="Icône Info Trafic – PRIM (IDFM)"/>
          <p:cNvSpPr/>
          <p:nvPr/>
        </p:nvSpPr>
        <p:spPr>
          <a:xfrm>
            <a:off x="777240" y="4069080"/>
            <a:ext cx="502920" cy="502920"/>
          </a:xfrm>
          <a:prstGeom prst="ellipse">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902970" y="4194810"/>
            <a:ext cx="251460" cy="251460"/>
          </a:xfrm>
          <a:prstGeom prst="rect">
            <a:avLst/>
          </a:prstGeom>
        </p:spPr>
      </p:pic>
      <p:sp>
        <p:nvSpPr>
          <p:cNvPr id="24" name="Text 18"/>
          <p:cNvSpPr txBox="1"/>
          <p:nvPr/>
        </p:nvSpPr>
        <p:spPr>
          <a:xfrm>
            <a:off x="1417320" y="40416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Info Trafic – PRIM (IDFM)</a:t>
            </a:r>
            <a:endParaRPr lang="en-US" sz="1500" dirty="0"/>
          </a:p>
        </p:txBody>
      </p:sp>
      <p:sp>
        <p:nvSpPr>
          <p:cNvPr id="25" name="Text 19"/>
          <p:cNvSpPr txBox="1"/>
          <p:nvPr/>
        </p:nvSpPr>
        <p:spPr>
          <a:xfrm>
            <a:off x="777240" y="4663440"/>
            <a:ext cx="3058058" cy="713232"/>
          </a:xfrm>
          <a:prstGeom prst="rect">
            <a:avLst/>
          </a:prstGeom>
          <a:noFill/>
          <a:ln/>
        </p:spPr>
        <p:txBody>
          <a:bodyPr wrap="square" lIns="0" tIns="0" rIns="0" bIns="0" rtlCol="0" anchor="t"/>
          <a:lstStyle/>
          <a:p>
            <a:pPr indent="0" marL="0">
              <a:buNone/>
            </a:pPr>
            <a:r>
              <a:rPr lang="en-US" sz="1400" dirty="0">
                <a:solidFill>
                  <a:schemeClr val="tx1"/>
                </a:solidFill>
              </a:rPr>
              <a:t>Arrêts touchés, période, gravité, cause. Clé gratuite, 1 000 appels/jour, sans historique.</a:t>
            </a:r>
            <a:endParaRPr lang="en-US" sz="1400" dirty="0"/>
          </a:p>
        </p:txBody>
      </p:sp>
      <p:sp>
        <p:nvSpPr>
          <p:cNvPr id="26" name="Text 20"/>
          <p:cNvSpPr txBox="1"/>
          <p:nvPr/>
        </p:nvSpPr>
        <p:spPr>
          <a:xfrm>
            <a:off x="777240" y="54132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JSON</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Temps réel, collecte 5 min</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 1,4 Mo/appel, ≈ 415 Mo/jour</a:t>
            </a:r>
            <a:endParaRPr lang="en-US" sz="1200" dirty="0"/>
          </a:p>
        </p:txBody>
      </p:sp>
      <p:sp>
        <p:nvSpPr>
          <p:cNvPr id="27" name="Carte Référentiel arrêts-lignes IDFM"/>
          <p:cNvSpPr/>
          <p:nvPr/>
        </p:nvSpPr>
        <p:spPr>
          <a:xfrm>
            <a:off x="4338218" y="3840480"/>
            <a:ext cx="3515258" cy="2240280"/>
          </a:xfrm>
          <a:prstGeom prst="roundRect">
            <a:avLst>
              <a:gd name="adj" fmla="val 4082"/>
            </a:avLst>
          </a:prstGeom>
          <a:solidFill>
            <a:schemeClr val="bg2"/>
          </a:solidFill>
          <a:ln/>
        </p:spPr>
      </p:sp>
      <p:sp>
        <p:nvSpPr>
          <p:cNvPr id="28" name="Icône Référentiel arrêts-lignes IDFM"/>
          <p:cNvSpPr/>
          <p:nvPr/>
        </p:nvSpPr>
        <p:spPr>
          <a:xfrm>
            <a:off x="4566818" y="4069080"/>
            <a:ext cx="502920" cy="502920"/>
          </a:xfrm>
          <a:prstGeom prst="ellipse">
            <a:avLst/>
          </a:prstGeom>
          <a:solidFill>
            <a:schemeClr val="accent3"/>
          </a:solidFill>
          <a:ln/>
        </p:spPr>
      </p:sp>
      <p:pic>
        <p:nvPicPr>
          <p:cNvPr id="29" name="Image 4" descr="preencoded.png">    </p:cNvPr>
          <p:cNvPicPr>
            <a:picLocks noChangeAspect="1"/>
          </p:cNvPicPr>
          <p:nvPr/>
        </p:nvPicPr>
        <p:blipFill>
          <a:blip r:embed="rId5"/>
          <a:stretch>
            <a:fillRect/>
          </a:stretch>
        </p:blipFill>
        <p:spPr>
          <a:xfrm>
            <a:off x="4692548" y="4194810"/>
            <a:ext cx="251460" cy="251460"/>
          </a:xfrm>
          <a:prstGeom prst="rect">
            <a:avLst/>
          </a:prstGeom>
        </p:spPr>
      </p:pic>
      <p:sp>
        <p:nvSpPr>
          <p:cNvPr id="30" name="Text 23"/>
          <p:cNvSpPr txBox="1"/>
          <p:nvPr/>
        </p:nvSpPr>
        <p:spPr>
          <a:xfrm>
            <a:off x="5206898" y="40416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Référentiel arrêts-lignes IDFM</a:t>
            </a:r>
            <a:endParaRPr lang="en-US" sz="1500" dirty="0"/>
          </a:p>
        </p:txBody>
      </p:sp>
      <p:sp>
        <p:nvSpPr>
          <p:cNvPr id="31" name="Text 24"/>
          <p:cNvSpPr txBox="1"/>
          <p:nvPr/>
        </p:nvSpPr>
        <p:spPr>
          <a:xfrm>
            <a:off x="4566818" y="4663440"/>
            <a:ext cx="3058058" cy="713232"/>
          </a:xfrm>
          <a:prstGeom prst="rect">
            <a:avLst/>
          </a:prstGeom>
          <a:noFill/>
          <a:ln/>
        </p:spPr>
        <p:txBody>
          <a:bodyPr wrap="square" lIns="0" tIns="0" rIns="0" bIns="0" rtlCol="0" anchor="t"/>
          <a:lstStyle/>
          <a:p>
            <a:pPr indent="0" marL="0">
              <a:buNone/>
            </a:pPr>
            <a:r>
              <a:rPr lang="en-US" sz="1400" dirty="0">
                <a:solidFill>
                  <a:schemeClr val="tx1"/>
                </a:solidFill>
              </a:rPr>
              <a:t>35 536 arrêts et 2 026 lignes géolocalisés, pour relier stations et arrêts. ODbL.</a:t>
            </a:r>
            <a:endParaRPr lang="en-US" sz="1400" dirty="0"/>
          </a:p>
        </p:txBody>
      </p:sp>
      <p:sp>
        <p:nvSpPr>
          <p:cNvPr id="32" name="Text 25"/>
          <p:cNvSpPr txBox="1"/>
          <p:nvPr/>
        </p:nvSpPr>
        <p:spPr>
          <a:xfrm>
            <a:off x="4566818" y="54132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CSV</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MAJ quotidienne, 1×/jour</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 13,9 Mo</a:t>
            </a:r>
            <a:endParaRPr lang="en-US" sz="1200" dirty="0"/>
          </a:p>
        </p:txBody>
      </p:sp>
      <p:sp>
        <p:nvSpPr>
          <p:cNvPr id="33" name="Carte Calendrier"/>
          <p:cNvSpPr/>
          <p:nvPr/>
        </p:nvSpPr>
        <p:spPr>
          <a:xfrm>
            <a:off x="8127797" y="3840480"/>
            <a:ext cx="3515258" cy="2240280"/>
          </a:xfrm>
          <a:prstGeom prst="roundRect">
            <a:avLst>
              <a:gd name="adj" fmla="val 4082"/>
            </a:avLst>
          </a:prstGeom>
          <a:solidFill>
            <a:schemeClr val="bg2"/>
          </a:solidFill>
          <a:ln/>
        </p:spPr>
      </p:sp>
      <p:sp>
        <p:nvSpPr>
          <p:cNvPr id="34" name="Icône Calendrier"/>
          <p:cNvSpPr/>
          <p:nvPr/>
        </p:nvSpPr>
        <p:spPr>
          <a:xfrm>
            <a:off x="8356397" y="4069080"/>
            <a:ext cx="502920" cy="502920"/>
          </a:xfrm>
          <a:prstGeom prst="ellipse">
            <a:avLst/>
          </a:prstGeom>
          <a:solidFill>
            <a:schemeClr val="accent6"/>
          </a:solidFill>
          <a:ln/>
        </p:spPr>
      </p:sp>
      <p:pic>
        <p:nvPicPr>
          <p:cNvPr id="35" name="Image 5" descr="preencoded.png">    </p:cNvPr>
          <p:cNvPicPr>
            <a:picLocks noChangeAspect="1"/>
          </p:cNvPicPr>
          <p:nvPr/>
        </p:nvPicPr>
        <p:blipFill>
          <a:blip r:embed="rId6"/>
          <a:stretch>
            <a:fillRect/>
          </a:stretch>
        </p:blipFill>
        <p:spPr>
          <a:xfrm>
            <a:off x="8482127" y="4194810"/>
            <a:ext cx="251460" cy="251460"/>
          </a:xfrm>
          <a:prstGeom prst="rect">
            <a:avLst/>
          </a:prstGeom>
        </p:spPr>
      </p:pic>
      <p:sp>
        <p:nvSpPr>
          <p:cNvPr id="36" name="Text 28"/>
          <p:cNvSpPr txBox="1"/>
          <p:nvPr/>
        </p:nvSpPr>
        <p:spPr>
          <a:xfrm>
            <a:off x="8996477" y="4041648"/>
            <a:ext cx="2463698" cy="56692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Calendrier</a:t>
            </a:r>
            <a:endParaRPr lang="en-US" sz="1500" dirty="0"/>
          </a:p>
        </p:txBody>
      </p:sp>
      <p:sp>
        <p:nvSpPr>
          <p:cNvPr id="37" name="Text 29"/>
          <p:cNvSpPr txBox="1"/>
          <p:nvPr/>
        </p:nvSpPr>
        <p:spPr>
          <a:xfrm>
            <a:off x="8356397" y="4663440"/>
            <a:ext cx="3058058" cy="713232"/>
          </a:xfrm>
          <a:prstGeom prst="rect">
            <a:avLst/>
          </a:prstGeom>
          <a:noFill/>
          <a:ln/>
        </p:spPr>
        <p:txBody>
          <a:bodyPr wrap="square" lIns="0" tIns="0" rIns="0" bIns="0" rtlCol="0" anchor="t"/>
          <a:lstStyle/>
          <a:p>
            <a:pPr indent="0" marL="0">
              <a:buNone/>
            </a:pPr>
            <a:r>
              <a:rPr lang="en-US" sz="1400" dirty="0">
                <a:solidFill>
                  <a:schemeClr val="tx1"/>
                </a:solidFill>
              </a:rPr>
              <a:t>Jours fériés et vacances : variable explicative (week-end, férié).</a:t>
            </a:r>
            <a:endParaRPr lang="en-US" sz="1400" dirty="0"/>
          </a:p>
        </p:txBody>
      </p:sp>
      <p:sp>
        <p:nvSpPr>
          <p:cNvPr id="38" name="Text 30"/>
          <p:cNvSpPr txBox="1"/>
          <p:nvPr/>
        </p:nvSpPr>
        <p:spPr>
          <a:xfrm>
            <a:off x="8356397" y="5413248"/>
            <a:ext cx="3058058" cy="566928"/>
          </a:xfrm>
          <a:prstGeom prst="rect">
            <a:avLst/>
          </a:prstGeom>
          <a:noFill/>
          <a:ln/>
        </p:spPr>
        <p:txBody>
          <a:bodyPr wrap="square" lIns="0" tIns="0" rIns="0" bIns="0" rtlCol="0" anchor="t"/>
          <a:lstStyle/>
          <a:p>
            <a:pPr indent="0" marL="0">
              <a:buNone/>
            </a:pPr>
            <a:r>
              <a:rPr lang="en-US" sz="1200" b="1" dirty="0">
                <a:solidFill>
                  <a:schemeClr val="tx2"/>
                </a:solidFill>
              </a:rPr>
              <a:t>Format : </a:t>
            </a:r>
            <a:pPr indent="0" marL="0">
              <a:buNone/>
            </a:pPr>
            <a:r>
              <a:rPr lang="en-US" sz="1200" dirty="0">
                <a:solidFill>
                  <a:schemeClr val="tx2"/>
                </a:solidFill>
              </a:rPr>
              <a:t>CSV</a:t>
            </a:r>
            <a:endParaRPr lang="en-US" sz="1200" dirty="0"/>
          </a:p>
          <a:p>
            <a:pPr indent="0" marL="0">
              <a:buNone/>
            </a:pPr>
            <a:r>
              <a:rPr lang="en-US" sz="1200" b="1" dirty="0">
                <a:solidFill>
                  <a:schemeClr val="tx2"/>
                </a:solidFill>
              </a:rPr>
              <a:t>Fréquence : </a:t>
            </a:r>
            <a:pPr indent="0" marL="0">
              <a:buNone/>
            </a:pPr>
            <a:r>
              <a:rPr lang="en-US" sz="1200" dirty="0">
                <a:solidFill>
                  <a:schemeClr val="tx2"/>
                </a:solidFill>
              </a:rPr>
              <a:t>Statique</a:t>
            </a:r>
            <a:endParaRPr lang="en-US" sz="1200" dirty="0"/>
          </a:p>
          <a:p>
            <a:pPr indent="0" marL="0">
              <a:buNone/>
            </a:pPr>
            <a:r>
              <a:rPr lang="en-US" sz="1200" b="1" dirty="0">
                <a:solidFill>
                  <a:schemeClr val="tx2"/>
                </a:solidFill>
              </a:rPr>
              <a:t>Volume : </a:t>
            </a:r>
            <a:pPr indent="0" marL="0">
              <a:buNone/>
            </a:pPr>
            <a:r>
              <a:rPr lang="en-US" sz="1200" dirty="0">
                <a:solidFill>
                  <a:schemeClr val="tx2"/>
                </a:solidFill>
              </a:rPr>
              <a:t>Négligeable</a:t>
            </a:r>
            <a:endParaRPr lang="en-US" sz="12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rPr>
              <a:t>Pourquoi un datalake ?</a:t>
            </a:r>
            <a:endParaRPr lang="en-US" sz="3400" dirty="0"/>
          </a:p>
        </p:txBody>
      </p:sp>
      <p:sp>
        <p:nvSpPr>
          <p:cNvPr id="3" name="Icône Construire l’historique"/>
          <p:cNvSpPr/>
          <p:nvPr/>
        </p:nvSpPr>
        <p:spPr>
          <a:xfrm>
            <a:off x="548640" y="1691640"/>
            <a:ext cx="960120" cy="96012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88670" y="1931670"/>
            <a:ext cx="480060" cy="480060"/>
          </a:xfrm>
          <a:prstGeom prst="rect">
            <a:avLst/>
          </a:prstGeom>
        </p:spPr>
      </p:pic>
      <p:sp>
        <p:nvSpPr>
          <p:cNvPr id="5" name="Text 2"/>
          <p:cNvSpPr txBox="1"/>
          <p:nvPr/>
        </p:nvSpPr>
        <p:spPr>
          <a:xfrm>
            <a:off x="548640" y="2926080"/>
            <a:ext cx="3393338" cy="82296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Construire l’historique</a:t>
            </a:r>
            <a:endParaRPr lang="en-US" sz="2400" dirty="0"/>
          </a:p>
        </p:txBody>
      </p:sp>
      <p:sp>
        <p:nvSpPr>
          <p:cNvPr id="6" name="Text 3"/>
          <p:cNvSpPr txBox="1"/>
          <p:nvPr/>
        </p:nvSpPr>
        <p:spPr>
          <a:xfrm>
            <a:off x="548640" y="3886200"/>
            <a:ext cx="3210458" cy="1828800"/>
          </a:xfrm>
          <a:prstGeom prst="rect">
            <a:avLst/>
          </a:prstGeom>
          <a:noFill/>
          <a:ln/>
        </p:spPr>
        <p:txBody>
          <a:bodyPr wrap="square" lIns="0" tIns="0" rIns="0" bIns="0" rtlCol="0" anchor="t"/>
          <a:lstStyle/>
          <a:p>
            <a:pPr indent="0" marL="0">
              <a:lnSpc>
                <a:spcPct val="110000"/>
              </a:lnSpc>
              <a:buNone/>
            </a:pPr>
            <a:r>
              <a:rPr lang="en-US" sz="1800" dirty="0">
                <a:solidFill>
                  <a:schemeClr val="bg2"/>
                </a:solidFill>
              </a:rPr>
              <a:t>Ni Vélib’ ni PRIM ne gardent d’historique : les perturbations disparaissent ≈ 1 h après leur fin. Il faut tout archiver soi-même.</a:t>
            </a:r>
            <a:endParaRPr lang="en-US" sz="1800" dirty="0"/>
          </a:p>
        </p:txBody>
      </p:sp>
      <p:sp>
        <p:nvSpPr>
          <p:cNvPr id="7" name="Icône Formats et rythmes variés"/>
          <p:cNvSpPr/>
          <p:nvPr/>
        </p:nvSpPr>
        <p:spPr>
          <a:xfrm>
            <a:off x="4399178" y="1691640"/>
            <a:ext cx="960120" cy="960120"/>
          </a:xfrm>
          <a:prstGeom prst="ellipse">
            <a:avLst/>
          </a:prstGeom>
          <a:solidFill>
            <a:schemeClr val="accent2"/>
          </a:solidFill>
          <a:ln/>
        </p:spPr>
      </p:sp>
      <p:pic>
        <p:nvPicPr>
          <p:cNvPr id="8" name="Image 1" descr="preencoded.png">    </p:cNvPr>
          <p:cNvPicPr>
            <a:picLocks noChangeAspect="1"/>
          </p:cNvPicPr>
          <p:nvPr/>
        </p:nvPicPr>
        <p:blipFill>
          <a:blip r:embed="rId2"/>
          <a:stretch>
            <a:fillRect/>
          </a:stretch>
        </p:blipFill>
        <p:spPr>
          <a:xfrm>
            <a:off x="4639208" y="1931670"/>
            <a:ext cx="480060" cy="480060"/>
          </a:xfrm>
          <a:prstGeom prst="rect">
            <a:avLst/>
          </a:prstGeom>
        </p:spPr>
      </p:pic>
      <p:sp>
        <p:nvSpPr>
          <p:cNvPr id="9" name="Text 5"/>
          <p:cNvSpPr txBox="1"/>
          <p:nvPr/>
        </p:nvSpPr>
        <p:spPr>
          <a:xfrm>
            <a:off x="4399178" y="2926080"/>
            <a:ext cx="3393338" cy="82296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Formats et rythmes variés</a:t>
            </a:r>
            <a:endParaRPr lang="en-US" sz="2400" dirty="0"/>
          </a:p>
        </p:txBody>
      </p:sp>
      <p:sp>
        <p:nvSpPr>
          <p:cNvPr id="10" name="Text 6"/>
          <p:cNvSpPr txBox="1"/>
          <p:nvPr/>
        </p:nvSpPr>
        <p:spPr>
          <a:xfrm>
            <a:off x="4399178" y="3886200"/>
            <a:ext cx="3210458" cy="1828800"/>
          </a:xfrm>
          <a:prstGeom prst="rect">
            <a:avLst/>
          </a:prstGeom>
          <a:noFill/>
          <a:ln/>
        </p:spPr>
        <p:txBody>
          <a:bodyPr wrap="square" lIns="0" tIns="0" rIns="0" bIns="0" rtlCol="0" anchor="t"/>
          <a:lstStyle/>
          <a:p>
            <a:pPr indent="0" marL="0">
              <a:lnSpc>
                <a:spcPct val="110000"/>
              </a:lnSpc>
              <a:buNone/>
            </a:pPr>
            <a:r>
              <a:rPr lang="en-US" sz="1800" dirty="0">
                <a:solidFill>
                  <a:schemeClr val="bg2"/>
                </a:solidFill>
              </a:rPr>
              <a:t>JSON imbriqué à la minute, JSON horaire, messages de perturbation, CSV de référence.</a:t>
            </a:r>
            <a:endParaRPr lang="en-US" sz="1800" dirty="0"/>
          </a:p>
        </p:txBody>
      </p:sp>
      <p:sp>
        <p:nvSpPr>
          <p:cNvPr id="11" name="Icône Rejouer les transformations"/>
          <p:cNvSpPr/>
          <p:nvPr/>
        </p:nvSpPr>
        <p:spPr>
          <a:xfrm>
            <a:off x="8249717" y="1691640"/>
            <a:ext cx="960120" cy="960120"/>
          </a:xfrm>
          <a:prstGeom prst="ellipse">
            <a:avLst/>
          </a:prstGeom>
          <a:solidFill>
            <a:schemeClr val="accent3"/>
          </a:solidFill>
          <a:ln/>
        </p:spPr>
      </p:sp>
      <p:pic>
        <p:nvPicPr>
          <p:cNvPr id="12" name="Image 2" descr="preencoded.png">    </p:cNvPr>
          <p:cNvPicPr>
            <a:picLocks noChangeAspect="1"/>
          </p:cNvPicPr>
          <p:nvPr/>
        </p:nvPicPr>
        <p:blipFill>
          <a:blip r:embed="rId3"/>
          <a:stretch>
            <a:fillRect/>
          </a:stretch>
        </p:blipFill>
        <p:spPr>
          <a:xfrm>
            <a:off x="8489747" y="1931670"/>
            <a:ext cx="480060" cy="480060"/>
          </a:xfrm>
          <a:prstGeom prst="rect">
            <a:avLst/>
          </a:prstGeom>
        </p:spPr>
      </p:pic>
      <p:sp>
        <p:nvSpPr>
          <p:cNvPr id="13" name="Text 8"/>
          <p:cNvSpPr txBox="1"/>
          <p:nvPr/>
        </p:nvSpPr>
        <p:spPr>
          <a:xfrm>
            <a:off x="8249717" y="2926080"/>
            <a:ext cx="3393338" cy="82296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Rejouer les transformations</a:t>
            </a:r>
            <a:endParaRPr lang="en-US" sz="2400" dirty="0"/>
          </a:p>
        </p:txBody>
      </p:sp>
      <p:sp>
        <p:nvSpPr>
          <p:cNvPr id="14" name="Text 9"/>
          <p:cNvSpPr txBox="1"/>
          <p:nvPr/>
        </p:nvSpPr>
        <p:spPr>
          <a:xfrm>
            <a:off x="8249717" y="3886200"/>
            <a:ext cx="3210458" cy="1828800"/>
          </a:xfrm>
          <a:prstGeom prst="rect">
            <a:avLst/>
          </a:prstGeom>
          <a:noFill/>
          <a:ln/>
        </p:spPr>
        <p:txBody>
          <a:bodyPr wrap="square" lIns="0" tIns="0" rIns="0" bIns="0" rtlCol="0" anchor="t"/>
          <a:lstStyle/>
          <a:p>
            <a:pPr indent="0" marL="0">
              <a:lnSpc>
                <a:spcPct val="110000"/>
              </a:lnSpc>
              <a:buNone/>
            </a:pPr>
            <a:r>
              <a:rPr lang="en-US" sz="1800" dirty="0">
                <a:solidFill>
                  <a:schemeClr val="bg2"/>
                </a:solidFill>
              </a:rPr>
              <a:t>Le brut est conservé : on peut corriger une règle Silver ou Gold et tout recalculer.</a:t>
            </a:r>
            <a:endParaRPr lang="en-US" sz="18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médaillon sur Azure</a:t>
            </a:r>
            <a:endParaRPr lang="en-US" sz="3400" dirty="0"/>
          </a:p>
        </p:txBody>
      </p:sp>
      <p:sp>
        <p:nvSpPr>
          <p:cNvPr id="3" name="Zone Sources"/>
          <p:cNvSpPr/>
          <p:nvPr/>
        </p:nvSpPr>
        <p:spPr>
          <a:xfrm>
            <a:off x="548640" y="1417320"/>
            <a:ext cx="1874520" cy="2788920"/>
          </a:xfrm>
          <a:prstGeom prst="roundRect">
            <a:avLst>
              <a:gd name="adj" fmla="val 4878"/>
            </a:avLst>
          </a:prstGeom>
          <a:solidFill>
            <a:schemeClr val="bg2"/>
          </a:solidFill>
          <a:ln/>
        </p:spPr>
      </p:sp>
      <p:sp>
        <p:nvSpPr>
          <p:cNvPr id="4" name="Icône Sources"/>
          <p:cNvSpPr/>
          <p:nvPr/>
        </p:nvSpPr>
        <p:spPr>
          <a:xfrm>
            <a:off x="1120140" y="1691640"/>
            <a:ext cx="731520" cy="73152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1303020" y="1874520"/>
            <a:ext cx="365760" cy="365760"/>
          </a:xfrm>
          <a:prstGeom prst="rect">
            <a:avLst/>
          </a:prstGeom>
        </p:spPr>
      </p:pic>
      <p:sp>
        <p:nvSpPr>
          <p:cNvPr id="6" name="Text 3"/>
          <p:cNvSpPr txBox="1"/>
          <p:nvPr/>
        </p:nvSpPr>
        <p:spPr>
          <a:xfrm>
            <a:off x="685800" y="2532888"/>
            <a:ext cx="1600200" cy="411480"/>
          </a:xfrm>
          <a:prstGeom prst="rect">
            <a:avLst/>
          </a:prstGeom>
          <a:noFill/>
          <a:ln/>
        </p:spPr>
        <p:txBody>
          <a:bodyPr wrap="square" lIns="0" tIns="0" rIns="0" bIns="0" rtlCol="0" anchor="t"/>
          <a:lstStyle/>
          <a:p>
            <a:pPr algn="ctr" indent="0" marL="0">
              <a:buNone/>
            </a:pPr>
            <a:r>
              <a:rPr lang="en-US" sz="2000" b="1" dirty="0">
                <a:solidFill>
                  <a:schemeClr val="tx1"/>
                </a:solidFill>
                <a:latin typeface="+mj-lt" pitchFamily="34" charset="0"/>
                <a:ea typeface="+mj-lt" pitchFamily="34" charset="-122"/>
                <a:cs typeface="+mj-lt" pitchFamily="34" charset="-120"/>
              </a:rPr>
              <a:t>Sources</a:t>
            </a:r>
            <a:endParaRPr lang="en-US" sz="2000" dirty="0"/>
          </a:p>
        </p:txBody>
      </p:sp>
      <p:sp>
        <p:nvSpPr>
          <p:cNvPr id="7" name="Text 4"/>
          <p:cNvSpPr txBox="1"/>
          <p:nvPr/>
        </p:nvSpPr>
        <p:spPr>
          <a:xfrm>
            <a:off x="685800" y="3017520"/>
            <a:ext cx="1600200" cy="1097280"/>
          </a:xfrm>
          <a:prstGeom prst="rect">
            <a:avLst/>
          </a:prstGeom>
          <a:noFill/>
          <a:ln/>
        </p:spPr>
        <p:txBody>
          <a:bodyPr wrap="square" lIns="0" tIns="0" rIns="0" bIns="0" rtlCol="0" anchor="t"/>
          <a:lstStyle/>
          <a:p>
            <a:pPr algn="ctr" indent="0" marL="0">
              <a:buNone/>
            </a:pPr>
            <a:r>
              <a:rPr lang="en-US" sz="1400" dirty="0">
                <a:solidFill>
                  <a:schemeClr val="tx2"/>
                </a:solidFill>
              </a:rPr>
              <a:t>Vélib’, Open-Meteo, PRIM (clé API), arrêts IDFM, calendrier</a:t>
            </a:r>
            <a:endParaRPr lang="en-US" sz="1400" dirty="0"/>
          </a:p>
        </p:txBody>
      </p:sp>
      <p:sp>
        <p:nvSpPr>
          <p:cNvPr id="8" name="Flèche 1"/>
          <p:cNvSpPr/>
          <p:nvPr/>
        </p:nvSpPr>
        <p:spPr>
          <a:xfrm>
            <a:off x="2496312" y="2788920"/>
            <a:ext cx="284150" cy="0"/>
          </a:xfrm>
          <a:prstGeom prst="line">
            <a:avLst/>
          </a:prstGeom>
          <a:noFill/>
          <a:ln w="25400">
            <a:solidFill>
              <a:schemeClr val="tx2"/>
            </a:solidFill>
            <a:prstDash val="solid"/>
            <a:tailEnd type="triangle"/>
          </a:ln>
        </p:spPr>
      </p:sp>
      <p:sp>
        <p:nvSpPr>
          <p:cNvPr id="9" name="Zone Bronze"/>
          <p:cNvSpPr/>
          <p:nvPr/>
        </p:nvSpPr>
        <p:spPr>
          <a:xfrm>
            <a:off x="2853614" y="1417320"/>
            <a:ext cx="1874520" cy="2788920"/>
          </a:xfrm>
          <a:prstGeom prst="roundRect">
            <a:avLst>
              <a:gd name="adj" fmla="val 4878"/>
            </a:avLst>
          </a:prstGeom>
          <a:solidFill>
            <a:schemeClr val="bg2"/>
          </a:solidFill>
          <a:ln/>
        </p:spPr>
      </p:sp>
      <p:sp>
        <p:nvSpPr>
          <p:cNvPr id="10" name="Icône Bronze"/>
          <p:cNvSpPr/>
          <p:nvPr/>
        </p:nvSpPr>
        <p:spPr>
          <a:xfrm>
            <a:off x="3425114" y="1691640"/>
            <a:ext cx="731520" cy="731520"/>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3607994" y="1874520"/>
            <a:ext cx="365760" cy="365760"/>
          </a:xfrm>
          <a:prstGeom prst="rect">
            <a:avLst/>
          </a:prstGeom>
        </p:spPr>
      </p:pic>
      <p:sp>
        <p:nvSpPr>
          <p:cNvPr id="12" name="Text 8"/>
          <p:cNvSpPr txBox="1"/>
          <p:nvPr/>
        </p:nvSpPr>
        <p:spPr>
          <a:xfrm>
            <a:off x="2990774" y="2532888"/>
            <a:ext cx="1600200" cy="411480"/>
          </a:xfrm>
          <a:prstGeom prst="rect">
            <a:avLst/>
          </a:prstGeom>
          <a:noFill/>
          <a:ln/>
        </p:spPr>
        <p:txBody>
          <a:bodyPr wrap="square" lIns="0" tIns="0" rIns="0" bIns="0" rtlCol="0" anchor="t"/>
          <a:lstStyle/>
          <a:p>
            <a:pPr algn="ctr" indent="0" marL="0">
              <a:buNone/>
            </a:pPr>
            <a:r>
              <a:rPr lang="en-US" sz="2000" b="1" dirty="0">
                <a:solidFill>
                  <a:schemeClr val="tx1"/>
                </a:solidFill>
                <a:latin typeface="+mj-lt" pitchFamily="34" charset="0"/>
                <a:ea typeface="+mj-lt" pitchFamily="34" charset="-122"/>
                <a:cs typeface="+mj-lt" pitchFamily="34" charset="-120"/>
              </a:rPr>
              <a:t>Bronze</a:t>
            </a:r>
            <a:endParaRPr lang="en-US" sz="2000" dirty="0"/>
          </a:p>
        </p:txBody>
      </p:sp>
      <p:sp>
        <p:nvSpPr>
          <p:cNvPr id="13" name="Text 9"/>
          <p:cNvSpPr txBox="1"/>
          <p:nvPr/>
        </p:nvSpPr>
        <p:spPr>
          <a:xfrm>
            <a:off x="2990774" y="3017520"/>
            <a:ext cx="1600200" cy="1097280"/>
          </a:xfrm>
          <a:prstGeom prst="rect">
            <a:avLst/>
          </a:prstGeom>
          <a:noFill/>
          <a:ln/>
        </p:spPr>
        <p:txBody>
          <a:bodyPr wrap="square" lIns="0" tIns="0" rIns="0" bIns="0" rtlCol="0" anchor="t"/>
          <a:lstStyle/>
          <a:p>
            <a:pPr algn="ctr" indent="0" marL="0">
              <a:buNone/>
            </a:pPr>
            <a:r>
              <a:rPr lang="en-US" sz="1400" dirty="0">
                <a:solidFill>
                  <a:schemeClr val="tx2"/>
                </a:solidFill>
              </a:rPr>
              <a:t>Azure Functions (5 min / 1×/jour) → ADLS Gen2</a:t>
            </a:r>
            <a:endParaRPr lang="en-US" sz="1400" dirty="0"/>
          </a:p>
        </p:txBody>
      </p:sp>
      <p:sp>
        <p:nvSpPr>
          <p:cNvPr id="14" name="Flèche 2"/>
          <p:cNvSpPr/>
          <p:nvPr/>
        </p:nvSpPr>
        <p:spPr>
          <a:xfrm>
            <a:off x="4801286" y="2788920"/>
            <a:ext cx="284150" cy="0"/>
          </a:xfrm>
          <a:prstGeom prst="line">
            <a:avLst/>
          </a:prstGeom>
          <a:noFill/>
          <a:ln w="25400">
            <a:solidFill>
              <a:schemeClr val="tx2"/>
            </a:solidFill>
            <a:prstDash val="solid"/>
            <a:tailEnd type="triangle"/>
          </a:ln>
        </p:spPr>
      </p:sp>
      <p:sp>
        <p:nvSpPr>
          <p:cNvPr id="15" name="Zone Silver"/>
          <p:cNvSpPr/>
          <p:nvPr/>
        </p:nvSpPr>
        <p:spPr>
          <a:xfrm>
            <a:off x="5158588" y="1417320"/>
            <a:ext cx="1874520" cy="2788920"/>
          </a:xfrm>
          <a:prstGeom prst="roundRect">
            <a:avLst>
              <a:gd name="adj" fmla="val 4878"/>
            </a:avLst>
          </a:prstGeom>
          <a:solidFill>
            <a:schemeClr val="bg2"/>
          </a:solidFill>
          <a:ln/>
        </p:spPr>
      </p:sp>
      <p:sp>
        <p:nvSpPr>
          <p:cNvPr id="16" name="Icône Silver"/>
          <p:cNvSpPr/>
          <p:nvPr/>
        </p:nvSpPr>
        <p:spPr>
          <a:xfrm>
            <a:off x="5730088" y="1691640"/>
            <a:ext cx="731520" cy="731520"/>
          </a:xfrm>
          <a:prstGeom prst="ellipse">
            <a:avLst/>
          </a:prstGeom>
          <a:solidFill>
            <a:schemeClr val="accent6"/>
          </a:solidFill>
          <a:ln/>
        </p:spPr>
      </p:sp>
      <p:pic>
        <p:nvPicPr>
          <p:cNvPr id="17" name="Image 2" descr="preencoded.png">    </p:cNvPr>
          <p:cNvPicPr>
            <a:picLocks noChangeAspect="1"/>
          </p:cNvPicPr>
          <p:nvPr/>
        </p:nvPicPr>
        <p:blipFill>
          <a:blip r:embed="rId3"/>
          <a:stretch>
            <a:fillRect/>
          </a:stretch>
        </p:blipFill>
        <p:spPr>
          <a:xfrm>
            <a:off x="5912968" y="1874520"/>
            <a:ext cx="365760" cy="365760"/>
          </a:xfrm>
          <a:prstGeom prst="rect">
            <a:avLst/>
          </a:prstGeom>
        </p:spPr>
      </p:pic>
      <p:sp>
        <p:nvSpPr>
          <p:cNvPr id="18" name="Text 13"/>
          <p:cNvSpPr txBox="1"/>
          <p:nvPr/>
        </p:nvSpPr>
        <p:spPr>
          <a:xfrm>
            <a:off x="5295748" y="2532888"/>
            <a:ext cx="1600200" cy="411480"/>
          </a:xfrm>
          <a:prstGeom prst="rect">
            <a:avLst/>
          </a:prstGeom>
          <a:noFill/>
          <a:ln/>
        </p:spPr>
        <p:txBody>
          <a:bodyPr wrap="square" lIns="0" tIns="0" rIns="0" bIns="0" rtlCol="0" anchor="t"/>
          <a:lstStyle/>
          <a:p>
            <a:pPr algn="ctr" indent="0" marL="0">
              <a:buNone/>
            </a:pPr>
            <a:r>
              <a:rPr lang="en-US" sz="2000" b="1" dirty="0">
                <a:solidFill>
                  <a:schemeClr val="tx1"/>
                </a:solidFill>
                <a:latin typeface="+mj-lt" pitchFamily="34" charset="0"/>
                <a:ea typeface="+mj-lt" pitchFamily="34" charset="-122"/>
                <a:cs typeface="+mj-lt" pitchFamily="34" charset="-120"/>
              </a:rPr>
              <a:t>Silver</a:t>
            </a:r>
            <a:endParaRPr lang="en-US" sz="2000" dirty="0"/>
          </a:p>
        </p:txBody>
      </p:sp>
      <p:sp>
        <p:nvSpPr>
          <p:cNvPr id="19" name="Text 14"/>
          <p:cNvSpPr txBox="1"/>
          <p:nvPr/>
        </p:nvSpPr>
        <p:spPr>
          <a:xfrm>
            <a:off x="5295748" y="3017520"/>
            <a:ext cx="1600200" cy="1097280"/>
          </a:xfrm>
          <a:prstGeom prst="rect">
            <a:avLst/>
          </a:prstGeom>
          <a:noFill/>
          <a:ln/>
        </p:spPr>
        <p:txBody>
          <a:bodyPr wrap="square" lIns="0" tIns="0" rIns="0" bIns="0" rtlCol="0" anchor="t"/>
          <a:lstStyle/>
          <a:p>
            <a:pPr algn="ctr" indent="0" marL="0">
              <a:buNone/>
            </a:pPr>
            <a:r>
              <a:rPr lang="en-US" sz="1400" dirty="0">
                <a:solidFill>
                  <a:schemeClr val="tx2"/>
                </a:solidFill>
              </a:rPr>
              <a:t>Python (pandas / DuckDB) 1×/jour → Parquet</a:t>
            </a:r>
            <a:endParaRPr lang="en-US" sz="1400" dirty="0"/>
          </a:p>
        </p:txBody>
      </p:sp>
      <p:sp>
        <p:nvSpPr>
          <p:cNvPr id="20" name="Flèche 3"/>
          <p:cNvSpPr/>
          <p:nvPr/>
        </p:nvSpPr>
        <p:spPr>
          <a:xfrm>
            <a:off x="7106260" y="2788920"/>
            <a:ext cx="284150" cy="0"/>
          </a:xfrm>
          <a:prstGeom prst="line">
            <a:avLst/>
          </a:prstGeom>
          <a:noFill/>
          <a:ln w="25400">
            <a:solidFill>
              <a:schemeClr val="tx2"/>
            </a:solidFill>
            <a:prstDash val="solid"/>
            <a:tailEnd type="triangle"/>
          </a:ln>
        </p:spPr>
      </p:sp>
      <p:sp>
        <p:nvSpPr>
          <p:cNvPr id="21" name="Zone Gold"/>
          <p:cNvSpPr/>
          <p:nvPr/>
        </p:nvSpPr>
        <p:spPr>
          <a:xfrm>
            <a:off x="7463561" y="1417320"/>
            <a:ext cx="1874520" cy="2788920"/>
          </a:xfrm>
          <a:prstGeom prst="roundRect">
            <a:avLst>
              <a:gd name="adj" fmla="val 4878"/>
            </a:avLst>
          </a:prstGeom>
          <a:solidFill>
            <a:schemeClr val="bg2"/>
          </a:solidFill>
          <a:ln/>
        </p:spPr>
      </p:sp>
      <p:sp>
        <p:nvSpPr>
          <p:cNvPr id="22" name="Icône Gold"/>
          <p:cNvSpPr/>
          <p:nvPr/>
        </p:nvSpPr>
        <p:spPr>
          <a:xfrm>
            <a:off x="8035061" y="1691640"/>
            <a:ext cx="731520" cy="731520"/>
          </a:xfrm>
          <a:prstGeom prst="ellipse">
            <a:avLst/>
          </a:prstGeom>
          <a:solidFill>
            <a:schemeClr val="accent3"/>
          </a:solidFill>
          <a:ln/>
        </p:spPr>
      </p:sp>
      <p:pic>
        <p:nvPicPr>
          <p:cNvPr id="23" name="Image 3" descr="preencoded.png">    </p:cNvPr>
          <p:cNvPicPr>
            <a:picLocks noChangeAspect="1"/>
          </p:cNvPicPr>
          <p:nvPr/>
        </p:nvPicPr>
        <p:blipFill>
          <a:blip r:embed="rId4"/>
          <a:stretch>
            <a:fillRect/>
          </a:stretch>
        </p:blipFill>
        <p:spPr>
          <a:xfrm>
            <a:off x="8217941" y="1874520"/>
            <a:ext cx="365760" cy="365760"/>
          </a:xfrm>
          <a:prstGeom prst="rect">
            <a:avLst/>
          </a:prstGeom>
        </p:spPr>
      </p:pic>
      <p:sp>
        <p:nvSpPr>
          <p:cNvPr id="24" name="Text 18"/>
          <p:cNvSpPr txBox="1"/>
          <p:nvPr/>
        </p:nvSpPr>
        <p:spPr>
          <a:xfrm>
            <a:off x="7600721" y="2532888"/>
            <a:ext cx="1600200" cy="411480"/>
          </a:xfrm>
          <a:prstGeom prst="rect">
            <a:avLst/>
          </a:prstGeom>
          <a:noFill/>
          <a:ln/>
        </p:spPr>
        <p:txBody>
          <a:bodyPr wrap="square" lIns="0" tIns="0" rIns="0" bIns="0" rtlCol="0" anchor="t"/>
          <a:lstStyle/>
          <a:p>
            <a:pPr algn="ctr" indent="0" marL="0">
              <a:buNone/>
            </a:pPr>
            <a:r>
              <a:rPr lang="en-US" sz="2000" b="1" dirty="0">
                <a:solidFill>
                  <a:schemeClr val="tx1"/>
                </a:solidFill>
                <a:latin typeface="+mj-lt" pitchFamily="34" charset="0"/>
                <a:ea typeface="+mj-lt" pitchFamily="34" charset="-122"/>
                <a:cs typeface="+mj-lt" pitchFamily="34" charset="-120"/>
              </a:rPr>
              <a:t>Gold</a:t>
            </a:r>
            <a:endParaRPr lang="en-US" sz="2000" dirty="0"/>
          </a:p>
        </p:txBody>
      </p:sp>
      <p:sp>
        <p:nvSpPr>
          <p:cNvPr id="25" name="Text 19"/>
          <p:cNvSpPr txBox="1"/>
          <p:nvPr/>
        </p:nvSpPr>
        <p:spPr>
          <a:xfrm>
            <a:off x="7600721" y="3017520"/>
            <a:ext cx="1600200" cy="1097280"/>
          </a:xfrm>
          <a:prstGeom prst="rect">
            <a:avLst/>
          </a:prstGeom>
          <a:noFill/>
          <a:ln/>
        </p:spPr>
        <p:txBody>
          <a:bodyPr wrap="square" lIns="0" tIns="0" rIns="0" bIns="0" rtlCol="0" anchor="t"/>
          <a:lstStyle/>
          <a:p>
            <a:pPr algn="ctr" indent="0" marL="0">
              <a:buNone/>
            </a:pPr>
            <a:r>
              <a:rPr lang="en-US" sz="1400" dirty="0">
                <a:solidFill>
                  <a:schemeClr val="tx2"/>
                </a:solidFill>
              </a:rPr>
              <a:t>Agrégations Python → Parquet</a:t>
            </a:r>
            <a:endParaRPr lang="en-US" sz="1400" dirty="0"/>
          </a:p>
        </p:txBody>
      </p:sp>
      <p:sp>
        <p:nvSpPr>
          <p:cNvPr id="26" name="Flèche 4"/>
          <p:cNvSpPr/>
          <p:nvPr/>
        </p:nvSpPr>
        <p:spPr>
          <a:xfrm>
            <a:off x="9411233" y="2788920"/>
            <a:ext cx="284150" cy="0"/>
          </a:xfrm>
          <a:prstGeom prst="line">
            <a:avLst/>
          </a:prstGeom>
          <a:noFill/>
          <a:ln w="25400">
            <a:solidFill>
              <a:schemeClr val="tx2"/>
            </a:solidFill>
            <a:prstDash val="solid"/>
            <a:tailEnd type="triangle"/>
          </a:ln>
        </p:spPr>
      </p:sp>
      <p:sp>
        <p:nvSpPr>
          <p:cNvPr id="27" name="Zone BI"/>
          <p:cNvSpPr/>
          <p:nvPr/>
        </p:nvSpPr>
        <p:spPr>
          <a:xfrm>
            <a:off x="9768535" y="1417320"/>
            <a:ext cx="1874520" cy="2788920"/>
          </a:xfrm>
          <a:prstGeom prst="roundRect">
            <a:avLst>
              <a:gd name="adj" fmla="val 4878"/>
            </a:avLst>
          </a:prstGeom>
          <a:solidFill>
            <a:schemeClr val="bg2"/>
          </a:solidFill>
          <a:ln/>
        </p:spPr>
      </p:sp>
      <p:sp>
        <p:nvSpPr>
          <p:cNvPr id="28" name="Icône BI"/>
          <p:cNvSpPr/>
          <p:nvPr/>
        </p:nvSpPr>
        <p:spPr>
          <a:xfrm>
            <a:off x="10340035" y="1691640"/>
            <a:ext cx="731520" cy="731520"/>
          </a:xfrm>
          <a:prstGeom prst="ellipse">
            <a:avLst/>
          </a:prstGeom>
          <a:solidFill>
            <a:schemeClr val="accent1"/>
          </a:solidFill>
          <a:ln/>
        </p:spPr>
      </p:sp>
      <p:pic>
        <p:nvPicPr>
          <p:cNvPr id="29" name="Image 4" descr="preencoded.png">    </p:cNvPr>
          <p:cNvPicPr>
            <a:picLocks noChangeAspect="1"/>
          </p:cNvPicPr>
          <p:nvPr/>
        </p:nvPicPr>
        <p:blipFill>
          <a:blip r:embed="rId5"/>
          <a:stretch>
            <a:fillRect/>
          </a:stretch>
        </p:blipFill>
        <p:spPr>
          <a:xfrm>
            <a:off x="10522915" y="1874520"/>
            <a:ext cx="365760" cy="365760"/>
          </a:xfrm>
          <a:prstGeom prst="rect">
            <a:avLst/>
          </a:prstGeom>
        </p:spPr>
      </p:pic>
      <p:sp>
        <p:nvSpPr>
          <p:cNvPr id="30" name="Text 23"/>
          <p:cNvSpPr txBox="1"/>
          <p:nvPr/>
        </p:nvSpPr>
        <p:spPr>
          <a:xfrm>
            <a:off x="9905695" y="2532888"/>
            <a:ext cx="1600200" cy="411480"/>
          </a:xfrm>
          <a:prstGeom prst="rect">
            <a:avLst/>
          </a:prstGeom>
          <a:noFill/>
          <a:ln/>
        </p:spPr>
        <p:txBody>
          <a:bodyPr wrap="square" lIns="0" tIns="0" rIns="0" bIns="0" rtlCol="0" anchor="t"/>
          <a:lstStyle/>
          <a:p>
            <a:pPr algn="ctr" indent="0" marL="0">
              <a:buNone/>
            </a:pPr>
            <a:r>
              <a:rPr lang="en-US" sz="2000" b="1" dirty="0">
                <a:solidFill>
                  <a:schemeClr val="tx1"/>
                </a:solidFill>
                <a:latin typeface="+mj-lt" pitchFamily="34" charset="0"/>
                <a:ea typeface="+mj-lt" pitchFamily="34" charset="-122"/>
                <a:cs typeface="+mj-lt" pitchFamily="34" charset="-120"/>
              </a:rPr>
              <a:t>BI</a:t>
            </a:r>
            <a:endParaRPr lang="en-US" sz="2000" dirty="0"/>
          </a:p>
        </p:txBody>
      </p:sp>
      <p:sp>
        <p:nvSpPr>
          <p:cNvPr id="31" name="Text 24"/>
          <p:cNvSpPr txBox="1"/>
          <p:nvPr/>
        </p:nvSpPr>
        <p:spPr>
          <a:xfrm>
            <a:off x="9905695" y="3017520"/>
            <a:ext cx="1600200" cy="1097280"/>
          </a:xfrm>
          <a:prstGeom prst="rect">
            <a:avLst/>
          </a:prstGeom>
          <a:noFill/>
          <a:ln/>
        </p:spPr>
        <p:txBody>
          <a:bodyPr wrap="square" lIns="0" tIns="0" rIns="0" bIns="0" rtlCol="0" anchor="t"/>
          <a:lstStyle/>
          <a:p>
            <a:pPr algn="ctr" indent="0" marL="0">
              <a:buNone/>
            </a:pPr>
            <a:r>
              <a:rPr lang="en-US" sz="1400" dirty="0">
                <a:solidFill>
                  <a:schemeClr val="tx2"/>
                </a:solidFill>
              </a:rPr>
              <a:t>Power BI Desktop sur les fichiers Gold</a:t>
            </a:r>
            <a:endParaRPr lang="en-US" sz="1400" dirty="0"/>
          </a:p>
        </p:txBody>
      </p:sp>
      <p:sp>
        <p:nvSpPr>
          <p:cNvPr id="32" name="Text 25"/>
          <p:cNvSpPr txBox="1"/>
          <p:nvPr/>
        </p:nvSpPr>
        <p:spPr>
          <a:xfrm>
            <a:off x="548640" y="4480560"/>
            <a:ext cx="11094415"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Choix d’architecture : budget étudiant et sécurité</a:t>
            </a:r>
            <a:endParaRPr lang="en-US" sz="1800" dirty="0"/>
          </a:p>
        </p:txBody>
      </p:sp>
      <p:sp>
        <p:nvSpPr>
          <p:cNvPr id="33" name="Icône choix 1"/>
          <p:cNvSpPr/>
          <p:nvPr/>
        </p:nvSpPr>
        <p:spPr>
          <a:xfrm>
            <a:off x="548640" y="5074920"/>
            <a:ext cx="548640" cy="548640"/>
          </a:xfrm>
          <a:prstGeom prst="ellipse">
            <a:avLst/>
          </a:prstGeom>
          <a:solidFill>
            <a:schemeClr val="accent1"/>
          </a:solidFill>
          <a:ln/>
        </p:spPr>
      </p:sp>
      <p:pic>
        <p:nvPicPr>
          <p:cNvPr id="34" name="Image 5" descr="preencoded.png">    </p:cNvPr>
          <p:cNvPicPr>
            <a:picLocks noChangeAspect="1"/>
          </p:cNvPicPr>
          <p:nvPr/>
        </p:nvPicPr>
        <p:blipFill>
          <a:blip r:embed="rId6"/>
          <a:stretch>
            <a:fillRect/>
          </a:stretch>
        </p:blipFill>
        <p:spPr>
          <a:xfrm>
            <a:off x="685800" y="5212080"/>
            <a:ext cx="274320" cy="274320"/>
          </a:xfrm>
          <a:prstGeom prst="rect">
            <a:avLst/>
          </a:prstGeom>
        </p:spPr>
      </p:pic>
      <p:sp>
        <p:nvSpPr>
          <p:cNvPr id="35" name="Text 27"/>
          <p:cNvSpPr txBox="1"/>
          <p:nvPr/>
        </p:nvSpPr>
        <p:spPr>
          <a:xfrm>
            <a:off x="1234440" y="4983480"/>
            <a:ext cx="1836344" cy="731520"/>
          </a:xfrm>
          <a:prstGeom prst="rect">
            <a:avLst/>
          </a:prstGeom>
          <a:noFill/>
          <a:ln/>
        </p:spPr>
        <p:txBody>
          <a:bodyPr wrap="square" lIns="0" tIns="0" rIns="0" bIns="0" rtlCol="0" anchor="ctr"/>
          <a:lstStyle/>
          <a:p>
            <a:pPr indent="0" marL="0">
              <a:buNone/>
            </a:pPr>
            <a:r>
              <a:rPr lang="en-US" sz="1400" dirty="0">
                <a:solidFill>
                  <a:schemeClr val="tx1"/>
                </a:solidFill>
              </a:rPr>
              <a:t>Stockage LRS, au tarif le plus bas</a:t>
            </a:r>
            <a:endParaRPr lang="en-US" sz="1400" dirty="0"/>
          </a:p>
        </p:txBody>
      </p:sp>
      <p:sp>
        <p:nvSpPr>
          <p:cNvPr id="36" name="Icône choix 2"/>
          <p:cNvSpPr/>
          <p:nvPr/>
        </p:nvSpPr>
        <p:spPr>
          <a:xfrm>
            <a:off x="3390824" y="5074920"/>
            <a:ext cx="548640" cy="548640"/>
          </a:xfrm>
          <a:prstGeom prst="ellipse">
            <a:avLst/>
          </a:prstGeom>
          <a:solidFill>
            <a:schemeClr val="accent2"/>
          </a:solidFill>
          <a:ln/>
        </p:spPr>
      </p:sp>
      <p:pic>
        <p:nvPicPr>
          <p:cNvPr id="37" name="Image 6" descr="preencoded.png">    </p:cNvPr>
          <p:cNvPicPr>
            <a:picLocks noChangeAspect="1"/>
          </p:cNvPicPr>
          <p:nvPr/>
        </p:nvPicPr>
        <p:blipFill>
          <a:blip r:embed="rId7"/>
          <a:stretch>
            <a:fillRect/>
          </a:stretch>
        </p:blipFill>
        <p:spPr>
          <a:xfrm>
            <a:off x="3527984" y="5212080"/>
            <a:ext cx="274320" cy="274320"/>
          </a:xfrm>
          <a:prstGeom prst="rect">
            <a:avLst/>
          </a:prstGeom>
        </p:spPr>
      </p:pic>
      <p:sp>
        <p:nvSpPr>
          <p:cNvPr id="38" name="Text 29"/>
          <p:cNvSpPr txBox="1"/>
          <p:nvPr/>
        </p:nvSpPr>
        <p:spPr>
          <a:xfrm>
            <a:off x="4076624" y="4983480"/>
            <a:ext cx="1836344" cy="731520"/>
          </a:xfrm>
          <a:prstGeom prst="rect">
            <a:avLst/>
          </a:prstGeom>
          <a:noFill/>
          <a:ln/>
        </p:spPr>
        <p:txBody>
          <a:bodyPr wrap="square" lIns="0" tIns="0" rIns="0" bIns="0" rtlCol="0" anchor="ctr"/>
          <a:lstStyle/>
          <a:p>
            <a:pPr indent="0" marL="0">
              <a:buNone/>
            </a:pPr>
            <a:r>
              <a:rPr lang="en-US" sz="1400" dirty="0">
                <a:solidFill>
                  <a:schemeClr val="tx1"/>
                </a:solidFill>
              </a:rPr>
              <a:t>Un groupe de ressources, supprimé à la fin</a:t>
            </a:r>
            <a:endParaRPr lang="en-US" sz="1400" dirty="0"/>
          </a:p>
        </p:txBody>
      </p:sp>
      <p:sp>
        <p:nvSpPr>
          <p:cNvPr id="39" name="Icône choix 3"/>
          <p:cNvSpPr/>
          <p:nvPr/>
        </p:nvSpPr>
        <p:spPr>
          <a:xfrm>
            <a:off x="6233008" y="5074920"/>
            <a:ext cx="548640" cy="548640"/>
          </a:xfrm>
          <a:prstGeom prst="ellipse">
            <a:avLst/>
          </a:prstGeom>
          <a:solidFill>
            <a:schemeClr val="accent4"/>
          </a:solidFill>
          <a:ln/>
        </p:spPr>
      </p:sp>
      <p:pic>
        <p:nvPicPr>
          <p:cNvPr id="40" name="Image 7" descr="preencoded.png">    </p:cNvPr>
          <p:cNvPicPr>
            <a:picLocks noChangeAspect="1"/>
          </p:cNvPicPr>
          <p:nvPr/>
        </p:nvPicPr>
        <p:blipFill>
          <a:blip r:embed="rId8"/>
          <a:stretch>
            <a:fillRect/>
          </a:stretch>
        </p:blipFill>
        <p:spPr>
          <a:xfrm>
            <a:off x="6370168" y="5212080"/>
            <a:ext cx="274320" cy="274320"/>
          </a:xfrm>
          <a:prstGeom prst="rect">
            <a:avLst/>
          </a:prstGeom>
        </p:spPr>
      </p:pic>
      <p:sp>
        <p:nvSpPr>
          <p:cNvPr id="41" name="Text 31"/>
          <p:cNvSpPr txBox="1"/>
          <p:nvPr/>
        </p:nvSpPr>
        <p:spPr>
          <a:xfrm>
            <a:off x="6918808" y="4983480"/>
            <a:ext cx="1836344" cy="731520"/>
          </a:xfrm>
          <a:prstGeom prst="rect">
            <a:avLst/>
          </a:prstGeom>
          <a:noFill/>
          <a:ln/>
        </p:spPr>
        <p:txBody>
          <a:bodyPr wrap="square" lIns="0" tIns="0" rIns="0" bIns="0" rtlCol="0" anchor="ctr"/>
          <a:lstStyle/>
          <a:p>
            <a:pPr indent="0" marL="0">
              <a:buNone/>
            </a:pPr>
            <a:r>
              <a:rPr lang="en-US" sz="1400" dirty="0">
                <a:solidFill>
                  <a:schemeClr val="tx1"/>
                </a:solidFill>
              </a:rPr>
              <a:t>Aucun cluster de calcul permanent</a:t>
            </a:r>
            <a:endParaRPr lang="en-US" sz="1400" dirty="0"/>
          </a:p>
        </p:txBody>
      </p:sp>
      <p:sp>
        <p:nvSpPr>
          <p:cNvPr id="42" name="Icône choix 4"/>
          <p:cNvSpPr/>
          <p:nvPr/>
        </p:nvSpPr>
        <p:spPr>
          <a:xfrm>
            <a:off x="9075191" y="5074920"/>
            <a:ext cx="548640" cy="548640"/>
          </a:xfrm>
          <a:prstGeom prst="ellipse">
            <a:avLst/>
          </a:prstGeom>
          <a:solidFill>
            <a:schemeClr val="accent3"/>
          </a:solidFill>
          <a:ln/>
        </p:spPr>
      </p:sp>
      <p:pic>
        <p:nvPicPr>
          <p:cNvPr id="43" name="Image 8" descr="preencoded.png">    </p:cNvPr>
          <p:cNvPicPr>
            <a:picLocks noChangeAspect="1"/>
          </p:cNvPicPr>
          <p:nvPr/>
        </p:nvPicPr>
        <p:blipFill>
          <a:blip r:embed="rId9"/>
          <a:stretch>
            <a:fillRect/>
          </a:stretch>
        </p:blipFill>
        <p:spPr>
          <a:xfrm>
            <a:off x="9212351" y="5212080"/>
            <a:ext cx="274320" cy="274320"/>
          </a:xfrm>
          <a:prstGeom prst="rect">
            <a:avLst/>
          </a:prstGeom>
        </p:spPr>
      </p:pic>
      <p:sp>
        <p:nvSpPr>
          <p:cNvPr id="44" name="Text 33"/>
          <p:cNvSpPr txBox="1"/>
          <p:nvPr/>
        </p:nvSpPr>
        <p:spPr>
          <a:xfrm>
            <a:off x="9760991" y="4983480"/>
            <a:ext cx="1836344" cy="731520"/>
          </a:xfrm>
          <a:prstGeom prst="rect">
            <a:avLst/>
          </a:prstGeom>
          <a:noFill/>
          <a:ln/>
        </p:spPr>
        <p:txBody>
          <a:bodyPr wrap="square" lIns="0" tIns="0" rIns="0" bIns="0" rtlCol="0" anchor="ctr"/>
          <a:lstStyle/>
          <a:p>
            <a:pPr indent="0" marL="0">
              <a:buNone/>
            </a:pPr>
            <a:r>
              <a:rPr lang="en-US" sz="1400" dirty="0">
                <a:solidFill>
                  <a:schemeClr val="tx1"/>
                </a:solidFill>
              </a:rPr>
              <a:t>Clé PRIM en Key Vault, jamais dans le code</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Ce que contient chaque zone</a:t>
            </a:r>
            <a:endParaRPr lang="en-US" sz="3400" dirty="0"/>
          </a:p>
        </p:txBody>
      </p:sp>
      <p:sp>
        <p:nvSpPr>
          <p:cNvPr id="3" name="Carte Bronze"/>
          <p:cNvSpPr/>
          <p:nvPr/>
        </p:nvSpPr>
        <p:spPr>
          <a:xfrm>
            <a:off x="548640" y="1371600"/>
            <a:ext cx="3515258" cy="4754880"/>
          </a:xfrm>
          <a:prstGeom prst="roundRect">
            <a:avLst>
              <a:gd name="adj" fmla="val 2601"/>
            </a:avLst>
          </a:prstGeom>
          <a:solidFill>
            <a:schemeClr val="bg1"/>
          </a:solidFill>
          <a:ln/>
          <a:effectLst>
            <a:outerShdw sx="100000" sy="100000" kx="0" ky="0" algn="bl" rotWithShape="0" blurRad="127000" dist="25400" dir="5400000">
              <a:srgbClr val="102A2C">
                <a:alpha val="12000"/>
              </a:srgbClr>
            </a:outerShdw>
          </a:effectLst>
        </p:spPr>
      </p:sp>
      <p:sp>
        <p:nvSpPr>
          <p:cNvPr id="4" name="Icône Bronze"/>
          <p:cNvSpPr/>
          <p:nvPr/>
        </p:nvSpPr>
        <p:spPr>
          <a:xfrm>
            <a:off x="822960" y="1645920"/>
            <a:ext cx="640080" cy="64008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 3"/>
          <p:cNvSpPr txBox="1"/>
          <p:nvPr/>
        </p:nvSpPr>
        <p:spPr>
          <a:xfrm>
            <a:off x="1645920" y="1627632"/>
            <a:ext cx="2189378" cy="384048"/>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Bronze</a:t>
            </a:r>
            <a:endParaRPr lang="en-US" sz="2200" dirty="0"/>
          </a:p>
        </p:txBody>
      </p:sp>
      <p:sp>
        <p:nvSpPr>
          <p:cNvPr id="7" name="Text 4"/>
          <p:cNvSpPr txBox="1"/>
          <p:nvPr/>
        </p:nvSpPr>
        <p:spPr>
          <a:xfrm>
            <a:off x="1645920" y="2011680"/>
            <a:ext cx="2189378" cy="292608"/>
          </a:xfrm>
          <a:prstGeom prst="rect">
            <a:avLst/>
          </a:prstGeom>
          <a:noFill/>
          <a:ln/>
        </p:spPr>
        <p:txBody>
          <a:bodyPr wrap="square" lIns="0" tIns="0" rIns="0" bIns="0" rtlCol="0" anchor="t"/>
          <a:lstStyle/>
          <a:p>
            <a:pPr indent="0" marL="0">
              <a:buNone/>
            </a:pPr>
            <a:r>
              <a:rPr lang="en-US" sz="1400" i="1" dirty="0">
                <a:solidFill>
                  <a:schemeClr val="tx2"/>
                </a:solidFill>
              </a:rPr>
              <a:t>Brut, immuable</a:t>
            </a:r>
            <a:endParaRPr lang="en-US" sz="1400" dirty="0"/>
          </a:p>
        </p:txBody>
      </p:sp>
      <p:sp>
        <p:nvSpPr>
          <p:cNvPr id="8" name="Text 5"/>
          <p:cNvSpPr txBox="1"/>
          <p:nvPr/>
        </p:nvSpPr>
        <p:spPr>
          <a:xfrm>
            <a:off x="822960" y="2560320"/>
            <a:ext cx="2966618" cy="283464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Copies brutes des réponses JSON, sans aucune modification</a:t>
            </a:r>
            <a:endParaRPr lang="en-US" sz="1400" dirty="0"/>
          </a:p>
          <a:p>
            <a:pPr marL="190500" indent="-190500">
              <a:spcAft>
                <a:spcPts val="600"/>
              </a:spcAft>
              <a:buSzPct val="100000"/>
              <a:buChar char="•"/>
            </a:pPr>
            <a:r>
              <a:rPr lang="en-US" sz="1400" dirty="0">
                <a:solidFill>
                  <a:schemeClr val="tx1"/>
                </a:solidFill>
              </a:rPr>
              <a:t>Partitions par date et heure de collecte</a:t>
            </a:r>
            <a:endParaRPr lang="en-US" sz="1400" dirty="0"/>
          </a:p>
          <a:p>
            <a:pPr marL="190500" indent="-190500">
              <a:spcAft>
                <a:spcPts val="600"/>
              </a:spcAft>
              <a:buSzPct val="100000"/>
              <a:buChar char="•"/>
            </a:pPr>
            <a:r>
              <a:rPr lang="en-US" sz="1400" dirty="0">
                <a:solidFill>
                  <a:schemeClr val="tx1"/>
                </a:solidFill>
              </a:rPr>
              <a:t>Un manifeste par fichier : URL, heure UTC, code HTTP, taille, sha256, nombre de stations</a:t>
            </a:r>
            <a:endParaRPr lang="en-US" sz="1400" dirty="0"/>
          </a:p>
        </p:txBody>
      </p:sp>
      <p:sp>
        <p:nvSpPr>
          <p:cNvPr id="9" name="Text 6"/>
          <p:cNvSpPr txBox="1"/>
          <p:nvPr/>
        </p:nvSpPr>
        <p:spPr>
          <a:xfrm>
            <a:off x="822960" y="5532120"/>
            <a:ext cx="2966618" cy="365760"/>
          </a:xfrm>
          <a:prstGeom prst="rect">
            <a:avLst/>
          </a:prstGeom>
          <a:noFill/>
          <a:ln/>
        </p:spPr>
        <p:txBody>
          <a:bodyPr wrap="square" lIns="0" tIns="0" rIns="0" bIns="0" rtlCol="0" anchor="t"/>
          <a:lstStyle/>
          <a:p>
            <a:pPr indent="0" marL="0">
              <a:buNone/>
            </a:pPr>
            <a:r>
              <a:rPr lang="en-US" sz="1400" b="1" dirty="0">
                <a:solidFill>
                  <a:schemeClr val="tx2"/>
                </a:solidFill>
              </a:rPr>
              <a:t>Stockage : </a:t>
            </a:r>
            <a:pPr indent="0" marL="0">
              <a:buNone/>
            </a:pPr>
            <a:r>
              <a:rPr lang="en-US" sz="1400" dirty="0">
                <a:solidFill>
                  <a:schemeClr val="tx2"/>
                </a:solidFill>
              </a:rPr>
              <a:t>Conteneur « bronze »</a:t>
            </a:r>
            <a:endParaRPr lang="en-US" sz="1400" dirty="0"/>
          </a:p>
        </p:txBody>
      </p:sp>
      <p:sp>
        <p:nvSpPr>
          <p:cNvPr id="10" name="Carte Silver"/>
          <p:cNvSpPr/>
          <p:nvPr/>
        </p:nvSpPr>
        <p:spPr>
          <a:xfrm>
            <a:off x="4338218" y="1371600"/>
            <a:ext cx="3515258" cy="4754880"/>
          </a:xfrm>
          <a:prstGeom prst="roundRect">
            <a:avLst>
              <a:gd name="adj" fmla="val 2601"/>
            </a:avLst>
          </a:prstGeom>
          <a:solidFill>
            <a:schemeClr val="bg1"/>
          </a:solidFill>
          <a:ln/>
          <a:effectLst>
            <a:outerShdw sx="100000" sy="100000" kx="0" ky="0" algn="bl" rotWithShape="0" blurRad="127000" dist="25400" dir="5400000">
              <a:srgbClr val="102A2C">
                <a:alpha val="12000"/>
              </a:srgbClr>
            </a:outerShdw>
          </a:effectLst>
        </p:spPr>
      </p:sp>
      <p:sp>
        <p:nvSpPr>
          <p:cNvPr id="11" name="Icône Silver"/>
          <p:cNvSpPr/>
          <p:nvPr/>
        </p:nvSpPr>
        <p:spPr>
          <a:xfrm>
            <a:off x="4612538" y="1645920"/>
            <a:ext cx="640080" cy="640080"/>
          </a:xfrm>
          <a:prstGeom prst="ellipse">
            <a:avLst/>
          </a:prstGeom>
          <a:solidFill>
            <a:schemeClr val="accent6"/>
          </a:solidFill>
          <a:ln/>
        </p:spPr>
      </p:sp>
      <p:pic>
        <p:nvPicPr>
          <p:cNvPr id="12" name="Image 1" descr="preencoded.png">    </p:cNvPr>
          <p:cNvPicPr>
            <a:picLocks noChangeAspect="1"/>
          </p:cNvPicPr>
          <p:nvPr/>
        </p:nvPicPr>
        <p:blipFill>
          <a:blip r:embed="rId2"/>
          <a:stretch>
            <a:fillRect/>
          </a:stretch>
        </p:blipFill>
        <p:spPr>
          <a:xfrm>
            <a:off x="4772558" y="1805940"/>
            <a:ext cx="320040" cy="320040"/>
          </a:xfrm>
          <a:prstGeom prst="rect">
            <a:avLst/>
          </a:prstGeom>
        </p:spPr>
      </p:pic>
      <p:sp>
        <p:nvSpPr>
          <p:cNvPr id="13" name="Text 9"/>
          <p:cNvSpPr txBox="1"/>
          <p:nvPr/>
        </p:nvSpPr>
        <p:spPr>
          <a:xfrm>
            <a:off x="5435498" y="1627632"/>
            <a:ext cx="2189378" cy="384048"/>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Silver</a:t>
            </a:r>
            <a:endParaRPr lang="en-US" sz="2200" dirty="0"/>
          </a:p>
        </p:txBody>
      </p:sp>
      <p:sp>
        <p:nvSpPr>
          <p:cNvPr id="14" name="Text 10"/>
          <p:cNvSpPr txBox="1"/>
          <p:nvPr/>
        </p:nvSpPr>
        <p:spPr>
          <a:xfrm>
            <a:off x="5435498" y="2011680"/>
            <a:ext cx="2189378" cy="292608"/>
          </a:xfrm>
          <a:prstGeom prst="rect">
            <a:avLst/>
          </a:prstGeom>
          <a:noFill/>
          <a:ln/>
        </p:spPr>
        <p:txBody>
          <a:bodyPr wrap="square" lIns="0" tIns="0" rIns="0" bIns="0" rtlCol="0" anchor="t"/>
          <a:lstStyle/>
          <a:p>
            <a:pPr indent="0" marL="0">
              <a:buNone/>
            </a:pPr>
            <a:r>
              <a:rPr lang="en-US" sz="1400" i="1" dirty="0">
                <a:solidFill>
                  <a:schemeClr val="tx2"/>
                </a:solidFill>
              </a:rPr>
              <a:t>Nettoyé, typé, joint</a:t>
            </a:r>
            <a:endParaRPr lang="en-US" sz="1400" dirty="0"/>
          </a:p>
        </p:txBody>
      </p:sp>
      <p:sp>
        <p:nvSpPr>
          <p:cNvPr id="15" name="Text 11"/>
          <p:cNvSpPr txBox="1"/>
          <p:nvPr/>
        </p:nvSpPr>
        <p:spPr>
          <a:xfrm>
            <a:off x="4612538" y="2560320"/>
            <a:ext cx="2966618" cy="283464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Une ligne par station et par relevé, horodatage corrigé, station_id en bigint</a:t>
            </a:r>
            <a:endParaRPr lang="en-US" sz="1400" dirty="0"/>
          </a:p>
          <a:p>
            <a:pPr marL="190500" indent="-190500">
              <a:spcAft>
                <a:spcPts val="600"/>
              </a:spcAft>
              <a:buSzPct val="100000"/>
              <a:buChar char="•"/>
            </a:pPr>
            <a:r>
              <a:rPr lang="en-US" sz="1400" dirty="0">
                <a:solidFill>
                  <a:schemeClr val="tx1"/>
                </a:solidFill>
              </a:rPr>
              <a:t>Jointure météo à l’heure de Paris</a:t>
            </a:r>
            <a:endParaRPr lang="en-US" sz="1400" dirty="0"/>
          </a:p>
          <a:p>
            <a:pPr marL="190500" indent="-190500">
              <a:spcAft>
                <a:spcPts val="600"/>
              </a:spcAft>
              <a:buSzPct val="100000"/>
              <a:buChar char="•"/>
            </a:pPr>
            <a:r>
              <a:rPr lang="en-US" sz="1400" dirty="0">
                <a:solidFill>
                  <a:schemeClr val="tx1"/>
                </a:solidFill>
              </a:rPr>
              <a:t>Perturbations à plat : une ligne par arrêt touché et par période</a:t>
            </a:r>
            <a:endParaRPr lang="en-US" sz="1400" dirty="0"/>
          </a:p>
          <a:p>
            <a:pPr marL="190500" indent="-190500">
              <a:spcAft>
                <a:spcPts val="600"/>
              </a:spcAft>
              <a:buSzPct val="100000"/>
              <a:buChar char="•"/>
            </a:pPr>
            <a:r>
              <a:rPr lang="en-US" sz="1400" dirty="0">
                <a:solidFill>
                  <a:schemeClr val="tx1"/>
                </a:solidFill>
              </a:rPr>
              <a:t>Station → arrêts touchés à moins de 300 m (grille)</a:t>
            </a:r>
            <a:endParaRPr lang="en-US" sz="1400" dirty="0"/>
          </a:p>
        </p:txBody>
      </p:sp>
      <p:sp>
        <p:nvSpPr>
          <p:cNvPr id="16" name="Text 12"/>
          <p:cNvSpPr txBox="1"/>
          <p:nvPr/>
        </p:nvSpPr>
        <p:spPr>
          <a:xfrm>
            <a:off x="4612538" y="5532120"/>
            <a:ext cx="2966618" cy="365760"/>
          </a:xfrm>
          <a:prstGeom prst="rect">
            <a:avLst/>
          </a:prstGeom>
          <a:noFill/>
          <a:ln/>
        </p:spPr>
        <p:txBody>
          <a:bodyPr wrap="square" lIns="0" tIns="0" rIns="0" bIns="0" rtlCol="0" anchor="t"/>
          <a:lstStyle/>
          <a:p>
            <a:pPr indent="0" marL="0">
              <a:buNone/>
            </a:pPr>
            <a:r>
              <a:rPr lang="en-US" sz="1400" b="1" dirty="0">
                <a:solidFill>
                  <a:schemeClr val="tx2"/>
                </a:solidFill>
              </a:rPr>
              <a:t>Stockage : </a:t>
            </a:r>
            <a:pPr indent="0" marL="0">
              <a:buNone/>
            </a:pPr>
            <a:r>
              <a:rPr lang="en-US" sz="1400" dirty="0">
                <a:solidFill>
                  <a:schemeClr val="tx2"/>
                </a:solidFill>
              </a:rPr>
              <a:t>Parquet, conteneur « silver »</a:t>
            </a:r>
            <a:endParaRPr lang="en-US" sz="1400" dirty="0"/>
          </a:p>
        </p:txBody>
      </p:sp>
      <p:sp>
        <p:nvSpPr>
          <p:cNvPr id="17" name="Carte Gold"/>
          <p:cNvSpPr/>
          <p:nvPr/>
        </p:nvSpPr>
        <p:spPr>
          <a:xfrm>
            <a:off x="8127797" y="1371600"/>
            <a:ext cx="3515258" cy="4754880"/>
          </a:xfrm>
          <a:prstGeom prst="roundRect">
            <a:avLst>
              <a:gd name="adj" fmla="val 2601"/>
            </a:avLst>
          </a:prstGeom>
          <a:solidFill>
            <a:schemeClr val="bg1"/>
          </a:solidFill>
          <a:ln/>
          <a:effectLst>
            <a:outerShdw sx="100000" sy="100000" kx="0" ky="0" algn="bl" rotWithShape="0" blurRad="127000" dist="25400" dir="5400000">
              <a:srgbClr val="102A2C">
                <a:alpha val="12000"/>
              </a:srgbClr>
            </a:outerShdw>
          </a:effectLst>
        </p:spPr>
      </p:sp>
      <p:sp>
        <p:nvSpPr>
          <p:cNvPr id="18" name="Icône Gold"/>
          <p:cNvSpPr/>
          <p:nvPr/>
        </p:nvSpPr>
        <p:spPr>
          <a:xfrm>
            <a:off x="8402117" y="1645920"/>
            <a:ext cx="640080" cy="640080"/>
          </a:xfrm>
          <a:prstGeom prst="ellipse">
            <a:avLst/>
          </a:prstGeom>
          <a:solidFill>
            <a:schemeClr val="accent3"/>
          </a:solidFill>
          <a:ln/>
        </p:spPr>
      </p:sp>
      <p:pic>
        <p:nvPicPr>
          <p:cNvPr id="19" name="Image 2" descr="preencoded.png">    </p:cNvPr>
          <p:cNvPicPr>
            <a:picLocks noChangeAspect="1"/>
          </p:cNvPicPr>
          <p:nvPr/>
        </p:nvPicPr>
        <p:blipFill>
          <a:blip r:embed="rId3"/>
          <a:stretch>
            <a:fillRect/>
          </a:stretch>
        </p:blipFill>
        <p:spPr>
          <a:xfrm>
            <a:off x="8562137" y="1805940"/>
            <a:ext cx="320040" cy="320040"/>
          </a:xfrm>
          <a:prstGeom prst="rect">
            <a:avLst/>
          </a:prstGeom>
        </p:spPr>
      </p:pic>
      <p:sp>
        <p:nvSpPr>
          <p:cNvPr id="20" name="Text 15"/>
          <p:cNvSpPr txBox="1"/>
          <p:nvPr/>
        </p:nvSpPr>
        <p:spPr>
          <a:xfrm>
            <a:off x="9225077" y="1627632"/>
            <a:ext cx="2189378" cy="384048"/>
          </a:xfrm>
          <a:prstGeom prst="rect">
            <a:avLst/>
          </a:prstGeom>
          <a:noFill/>
          <a:ln/>
        </p:spPr>
        <p:txBody>
          <a:bodyPr wrap="square" lIns="0" tIns="0" rIns="0" bIns="0" rtlCol="0" anchor="t"/>
          <a:lstStyle/>
          <a:p>
            <a:pPr indent="0" marL="0">
              <a:buNone/>
            </a:pPr>
            <a:r>
              <a:rPr lang="en-US" sz="2200" b="1" dirty="0">
                <a:solidFill>
                  <a:schemeClr val="tx1"/>
                </a:solidFill>
                <a:latin typeface="+mj-lt" pitchFamily="34" charset="0"/>
                <a:ea typeface="+mj-lt" pitchFamily="34" charset="-122"/>
                <a:cs typeface="+mj-lt" pitchFamily="34" charset="-120"/>
              </a:rPr>
              <a:t>Gold</a:t>
            </a:r>
            <a:endParaRPr lang="en-US" sz="2200" dirty="0"/>
          </a:p>
        </p:txBody>
      </p:sp>
      <p:sp>
        <p:nvSpPr>
          <p:cNvPr id="21" name="Text 16"/>
          <p:cNvSpPr txBox="1"/>
          <p:nvPr/>
        </p:nvSpPr>
        <p:spPr>
          <a:xfrm>
            <a:off x="9225077" y="2011680"/>
            <a:ext cx="2189378" cy="292608"/>
          </a:xfrm>
          <a:prstGeom prst="rect">
            <a:avLst/>
          </a:prstGeom>
          <a:noFill/>
          <a:ln/>
        </p:spPr>
        <p:txBody>
          <a:bodyPr wrap="square" lIns="0" tIns="0" rIns="0" bIns="0" rtlCol="0" anchor="t"/>
          <a:lstStyle/>
          <a:p>
            <a:pPr indent="0" marL="0">
              <a:buNone/>
            </a:pPr>
            <a:r>
              <a:rPr lang="en-US" sz="1400" i="1" dirty="0">
                <a:solidFill>
                  <a:schemeClr val="tx2"/>
                </a:solidFill>
              </a:rPr>
              <a:t>Prêt pour l’analyse</a:t>
            </a:r>
            <a:endParaRPr lang="en-US" sz="1400" dirty="0"/>
          </a:p>
        </p:txBody>
      </p:sp>
      <p:sp>
        <p:nvSpPr>
          <p:cNvPr id="22" name="Text 17"/>
          <p:cNvSpPr txBox="1"/>
          <p:nvPr/>
        </p:nvSpPr>
        <p:spPr>
          <a:xfrm>
            <a:off x="8402117" y="2560320"/>
            <a:ext cx="2966618" cy="2834640"/>
          </a:xfrm>
          <a:prstGeom prst="rect">
            <a:avLst/>
          </a:prstGeom>
          <a:noFill/>
          <a:ln/>
        </p:spPr>
        <p:txBody>
          <a:bodyPr wrap="square" lIns="0" tIns="0" rIns="0" bIns="0" rtlCol="0" anchor="t"/>
          <a:lstStyle/>
          <a:p>
            <a:pPr marL="190500" indent="-190500">
              <a:spcAft>
                <a:spcPts val="600"/>
              </a:spcAft>
              <a:buSzPct val="100000"/>
              <a:buChar char="•"/>
            </a:pPr>
            <a:r>
              <a:rPr lang="en-US" sz="1400" dirty="0">
                <a:solidFill>
                  <a:schemeClr val="tx1"/>
                </a:solidFill>
              </a:rPr>
              <a:t>Taux de pénurie et de saturation par station et par heure</a:t>
            </a:r>
            <a:endParaRPr lang="en-US" sz="1400" dirty="0"/>
          </a:p>
          <a:p>
            <a:pPr marL="190500" indent="-190500">
              <a:spcAft>
                <a:spcPts val="600"/>
              </a:spcAft>
              <a:buSzPct val="100000"/>
              <a:buChar char="•"/>
            </a:pPr>
            <a:r>
              <a:rPr lang="en-US" sz="1400" dirty="0">
                <a:solidFill>
                  <a:schemeClr val="tx1"/>
                </a:solidFill>
              </a:rPr>
              <a:t>Par arrondissement et par météo</a:t>
            </a:r>
            <a:endParaRPr lang="en-US" sz="1400" dirty="0"/>
          </a:p>
          <a:p>
            <a:pPr marL="190500" indent="-190500">
              <a:spcAft>
                <a:spcPts val="600"/>
              </a:spcAft>
              <a:buSzPct val="100000"/>
              <a:buChar char="•"/>
            </a:pPr>
            <a:r>
              <a:rPr lang="en-US" sz="1400" dirty="0">
                <a:solidFill>
                  <a:schemeClr val="tx1"/>
                </a:solidFill>
              </a:rPr>
              <a:t>Avec ou sans arrêt perturbé à proximité</a:t>
            </a:r>
            <a:endParaRPr lang="en-US" sz="1400" dirty="0"/>
          </a:p>
          <a:p>
            <a:pPr marL="190500" indent="-190500">
              <a:spcAft>
                <a:spcPts val="600"/>
              </a:spcAft>
              <a:buSzPct val="100000"/>
              <a:buChar char="•"/>
            </a:pPr>
            <a:r>
              <a:rPr lang="en-US" sz="1400" dirty="0">
                <a:solidFill>
                  <a:schemeClr val="tx1"/>
                </a:solidFill>
              </a:rPr>
              <a:t>Tables lues directement par Power BI</a:t>
            </a:r>
            <a:endParaRPr lang="en-US" sz="1400" dirty="0"/>
          </a:p>
        </p:txBody>
      </p:sp>
      <p:sp>
        <p:nvSpPr>
          <p:cNvPr id="23" name="Text 18"/>
          <p:cNvSpPr txBox="1"/>
          <p:nvPr/>
        </p:nvSpPr>
        <p:spPr>
          <a:xfrm>
            <a:off x="8402117" y="5532120"/>
            <a:ext cx="2966618" cy="365760"/>
          </a:xfrm>
          <a:prstGeom prst="rect">
            <a:avLst/>
          </a:prstGeom>
          <a:noFill/>
          <a:ln/>
        </p:spPr>
        <p:txBody>
          <a:bodyPr wrap="square" lIns="0" tIns="0" rIns="0" bIns="0" rtlCol="0" anchor="t"/>
          <a:lstStyle/>
          <a:p>
            <a:pPr indent="0" marL="0">
              <a:buNone/>
            </a:pPr>
            <a:r>
              <a:rPr lang="en-US" sz="1400" b="1" dirty="0">
                <a:solidFill>
                  <a:schemeClr val="tx2"/>
                </a:solidFill>
              </a:rPr>
              <a:t>Stockage : </a:t>
            </a:r>
            <a:pPr indent="0" marL="0">
              <a:buNone/>
            </a:pPr>
            <a:r>
              <a:rPr lang="en-US" sz="1400" dirty="0">
                <a:solidFill>
                  <a:schemeClr val="tx2"/>
                </a:solidFill>
              </a:rPr>
              <a:t>Parquet, conteneur « gold »</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Plan de collecte de la zone Bronze</a:t>
            </a:r>
            <a:endParaRPr lang="en-US" sz="3400" dirty="0"/>
          </a:p>
        </p:txBody>
      </p:sp>
      <p:sp>
        <p:nvSpPr>
          <p:cNvPr id="3" name="Text 1"/>
          <p:cNvSpPr txBox="1"/>
          <p:nvPr/>
        </p:nvSpPr>
        <p:spPr>
          <a:xfrm>
            <a:off x="777240" y="1298448"/>
            <a:ext cx="2377440" cy="228600"/>
          </a:xfrm>
          <a:prstGeom prst="rect">
            <a:avLst/>
          </a:prstGeom>
          <a:noFill/>
          <a:ln/>
        </p:spPr>
        <p:txBody>
          <a:bodyPr wrap="square" lIns="0" tIns="0" rIns="0" bIns="0" rtlCol="0" anchor="t"/>
          <a:lstStyle/>
          <a:p>
            <a:pPr indent="0" marL="0">
              <a:buNone/>
            </a:pPr>
            <a:r>
              <a:rPr lang="en-US" sz="1100" b="1" spc="100" kern="0" dirty="0">
                <a:solidFill>
                  <a:schemeClr val="tx2"/>
                </a:solidFill>
              </a:rPr>
              <a:t>COLLECTE</a:t>
            </a:r>
            <a:endParaRPr lang="en-US" sz="1100" dirty="0"/>
          </a:p>
        </p:txBody>
      </p:sp>
      <p:sp>
        <p:nvSpPr>
          <p:cNvPr id="4" name="Text 2"/>
          <p:cNvSpPr txBox="1"/>
          <p:nvPr/>
        </p:nvSpPr>
        <p:spPr>
          <a:xfrm>
            <a:off x="3291840" y="1298448"/>
            <a:ext cx="2103120" cy="228600"/>
          </a:xfrm>
          <a:prstGeom prst="rect">
            <a:avLst/>
          </a:prstGeom>
          <a:noFill/>
          <a:ln/>
        </p:spPr>
        <p:txBody>
          <a:bodyPr wrap="square" lIns="0" tIns="0" rIns="0" bIns="0" rtlCol="0" anchor="t"/>
          <a:lstStyle/>
          <a:p>
            <a:pPr indent="0" marL="0">
              <a:buNone/>
            </a:pPr>
            <a:r>
              <a:rPr lang="en-US" sz="1100" b="1" spc="100" kern="0" dirty="0">
                <a:solidFill>
                  <a:schemeClr val="tx2"/>
                </a:solidFill>
              </a:rPr>
              <a:t>FRÉQUENCE</a:t>
            </a:r>
            <a:endParaRPr lang="en-US" sz="1100" dirty="0"/>
          </a:p>
        </p:txBody>
      </p:sp>
      <p:sp>
        <p:nvSpPr>
          <p:cNvPr id="5" name="Text 3"/>
          <p:cNvSpPr txBox="1"/>
          <p:nvPr/>
        </p:nvSpPr>
        <p:spPr>
          <a:xfrm>
            <a:off x="5577840" y="1298448"/>
            <a:ext cx="3337560" cy="228600"/>
          </a:xfrm>
          <a:prstGeom prst="rect">
            <a:avLst/>
          </a:prstGeom>
          <a:noFill/>
          <a:ln/>
        </p:spPr>
        <p:txBody>
          <a:bodyPr wrap="square" lIns="0" tIns="0" rIns="0" bIns="0" rtlCol="0" anchor="t"/>
          <a:lstStyle/>
          <a:p>
            <a:pPr indent="0" marL="0">
              <a:buNone/>
            </a:pPr>
            <a:r>
              <a:rPr lang="en-US" sz="1100" b="1" spc="100" kern="0" dirty="0">
                <a:solidFill>
                  <a:schemeClr val="tx2"/>
                </a:solidFill>
              </a:rPr>
              <a:t>CHEMIN DANS BRONZE (GZIP)</a:t>
            </a:r>
            <a:endParaRPr lang="en-US" sz="1100" dirty="0"/>
          </a:p>
        </p:txBody>
      </p:sp>
      <p:sp>
        <p:nvSpPr>
          <p:cNvPr id="6" name="Text 4"/>
          <p:cNvSpPr txBox="1"/>
          <p:nvPr/>
        </p:nvSpPr>
        <p:spPr>
          <a:xfrm>
            <a:off x="9098280" y="1298448"/>
            <a:ext cx="2514600" cy="228600"/>
          </a:xfrm>
          <a:prstGeom prst="rect">
            <a:avLst/>
          </a:prstGeom>
          <a:noFill/>
          <a:ln/>
        </p:spPr>
        <p:txBody>
          <a:bodyPr wrap="square" lIns="0" tIns="0" rIns="0" bIns="0" rtlCol="0" anchor="t"/>
          <a:lstStyle/>
          <a:p>
            <a:pPr indent="0" marL="0">
              <a:buNone/>
            </a:pPr>
            <a:r>
              <a:rPr lang="en-US" sz="1100" b="1" spc="100" kern="0" dirty="0">
                <a:solidFill>
                  <a:schemeClr val="tx2"/>
                </a:solidFill>
              </a:rPr>
              <a:t>CONTRÔLES À CHAQUE APPEL</a:t>
            </a:r>
            <a:endParaRPr lang="en-US" sz="1100" dirty="0"/>
          </a:p>
        </p:txBody>
      </p:sp>
      <p:sp>
        <p:nvSpPr>
          <p:cNvPr id="7" name="Collecte Vélib’"/>
          <p:cNvSpPr/>
          <p:nvPr/>
        </p:nvSpPr>
        <p:spPr>
          <a:xfrm>
            <a:off x="548640" y="1645920"/>
            <a:ext cx="11094415" cy="1234440"/>
          </a:xfrm>
          <a:prstGeom prst="roundRect">
            <a:avLst>
              <a:gd name="adj" fmla="val 7407"/>
            </a:avLst>
          </a:prstGeom>
          <a:solidFill>
            <a:schemeClr val="bg2"/>
          </a:solidFill>
          <a:ln/>
        </p:spPr>
      </p:sp>
      <p:sp>
        <p:nvSpPr>
          <p:cNvPr id="8" name="Icône Vélib’"/>
          <p:cNvSpPr/>
          <p:nvPr/>
        </p:nvSpPr>
        <p:spPr>
          <a:xfrm>
            <a:off x="777240" y="1965960"/>
            <a:ext cx="594360" cy="594360"/>
          </a:xfrm>
          <a:prstGeom prst="ellipse">
            <a:avLst/>
          </a:prstGeom>
          <a:solidFill>
            <a:schemeClr val="accent1"/>
          </a:solidFill>
          <a:ln/>
        </p:spPr>
      </p:sp>
      <p:pic>
        <p:nvPicPr>
          <p:cNvPr id="9" name="Image 0" descr="preencoded.png">    </p:cNvPr>
          <p:cNvPicPr>
            <a:picLocks noChangeAspect="1"/>
          </p:cNvPicPr>
          <p:nvPr/>
        </p:nvPicPr>
        <p:blipFill>
          <a:blip r:embed="rId1"/>
          <a:stretch>
            <a:fillRect/>
          </a:stretch>
        </p:blipFill>
        <p:spPr>
          <a:xfrm>
            <a:off x="925830" y="2114550"/>
            <a:ext cx="297180" cy="297180"/>
          </a:xfrm>
          <a:prstGeom prst="rect">
            <a:avLst/>
          </a:prstGeom>
        </p:spPr>
      </p:pic>
      <p:sp>
        <p:nvSpPr>
          <p:cNvPr id="10" name="Text 7"/>
          <p:cNvSpPr txBox="1"/>
          <p:nvPr/>
        </p:nvSpPr>
        <p:spPr>
          <a:xfrm>
            <a:off x="1508760" y="1874520"/>
            <a:ext cx="16002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Vélib’</a:t>
            </a:r>
            <a:endParaRPr lang="en-US" sz="1700" dirty="0"/>
          </a:p>
        </p:txBody>
      </p:sp>
      <p:sp>
        <p:nvSpPr>
          <p:cNvPr id="11" name="Text 8"/>
          <p:cNvSpPr txBox="1"/>
          <p:nvPr/>
        </p:nvSpPr>
        <p:spPr>
          <a:xfrm>
            <a:off x="1508760" y="2212848"/>
            <a:ext cx="1600200" cy="594360"/>
          </a:xfrm>
          <a:prstGeom prst="rect">
            <a:avLst/>
          </a:prstGeom>
          <a:noFill/>
          <a:ln/>
        </p:spPr>
        <p:txBody>
          <a:bodyPr wrap="square" lIns="0" tIns="0" rIns="0" bIns="0" rtlCol="0" anchor="t"/>
          <a:lstStyle/>
          <a:p>
            <a:pPr indent="0" marL="0">
              <a:buNone/>
            </a:pPr>
            <a:r>
              <a:rPr lang="en-US" sz="1200" dirty="0">
                <a:solidFill>
                  <a:schemeClr val="tx2"/>
                </a:solidFill>
              </a:rPr>
              <a:t>station_status</a:t>
            </a:r>
            <a:endParaRPr lang="en-US" sz="1200" dirty="0"/>
          </a:p>
        </p:txBody>
      </p:sp>
      <p:sp>
        <p:nvSpPr>
          <p:cNvPr id="12" name="Text 9"/>
          <p:cNvSpPr txBox="1"/>
          <p:nvPr/>
        </p:nvSpPr>
        <p:spPr>
          <a:xfrm>
            <a:off x="3291840" y="1828800"/>
            <a:ext cx="2103120" cy="868680"/>
          </a:xfrm>
          <a:prstGeom prst="rect">
            <a:avLst/>
          </a:prstGeom>
          <a:noFill/>
          <a:ln/>
        </p:spPr>
        <p:txBody>
          <a:bodyPr wrap="square" lIns="0" tIns="0" rIns="0" bIns="0" rtlCol="0" anchor="ctr"/>
          <a:lstStyle/>
          <a:p>
            <a:pPr indent="0" marL="0">
              <a:buNone/>
            </a:pPr>
            <a:r>
              <a:rPr lang="en-US" sz="1400" dirty="0">
                <a:solidFill>
                  <a:schemeClr val="tx1"/>
                </a:solidFill>
              </a:rPr>
              <a:t>Toutes les 5 min (Timer), 288 appels/jour</a:t>
            </a:r>
            <a:endParaRPr lang="en-US" sz="1400" dirty="0"/>
          </a:p>
        </p:txBody>
      </p:sp>
      <p:sp>
        <p:nvSpPr>
          <p:cNvPr id="13" name="Text 10"/>
          <p:cNvSpPr txBox="1"/>
          <p:nvPr/>
        </p:nvSpPr>
        <p:spPr>
          <a:xfrm>
            <a:off x="5577840" y="1828800"/>
            <a:ext cx="3337560" cy="868680"/>
          </a:xfrm>
          <a:prstGeom prst="rect">
            <a:avLst/>
          </a:prstGeom>
          <a:noFill/>
          <a:ln/>
        </p:spPr>
        <p:txBody>
          <a:bodyPr wrap="square" lIns="0" tIns="0" rIns="0" bIns="0" rtlCol="0" anchor="ctr"/>
          <a:lstStyle/>
          <a:p>
            <a:pPr indent="0" marL="0">
              <a:buNone/>
            </a:pPr>
            <a:r>
              <a:rPr lang="en-US" sz="1200" dirty="0">
                <a:solidFill>
                  <a:schemeClr val="tx2"/>
                </a:solidFill>
                <a:latin typeface="Courier New" pitchFamily="34" charset="0"/>
                <a:ea typeface="Courier New" pitchFamily="34" charset="-122"/>
                <a:cs typeface="Courier New" pitchFamily="34" charset="-120"/>
              </a:rPr>
              <a:t>bronze/velib/status/</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date=AAAA-MM-JJ/heure=HH/</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status_&lt;horodatage UTC&gt;.json.gz</a:t>
            </a:r>
            <a:endParaRPr lang="en-US" sz="1200" dirty="0"/>
          </a:p>
        </p:txBody>
      </p:sp>
      <p:sp>
        <p:nvSpPr>
          <p:cNvPr id="14" name="Text 11"/>
          <p:cNvSpPr txBox="1"/>
          <p:nvPr/>
        </p:nvSpPr>
        <p:spPr>
          <a:xfrm>
            <a:off x="9098280" y="1828800"/>
            <a:ext cx="2514600" cy="868680"/>
          </a:xfrm>
          <a:prstGeom prst="rect">
            <a:avLst/>
          </a:prstGeom>
          <a:noFill/>
          <a:ln/>
        </p:spPr>
        <p:txBody>
          <a:bodyPr wrap="square" lIns="0" tIns="0" rIns="0" bIns="0" rtlCol="0" anchor="ctr"/>
          <a:lstStyle/>
          <a:p>
            <a:pPr indent="0" marL="0">
              <a:buNone/>
            </a:pPr>
            <a:r>
              <a:rPr lang="en-US" sz="1400" dirty="0">
                <a:solidFill>
                  <a:schemeClr val="tx1"/>
                </a:solidFill>
              </a:rPr>
              <a:t>HTTP 200 ; ≈ 1 519 stations attendues ; lastUpdatedOther relevé</a:t>
            </a:r>
            <a:endParaRPr lang="en-US" sz="1400" dirty="0"/>
          </a:p>
        </p:txBody>
      </p:sp>
      <p:sp>
        <p:nvSpPr>
          <p:cNvPr id="15" name="Collecte PRIM"/>
          <p:cNvSpPr/>
          <p:nvPr/>
        </p:nvSpPr>
        <p:spPr>
          <a:xfrm>
            <a:off x="548640" y="3063240"/>
            <a:ext cx="11094415" cy="1234440"/>
          </a:xfrm>
          <a:prstGeom prst="roundRect">
            <a:avLst>
              <a:gd name="adj" fmla="val 7407"/>
            </a:avLst>
          </a:prstGeom>
          <a:solidFill>
            <a:schemeClr val="bg2"/>
          </a:solidFill>
          <a:ln/>
        </p:spPr>
      </p:sp>
      <p:sp>
        <p:nvSpPr>
          <p:cNvPr id="16" name="Icône PRIM"/>
          <p:cNvSpPr/>
          <p:nvPr/>
        </p:nvSpPr>
        <p:spPr>
          <a:xfrm>
            <a:off x="777240" y="3383280"/>
            <a:ext cx="594360" cy="594360"/>
          </a:xfrm>
          <a:prstGeom prst="ellipse">
            <a:avLst/>
          </a:prstGeom>
          <a:solidFill>
            <a:schemeClr val="accent4"/>
          </a:solidFill>
          <a:ln/>
        </p:spPr>
      </p:sp>
      <p:pic>
        <p:nvPicPr>
          <p:cNvPr id="17" name="Image 1" descr="preencoded.png">    </p:cNvPr>
          <p:cNvPicPr>
            <a:picLocks noChangeAspect="1"/>
          </p:cNvPicPr>
          <p:nvPr/>
        </p:nvPicPr>
        <p:blipFill>
          <a:blip r:embed="rId2"/>
          <a:stretch>
            <a:fillRect/>
          </a:stretch>
        </p:blipFill>
        <p:spPr>
          <a:xfrm>
            <a:off x="925830" y="3531870"/>
            <a:ext cx="297180" cy="297180"/>
          </a:xfrm>
          <a:prstGeom prst="rect">
            <a:avLst/>
          </a:prstGeom>
        </p:spPr>
      </p:pic>
      <p:sp>
        <p:nvSpPr>
          <p:cNvPr id="18" name="Text 14"/>
          <p:cNvSpPr txBox="1"/>
          <p:nvPr/>
        </p:nvSpPr>
        <p:spPr>
          <a:xfrm>
            <a:off x="1508760" y="3291840"/>
            <a:ext cx="16002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PRIM</a:t>
            </a:r>
            <a:endParaRPr lang="en-US" sz="1700" dirty="0"/>
          </a:p>
        </p:txBody>
      </p:sp>
      <p:sp>
        <p:nvSpPr>
          <p:cNvPr id="19" name="Text 15"/>
          <p:cNvSpPr txBox="1"/>
          <p:nvPr/>
        </p:nvSpPr>
        <p:spPr>
          <a:xfrm>
            <a:off x="1508760" y="3630168"/>
            <a:ext cx="1600200" cy="594360"/>
          </a:xfrm>
          <a:prstGeom prst="rect">
            <a:avLst/>
          </a:prstGeom>
          <a:noFill/>
          <a:ln/>
        </p:spPr>
        <p:txBody>
          <a:bodyPr wrap="square" lIns="0" tIns="0" rIns="0" bIns="0" rtlCol="0" anchor="t"/>
          <a:lstStyle/>
          <a:p>
            <a:pPr indent="0" marL="0">
              <a:buNone/>
            </a:pPr>
            <a:r>
              <a:rPr lang="en-US" sz="1200" dirty="0">
                <a:solidFill>
                  <a:schemeClr val="tx2"/>
                </a:solidFill>
              </a:rPr>
              <a:t>perturbations</a:t>
            </a:r>
            <a:endParaRPr lang="en-US" sz="1200" dirty="0"/>
          </a:p>
        </p:txBody>
      </p:sp>
      <p:sp>
        <p:nvSpPr>
          <p:cNvPr id="20" name="Text 16"/>
          <p:cNvSpPr txBox="1"/>
          <p:nvPr/>
        </p:nvSpPr>
        <p:spPr>
          <a:xfrm>
            <a:off x="3291840" y="3246120"/>
            <a:ext cx="2103120" cy="868680"/>
          </a:xfrm>
          <a:prstGeom prst="rect">
            <a:avLst/>
          </a:prstGeom>
          <a:noFill/>
          <a:ln/>
        </p:spPr>
        <p:txBody>
          <a:bodyPr wrap="square" lIns="0" tIns="0" rIns="0" bIns="0" rtlCol="0" anchor="ctr"/>
          <a:lstStyle/>
          <a:p>
            <a:pPr indent="0" marL="0">
              <a:buNone/>
            </a:pPr>
            <a:r>
              <a:rPr lang="en-US" sz="1400" dirty="0">
                <a:solidFill>
                  <a:schemeClr val="tx1"/>
                </a:solidFill>
              </a:rPr>
              <a:t>Toutes les 5 min, 288 appels/jour sur un quota de 1 000</a:t>
            </a:r>
            <a:endParaRPr lang="en-US" sz="1400" dirty="0"/>
          </a:p>
        </p:txBody>
      </p:sp>
      <p:sp>
        <p:nvSpPr>
          <p:cNvPr id="21" name="Text 17"/>
          <p:cNvSpPr txBox="1"/>
          <p:nvPr/>
        </p:nvSpPr>
        <p:spPr>
          <a:xfrm>
            <a:off x="5577840" y="3246120"/>
            <a:ext cx="3337560" cy="868680"/>
          </a:xfrm>
          <a:prstGeom prst="rect">
            <a:avLst/>
          </a:prstGeom>
          <a:noFill/>
          <a:ln/>
        </p:spPr>
        <p:txBody>
          <a:bodyPr wrap="square" lIns="0" tIns="0" rIns="0" bIns="0" rtlCol="0" anchor="ctr"/>
          <a:lstStyle/>
          <a:p>
            <a:pPr indent="0" marL="0">
              <a:buNone/>
            </a:pPr>
            <a:r>
              <a:rPr lang="en-US" sz="1200" dirty="0">
                <a:solidFill>
                  <a:schemeClr val="tx2"/>
                </a:solidFill>
                <a:latin typeface="Courier New" pitchFamily="34" charset="0"/>
                <a:ea typeface="Courier New" pitchFamily="34" charset="-122"/>
                <a:cs typeface="Courier New" pitchFamily="34" charset="-120"/>
              </a:rPr>
              <a:t>bronze/prim/disruptions/</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date=AAAA-MM-JJ/heure=HH/</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disruptions_&lt;horodatage UTC&gt;.json.gz</a:t>
            </a:r>
            <a:endParaRPr lang="en-US" sz="1200" dirty="0"/>
          </a:p>
        </p:txBody>
      </p:sp>
      <p:sp>
        <p:nvSpPr>
          <p:cNvPr id="22" name="Text 18"/>
          <p:cNvSpPr txBox="1"/>
          <p:nvPr/>
        </p:nvSpPr>
        <p:spPr>
          <a:xfrm>
            <a:off x="9098280" y="3246120"/>
            <a:ext cx="2514600" cy="868680"/>
          </a:xfrm>
          <a:prstGeom prst="rect">
            <a:avLst/>
          </a:prstGeom>
          <a:noFill/>
          <a:ln/>
        </p:spPr>
        <p:txBody>
          <a:bodyPr wrap="square" lIns="0" tIns="0" rIns="0" bIns="0" rtlCol="0" anchor="ctr"/>
          <a:lstStyle/>
          <a:p>
            <a:pPr indent="0" marL="0">
              <a:buNone/>
            </a:pPr>
            <a:r>
              <a:rPr lang="en-US" sz="1400" dirty="0">
                <a:solidFill>
                  <a:schemeClr val="tx1"/>
                </a:solidFill>
              </a:rPr>
              <a:t>HTTP 200 ; nombre de perturbations relevé ; clé jamais écrite</a:t>
            </a:r>
            <a:endParaRPr lang="en-US" sz="1400" dirty="0"/>
          </a:p>
        </p:txBody>
      </p:sp>
      <p:sp>
        <p:nvSpPr>
          <p:cNvPr id="23" name="Collecte Référentiels"/>
          <p:cNvSpPr/>
          <p:nvPr/>
        </p:nvSpPr>
        <p:spPr>
          <a:xfrm>
            <a:off x="548640" y="4480560"/>
            <a:ext cx="11094415" cy="1234440"/>
          </a:xfrm>
          <a:prstGeom prst="roundRect">
            <a:avLst>
              <a:gd name="adj" fmla="val 7407"/>
            </a:avLst>
          </a:prstGeom>
          <a:solidFill>
            <a:schemeClr val="bg2"/>
          </a:solidFill>
          <a:ln/>
        </p:spPr>
      </p:sp>
      <p:sp>
        <p:nvSpPr>
          <p:cNvPr id="24" name="Icône Référentiels"/>
          <p:cNvSpPr/>
          <p:nvPr/>
        </p:nvSpPr>
        <p:spPr>
          <a:xfrm>
            <a:off x="777240" y="4800600"/>
            <a:ext cx="594360" cy="594360"/>
          </a:xfrm>
          <a:prstGeom prst="ellipse">
            <a:avLst/>
          </a:prstGeom>
          <a:solidFill>
            <a:schemeClr val="accent3"/>
          </a:solidFill>
          <a:ln/>
        </p:spPr>
      </p:sp>
      <p:pic>
        <p:nvPicPr>
          <p:cNvPr id="25" name="Image 2" descr="preencoded.png">    </p:cNvPr>
          <p:cNvPicPr>
            <a:picLocks noChangeAspect="1"/>
          </p:cNvPicPr>
          <p:nvPr/>
        </p:nvPicPr>
        <p:blipFill>
          <a:blip r:embed="rId3"/>
          <a:stretch>
            <a:fillRect/>
          </a:stretch>
        </p:blipFill>
        <p:spPr>
          <a:xfrm>
            <a:off x="925830" y="4949190"/>
            <a:ext cx="297180" cy="297180"/>
          </a:xfrm>
          <a:prstGeom prst="rect">
            <a:avLst/>
          </a:prstGeom>
        </p:spPr>
      </p:pic>
      <p:sp>
        <p:nvSpPr>
          <p:cNvPr id="26" name="Text 21"/>
          <p:cNvSpPr txBox="1"/>
          <p:nvPr/>
        </p:nvSpPr>
        <p:spPr>
          <a:xfrm>
            <a:off x="1508760" y="4709160"/>
            <a:ext cx="16002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Référentiels</a:t>
            </a:r>
            <a:endParaRPr lang="en-US" sz="1700" dirty="0"/>
          </a:p>
        </p:txBody>
      </p:sp>
      <p:sp>
        <p:nvSpPr>
          <p:cNvPr id="27" name="Text 22"/>
          <p:cNvSpPr txBox="1"/>
          <p:nvPr/>
        </p:nvSpPr>
        <p:spPr>
          <a:xfrm>
            <a:off x="1508760" y="5047488"/>
            <a:ext cx="1600200" cy="594360"/>
          </a:xfrm>
          <a:prstGeom prst="rect">
            <a:avLst/>
          </a:prstGeom>
          <a:noFill/>
          <a:ln/>
        </p:spPr>
        <p:txBody>
          <a:bodyPr wrap="square" lIns="0" tIns="0" rIns="0" bIns="0" rtlCol="0" anchor="t"/>
          <a:lstStyle/>
          <a:p>
            <a:pPr indent="0" marL="0">
              <a:buNone/>
            </a:pPr>
            <a:r>
              <a:rPr lang="en-US" sz="1200" dirty="0">
                <a:solidFill>
                  <a:schemeClr val="tx2"/>
                </a:solidFill>
              </a:rPr>
              <a:t>station_information, Open-Meteo, arrêts IDFM</a:t>
            </a:r>
            <a:endParaRPr lang="en-US" sz="1200" dirty="0"/>
          </a:p>
        </p:txBody>
      </p:sp>
      <p:sp>
        <p:nvSpPr>
          <p:cNvPr id="28" name="Text 23"/>
          <p:cNvSpPr txBox="1"/>
          <p:nvPr/>
        </p:nvSpPr>
        <p:spPr>
          <a:xfrm>
            <a:off x="3291840" y="4663440"/>
            <a:ext cx="2103120" cy="868680"/>
          </a:xfrm>
          <a:prstGeom prst="rect">
            <a:avLst/>
          </a:prstGeom>
          <a:noFill/>
          <a:ln/>
        </p:spPr>
        <p:txBody>
          <a:bodyPr wrap="square" lIns="0" tIns="0" rIns="0" bIns="0" rtlCol="0" anchor="ctr"/>
          <a:lstStyle/>
          <a:p>
            <a:pPr indent="0" marL="0">
              <a:buNone/>
            </a:pPr>
            <a:r>
              <a:rPr lang="en-US" sz="1400" dirty="0">
                <a:solidFill>
                  <a:schemeClr val="tx1"/>
                </a:solidFill>
              </a:rPr>
              <a:t>1 fois par jour (Timer)</a:t>
            </a:r>
            <a:endParaRPr lang="en-US" sz="1400" dirty="0"/>
          </a:p>
        </p:txBody>
      </p:sp>
      <p:sp>
        <p:nvSpPr>
          <p:cNvPr id="29" name="Text 24"/>
          <p:cNvSpPr txBox="1"/>
          <p:nvPr/>
        </p:nvSpPr>
        <p:spPr>
          <a:xfrm>
            <a:off x="5577840" y="4663440"/>
            <a:ext cx="3337560" cy="868680"/>
          </a:xfrm>
          <a:prstGeom prst="rect">
            <a:avLst/>
          </a:prstGeom>
          <a:noFill/>
          <a:ln/>
        </p:spPr>
        <p:txBody>
          <a:bodyPr wrap="square" lIns="0" tIns="0" rIns="0" bIns="0" rtlCol="0" anchor="ctr"/>
          <a:lstStyle/>
          <a:p>
            <a:pPr indent="0" marL="0">
              <a:buNone/>
            </a:pPr>
            <a:r>
              <a:rPr lang="en-US" sz="1200" dirty="0">
                <a:solidFill>
                  <a:schemeClr val="tx2"/>
                </a:solidFill>
                <a:latin typeface="Courier New" pitchFamily="34" charset="0"/>
                <a:ea typeface="Courier New" pitchFamily="34" charset="-122"/>
                <a:cs typeface="Courier New" pitchFamily="34" charset="-120"/>
              </a:rPr>
              <a:t>bronze/velib/info/</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bronze/meteo/</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bronze/idfm/arrets_lignes/ (datés)</a:t>
            </a:r>
            <a:endParaRPr lang="en-US" sz="1200" dirty="0"/>
          </a:p>
        </p:txBody>
      </p:sp>
      <p:sp>
        <p:nvSpPr>
          <p:cNvPr id="30" name="Text 25"/>
          <p:cNvSpPr txBox="1"/>
          <p:nvPr/>
        </p:nvSpPr>
        <p:spPr>
          <a:xfrm>
            <a:off x="9098280" y="4663440"/>
            <a:ext cx="2514600" cy="868680"/>
          </a:xfrm>
          <a:prstGeom prst="rect">
            <a:avLst/>
          </a:prstGeom>
          <a:noFill/>
          <a:ln/>
        </p:spPr>
        <p:txBody>
          <a:bodyPr wrap="square" lIns="0" tIns="0" rIns="0" bIns="0" rtlCol="0" anchor="ctr"/>
          <a:lstStyle/>
          <a:p>
            <a:pPr indent="0" marL="0">
              <a:buNone/>
            </a:pPr>
            <a:r>
              <a:rPr lang="en-US" sz="1400" dirty="0">
                <a:solidFill>
                  <a:schemeClr val="tx1"/>
                </a:solidFill>
              </a:rPr>
              <a:t>Taille, sha256 ; variation du nombre de stations ou d’arrêts</a:t>
            </a:r>
            <a:endParaRPr lang="en-US" sz="1400" dirty="0"/>
          </a:p>
        </p:txBody>
      </p:sp>
      <p:sp>
        <p:nvSpPr>
          <p:cNvPr id="31" name="Text 26"/>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400" i="1" dirty="0">
                <a:solidFill>
                  <a:schemeClr val="tx2"/>
                </a:solidFill>
              </a:rPr>
              <a:t>Fichiers compressés en gzip et partitionnés par date et heure : on retrouve un relevé sans tout parcourir.</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Fiabiliser la collecte sur 7 jours</a:t>
            </a:r>
            <a:endParaRPr lang="en-US" sz="3400" dirty="0"/>
          </a:p>
        </p:txBody>
      </p:sp>
      <p:sp>
        <p:nvSpPr>
          <p:cNvPr id="3" name="Carte Un manifeste par fichier"/>
          <p:cNvSpPr/>
          <p:nvPr/>
        </p:nvSpPr>
        <p:spPr>
          <a:xfrm>
            <a:off x="548640" y="1371600"/>
            <a:ext cx="5410048" cy="2011680"/>
          </a:xfrm>
          <a:prstGeom prst="roundRect">
            <a:avLst>
              <a:gd name="adj" fmla="val 4545"/>
            </a:avLst>
          </a:prstGeom>
          <a:solidFill>
            <a:schemeClr val="bg1"/>
          </a:solidFill>
          <a:ln/>
          <a:effectLst>
            <a:outerShdw sx="100000" sy="100000" kx="0" ky="0" algn="bl" rotWithShape="0" blurRad="127000" dist="25400" dir="5400000">
              <a:srgbClr val="102A2C">
                <a:alpha val="12000"/>
              </a:srgbClr>
            </a:outerShdw>
          </a:effectLst>
        </p:spPr>
      </p:sp>
      <p:sp>
        <p:nvSpPr>
          <p:cNvPr id="4" name="Icône Un manifeste par fichier"/>
          <p:cNvSpPr/>
          <p:nvPr/>
        </p:nvSpPr>
        <p:spPr>
          <a:xfrm>
            <a:off x="822960" y="1645920"/>
            <a:ext cx="640080" cy="64008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 3"/>
          <p:cNvSpPr txBox="1"/>
          <p:nvPr/>
        </p:nvSpPr>
        <p:spPr>
          <a:xfrm>
            <a:off x="1645920" y="1691640"/>
            <a:ext cx="4038448"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Un manifeste par fichier</a:t>
            </a:r>
            <a:endParaRPr lang="en-US" sz="2000" dirty="0"/>
          </a:p>
        </p:txBody>
      </p:sp>
      <p:sp>
        <p:nvSpPr>
          <p:cNvPr id="7" name="Text 4"/>
          <p:cNvSpPr txBox="1"/>
          <p:nvPr/>
        </p:nvSpPr>
        <p:spPr>
          <a:xfrm>
            <a:off x="1645920" y="2194560"/>
            <a:ext cx="4038448" cy="1051560"/>
          </a:xfrm>
          <a:prstGeom prst="rect">
            <a:avLst/>
          </a:prstGeom>
          <a:noFill/>
          <a:ln/>
        </p:spPr>
        <p:txBody>
          <a:bodyPr wrap="square" lIns="0" tIns="0" rIns="0" bIns="0" rtlCol="0" anchor="t"/>
          <a:lstStyle/>
          <a:p>
            <a:pPr indent="0" marL="0">
              <a:buNone/>
            </a:pPr>
            <a:r>
              <a:rPr lang="en-US" sz="1400" dirty="0">
                <a:solidFill>
                  <a:schemeClr val="tx2"/>
                </a:solidFill>
              </a:rPr>
              <a:t>Un .manifest.json à côté de chaque fichier brut : source, URL (sans clé), heure UTC, code HTTP, taille, sha256, nombre d’enregistrements.</a:t>
            </a:r>
            <a:endParaRPr lang="en-US" sz="1400" dirty="0"/>
          </a:p>
        </p:txBody>
      </p:sp>
      <p:sp>
        <p:nvSpPr>
          <p:cNvPr id="8" name="Carte Erreurs tracées"/>
          <p:cNvSpPr/>
          <p:nvPr/>
        </p:nvSpPr>
        <p:spPr>
          <a:xfrm>
            <a:off x="6233008" y="1371600"/>
            <a:ext cx="5410048" cy="2011680"/>
          </a:xfrm>
          <a:prstGeom prst="roundRect">
            <a:avLst>
              <a:gd name="adj" fmla="val 4545"/>
            </a:avLst>
          </a:prstGeom>
          <a:solidFill>
            <a:schemeClr val="bg1"/>
          </a:solidFill>
          <a:ln/>
          <a:effectLst>
            <a:outerShdw sx="100000" sy="100000" kx="0" ky="0" algn="bl" rotWithShape="0" blurRad="127000" dist="25400" dir="5400000">
              <a:srgbClr val="102A2C">
                <a:alpha val="12000"/>
              </a:srgbClr>
            </a:outerShdw>
          </a:effectLst>
        </p:spPr>
      </p:sp>
      <p:sp>
        <p:nvSpPr>
          <p:cNvPr id="9" name="Icône Erreurs tracées"/>
          <p:cNvSpPr/>
          <p:nvPr/>
        </p:nvSpPr>
        <p:spPr>
          <a:xfrm>
            <a:off x="6507328" y="1645920"/>
            <a:ext cx="640080" cy="640080"/>
          </a:xfrm>
          <a:prstGeom prst="ellipse">
            <a:avLst/>
          </a:prstGeom>
          <a:solidFill>
            <a:schemeClr val="accent4"/>
          </a:solidFill>
          <a:ln/>
        </p:spPr>
      </p:sp>
      <p:pic>
        <p:nvPicPr>
          <p:cNvPr id="10" name="Image 1" descr="preencoded.png">    </p:cNvPr>
          <p:cNvPicPr>
            <a:picLocks noChangeAspect="1"/>
          </p:cNvPicPr>
          <p:nvPr/>
        </p:nvPicPr>
        <p:blipFill>
          <a:blip r:embed="rId2"/>
          <a:stretch>
            <a:fillRect/>
          </a:stretch>
        </p:blipFill>
        <p:spPr>
          <a:xfrm>
            <a:off x="6667348" y="1805940"/>
            <a:ext cx="320040" cy="320040"/>
          </a:xfrm>
          <a:prstGeom prst="rect">
            <a:avLst/>
          </a:prstGeom>
        </p:spPr>
      </p:pic>
      <p:sp>
        <p:nvSpPr>
          <p:cNvPr id="11" name="Text 7"/>
          <p:cNvSpPr txBox="1"/>
          <p:nvPr/>
        </p:nvSpPr>
        <p:spPr>
          <a:xfrm>
            <a:off x="7330288" y="1691640"/>
            <a:ext cx="4038448"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Erreurs tracées</a:t>
            </a:r>
            <a:endParaRPr lang="en-US" sz="2000" dirty="0"/>
          </a:p>
        </p:txBody>
      </p:sp>
      <p:sp>
        <p:nvSpPr>
          <p:cNvPr id="12" name="Text 8"/>
          <p:cNvSpPr txBox="1"/>
          <p:nvPr/>
        </p:nvSpPr>
        <p:spPr>
          <a:xfrm>
            <a:off x="7330288" y="2194560"/>
            <a:ext cx="4038448" cy="1051560"/>
          </a:xfrm>
          <a:prstGeom prst="rect">
            <a:avLst/>
          </a:prstGeom>
          <a:noFill/>
          <a:ln/>
        </p:spPr>
        <p:txBody>
          <a:bodyPr wrap="square" lIns="0" tIns="0" rIns="0" bIns="0" rtlCol="0" anchor="t"/>
          <a:lstStyle/>
          <a:p>
            <a:pPr indent="0" marL="0">
              <a:buNone/>
            </a:pPr>
            <a:r>
              <a:rPr lang="en-US" sz="1400" dirty="0">
                <a:solidFill>
                  <a:schemeClr val="tx2"/>
                </a:solidFill>
              </a:rPr>
              <a:t>3 nouvelles tentatives à attente croissante. En cas d’échec définitif, un manifeste « échec » trace le trou ; alerte après 3 échecs consécutifs.</a:t>
            </a:r>
            <a:endParaRPr lang="en-US" sz="1400" dirty="0"/>
          </a:p>
        </p:txBody>
      </p:sp>
      <p:sp>
        <p:nvSpPr>
          <p:cNvPr id="13" name="Frise"/>
          <p:cNvSpPr/>
          <p:nvPr/>
        </p:nvSpPr>
        <p:spPr>
          <a:xfrm>
            <a:off x="800100" y="4320540"/>
            <a:ext cx="7579157" cy="0"/>
          </a:xfrm>
          <a:prstGeom prst="line">
            <a:avLst/>
          </a:prstGeom>
          <a:noFill/>
          <a:ln w="25400">
            <a:solidFill>
              <a:schemeClr val="tx2"/>
            </a:solidFill>
            <a:prstDash val="solid"/>
          </a:ln>
        </p:spPr>
      </p:sp>
      <p:sp>
        <p:nvSpPr>
          <p:cNvPr id="14" name="Jalon 1"/>
          <p:cNvSpPr/>
          <p:nvPr/>
        </p:nvSpPr>
        <p:spPr>
          <a:xfrm>
            <a:off x="548640" y="4069080"/>
            <a:ext cx="502920" cy="502920"/>
          </a:xfrm>
          <a:prstGeom prst="ellipse">
            <a:avLst/>
          </a:prstGeom>
          <a:solidFill>
            <a:schemeClr val="accent1"/>
          </a:solidFill>
          <a:ln w="38100">
            <a:solidFill>
              <a:schemeClr val="bg2"/>
            </a:solidFill>
            <a:prstDash val="solid"/>
          </a:ln>
        </p:spPr>
      </p:sp>
      <p:sp>
        <p:nvSpPr>
          <p:cNvPr id="15" name="Text 11"/>
          <p:cNvSpPr txBox="1"/>
          <p:nvPr/>
        </p:nvSpPr>
        <p:spPr>
          <a:xfrm>
            <a:off x="548640" y="4754880"/>
            <a:ext cx="3332378"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Jour 1</a:t>
            </a:r>
            <a:endParaRPr lang="en-US" sz="2000" dirty="0"/>
          </a:p>
        </p:txBody>
      </p:sp>
      <p:sp>
        <p:nvSpPr>
          <p:cNvPr id="16" name="Text 12"/>
          <p:cNvSpPr txBox="1"/>
          <p:nvPr/>
        </p:nvSpPr>
        <p:spPr>
          <a:xfrm>
            <a:off x="548640" y="5166360"/>
            <a:ext cx="3240938" cy="914400"/>
          </a:xfrm>
          <a:prstGeom prst="rect">
            <a:avLst/>
          </a:prstGeom>
          <a:noFill/>
          <a:ln/>
        </p:spPr>
        <p:txBody>
          <a:bodyPr wrap="square" lIns="0" tIns="0" rIns="0" bIns="0" rtlCol="0" anchor="t"/>
          <a:lstStyle/>
          <a:p>
            <a:pPr indent="0" marL="0">
              <a:buNone/>
            </a:pPr>
            <a:r>
              <a:rPr lang="en-US" sz="1400" dirty="0">
                <a:solidFill>
                  <a:schemeClr val="tx2"/>
                </a:solidFill>
              </a:rPr>
              <a:t>Déploiement et lancement de la collecte</a:t>
            </a:r>
            <a:endParaRPr lang="en-US" sz="1400" dirty="0"/>
          </a:p>
        </p:txBody>
      </p:sp>
      <p:sp>
        <p:nvSpPr>
          <p:cNvPr id="17" name="Jalon 2"/>
          <p:cNvSpPr/>
          <p:nvPr/>
        </p:nvSpPr>
        <p:spPr>
          <a:xfrm>
            <a:off x="4338218" y="4069080"/>
            <a:ext cx="502920" cy="502920"/>
          </a:xfrm>
          <a:prstGeom prst="ellipse">
            <a:avLst/>
          </a:prstGeom>
          <a:solidFill>
            <a:schemeClr val="accent2"/>
          </a:solidFill>
          <a:ln w="38100">
            <a:solidFill>
              <a:schemeClr val="bg2"/>
            </a:solidFill>
            <a:prstDash val="solid"/>
          </a:ln>
        </p:spPr>
      </p:sp>
      <p:sp>
        <p:nvSpPr>
          <p:cNvPr id="18" name="Text 14"/>
          <p:cNvSpPr txBox="1"/>
          <p:nvPr/>
        </p:nvSpPr>
        <p:spPr>
          <a:xfrm>
            <a:off x="4338218" y="4754880"/>
            <a:ext cx="3332378"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Jours 1 à 6</a:t>
            </a:r>
            <a:endParaRPr lang="en-US" sz="2000" dirty="0"/>
          </a:p>
        </p:txBody>
      </p:sp>
      <p:sp>
        <p:nvSpPr>
          <p:cNvPr id="19" name="Text 15"/>
          <p:cNvSpPr txBox="1"/>
          <p:nvPr/>
        </p:nvSpPr>
        <p:spPr>
          <a:xfrm>
            <a:off x="4338218" y="5166360"/>
            <a:ext cx="3240938" cy="914400"/>
          </a:xfrm>
          <a:prstGeom prst="rect">
            <a:avLst/>
          </a:prstGeom>
          <a:noFill/>
          <a:ln/>
        </p:spPr>
        <p:txBody>
          <a:bodyPr wrap="square" lIns="0" tIns="0" rIns="0" bIns="0" rtlCol="0" anchor="t"/>
          <a:lstStyle/>
          <a:p>
            <a:pPr indent="0" marL="0">
              <a:buNone/>
            </a:pPr>
            <a:r>
              <a:rPr lang="en-US" sz="1400" dirty="0">
                <a:solidFill>
                  <a:schemeClr val="tx2"/>
                </a:solidFill>
              </a:rPr>
              <a:t>Collecte continue, contrôle quotidien (trous, solde Azure), Silver et Gold recalculés chaque jour</a:t>
            </a:r>
            <a:endParaRPr lang="en-US" sz="1400" dirty="0"/>
          </a:p>
        </p:txBody>
      </p:sp>
      <p:sp>
        <p:nvSpPr>
          <p:cNvPr id="20" name="Jalon 3"/>
          <p:cNvSpPr/>
          <p:nvPr/>
        </p:nvSpPr>
        <p:spPr>
          <a:xfrm>
            <a:off x="8127797" y="4069080"/>
            <a:ext cx="502920" cy="502920"/>
          </a:xfrm>
          <a:prstGeom prst="ellipse">
            <a:avLst/>
          </a:prstGeom>
          <a:solidFill>
            <a:schemeClr val="accent3"/>
          </a:solidFill>
          <a:ln w="38100">
            <a:solidFill>
              <a:schemeClr val="bg2"/>
            </a:solidFill>
            <a:prstDash val="solid"/>
          </a:ln>
        </p:spPr>
      </p:sp>
      <p:sp>
        <p:nvSpPr>
          <p:cNvPr id="21" name="Text 17"/>
          <p:cNvSpPr txBox="1"/>
          <p:nvPr/>
        </p:nvSpPr>
        <p:spPr>
          <a:xfrm>
            <a:off x="8127797" y="4754880"/>
            <a:ext cx="3332378" cy="36576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Jour 7</a:t>
            </a:r>
            <a:endParaRPr lang="en-US" sz="2000" dirty="0"/>
          </a:p>
        </p:txBody>
      </p:sp>
      <p:sp>
        <p:nvSpPr>
          <p:cNvPr id="22" name="Text 18"/>
          <p:cNvSpPr txBox="1"/>
          <p:nvPr/>
        </p:nvSpPr>
        <p:spPr>
          <a:xfrm>
            <a:off x="8127797" y="5166360"/>
            <a:ext cx="3240938" cy="914400"/>
          </a:xfrm>
          <a:prstGeom prst="rect">
            <a:avLst/>
          </a:prstGeom>
          <a:noFill/>
          <a:ln/>
        </p:spPr>
        <p:txBody>
          <a:bodyPr wrap="square" lIns="0" tIns="0" rIns="0" bIns="0" rtlCol="0" anchor="t"/>
          <a:lstStyle/>
          <a:p>
            <a:pPr indent="0" marL="0">
              <a:buNone/>
            </a:pPr>
            <a:r>
              <a:rPr lang="en-US" sz="1400" dirty="0">
                <a:solidFill>
                  <a:schemeClr val="tx2"/>
                </a:solidFill>
              </a:rPr>
              <a:t>Arrêt de la collecte, analyse finale et tableau de bord Power BI</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Six indicateurs clés</a:t>
            </a:r>
            <a:endParaRPr lang="en-US" sz="3400" dirty="0"/>
          </a:p>
        </p:txBody>
      </p:sp>
      <p:sp>
        <p:nvSpPr>
          <p:cNvPr id="3" name="KPI Taux de pénurie"/>
          <p:cNvSpPr/>
          <p:nvPr/>
        </p:nvSpPr>
        <p:spPr>
          <a:xfrm>
            <a:off x="548640" y="13716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4" name="Icône Taux de pénurie"/>
          <p:cNvSpPr/>
          <p:nvPr/>
        </p:nvSpPr>
        <p:spPr>
          <a:xfrm>
            <a:off x="822960" y="1645920"/>
            <a:ext cx="685800" cy="68580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994410" y="1817370"/>
            <a:ext cx="342900" cy="342900"/>
          </a:xfrm>
          <a:prstGeom prst="rect">
            <a:avLst/>
          </a:prstGeom>
        </p:spPr>
      </p:pic>
      <p:sp>
        <p:nvSpPr>
          <p:cNvPr id="6" name="Text 3"/>
          <p:cNvSpPr txBox="1"/>
          <p:nvPr/>
        </p:nvSpPr>
        <p:spPr>
          <a:xfrm>
            <a:off x="1691640" y="16459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Taux de pénurie</a:t>
            </a:r>
            <a:endParaRPr lang="en-US" sz="1900" dirty="0"/>
          </a:p>
        </p:txBody>
      </p:sp>
      <p:sp>
        <p:nvSpPr>
          <p:cNvPr id="7" name="Text 4"/>
          <p:cNvSpPr txBox="1"/>
          <p:nvPr/>
        </p:nvSpPr>
        <p:spPr>
          <a:xfrm>
            <a:off x="822960" y="2514600"/>
            <a:ext cx="2966618" cy="594360"/>
          </a:xfrm>
          <a:prstGeom prst="rect">
            <a:avLst/>
          </a:prstGeom>
          <a:noFill/>
          <a:ln/>
        </p:spPr>
        <p:txBody>
          <a:bodyPr wrap="square" lIns="0" tIns="0" rIns="0" bIns="0" rtlCol="0" anchor="t"/>
          <a:lstStyle/>
          <a:p>
            <a:pPr indent="0" marL="0">
              <a:buNone/>
            </a:pPr>
            <a:r>
              <a:rPr lang="en-US" sz="1400" dirty="0">
                <a:solidFill>
                  <a:schemeClr val="tx2"/>
                </a:solidFill>
              </a:rPr>
              <a:t>Part des relevés sans aucun vélo disponible</a:t>
            </a:r>
            <a:endParaRPr lang="en-US" sz="1400" dirty="0"/>
          </a:p>
        </p:txBody>
      </p:sp>
      <p:sp>
        <p:nvSpPr>
          <p:cNvPr id="8" name="Text 5"/>
          <p:cNvSpPr txBox="1"/>
          <p:nvPr/>
        </p:nvSpPr>
        <p:spPr>
          <a:xfrm>
            <a:off x="822960" y="3127248"/>
            <a:ext cx="2966618" cy="320040"/>
          </a:xfrm>
          <a:prstGeom prst="rect">
            <a:avLst/>
          </a:prstGeom>
          <a:noFill/>
          <a:ln/>
        </p:spPr>
        <p:txBody>
          <a:bodyPr wrap="square" lIns="0" tIns="0" rIns="0" bIns="0" rtlCol="0" anchor="t"/>
          <a:lstStyle/>
          <a:p>
            <a:pPr indent="0" marL="0">
              <a:buNone/>
            </a:pPr>
            <a:r>
              <a:rPr lang="en-US" sz="1300" i="1" dirty="0">
                <a:solidFill>
                  <a:schemeClr val="accent4"/>
                </a:solidFill>
                <a:latin typeface="+mj-lt" pitchFamily="34" charset="0"/>
                <a:ea typeface="+mj-lt" pitchFamily="34" charset="-122"/>
                <a:cs typeface="+mj-lt" pitchFamily="34" charset="-120"/>
              </a:rPr>
              <a:t>relevés à 0 vélo ÷ relevés totaux</a:t>
            </a:r>
            <a:endParaRPr lang="en-US" sz="1300" dirty="0"/>
          </a:p>
        </p:txBody>
      </p:sp>
      <p:sp>
        <p:nvSpPr>
          <p:cNvPr id="9" name="KPI Taux de saturation"/>
          <p:cNvSpPr/>
          <p:nvPr/>
        </p:nvSpPr>
        <p:spPr>
          <a:xfrm>
            <a:off x="4338218" y="13716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10" name="Icône Taux de saturation"/>
          <p:cNvSpPr/>
          <p:nvPr/>
        </p:nvSpPr>
        <p:spPr>
          <a:xfrm>
            <a:off x="4612538" y="1645920"/>
            <a:ext cx="685800" cy="685800"/>
          </a:xfrm>
          <a:prstGeom prst="ellipse">
            <a:avLst/>
          </a:prstGeom>
          <a:solidFill>
            <a:schemeClr val="accent3"/>
          </a:solidFill>
          <a:ln/>
        </p:spPr>
      </p:sp>
      <p:pic>
        <p:nvPicPr>
          <p:cNvPr id="11" name="Image 1" descr="preencoded.png">    </p:cNvPr>
          <p:cNvPicPr>
            <a:picLocks noChangeAspect="1"/>
          </p:cNvPicPr>
          <p:nvPr/>
        </p:nvPicPr>
        <p:blipFill>
          <a:blip r:embed="rId2"/>
          <a:stretch>
            <a:fillRect/>
          </a:stretch>
        </p:blipFill>
        <p:spPr>
          <a:xfrm>
            <a:off x="4783988" y="1817370"/>
            <a:ext cx="342900" cy="342900"/>
          </a:xfrm>
          <a:prstGeom prst="rect">
            <a:avLst/>
          </a:prstGeom>
        </p:spPr>
      </p:pic>
      <p:sp>
        <p:nvSpPr>
          <p:cNvPr id="12" name="Text 8"/>
          <p:cNvSpPr txBox="1"/>
          <p:nvPr/>
        </p:nvSpPr>
        <p:spPr>
          <a:xfrm>
            <a:off x="5481218" y="16459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Taux de saturation</a:t>
            </a:r>
            <a:endParaRPr lang="en-US" sz="1900" dirty="0"/>
          </a:p>
        </p:txBody>
      </p:sp>
      <p:sp>
        <p:nvSpPr>
          <p:cNvPr id="13" name="Text 9"/>
          <p:cNvSpPr txBox="1"/>
          <p:nvPr/>
        </p:nvSpPr>
        <p:spPr>
          <a:xfrm>
            <a:off x="4612538" y="2514600"/>
            <a:ext cx="2966618" cy="594360"/>
          </a:xfrm>
          <a:prstGeom prst="rect">
            <a:avLst/>
          </a:prstGeom>
          <a:noFill/>
          <a:ln/>
        </p:spPr>
        <p:txBody>
          <a:bodyPr wrap="square" lIns="0" tIns="0" rIns="0" bIns="0" rtlCol="0" anchor="t"/>
          <a:lstStyle/>
          <a:p>
            <a:pPr indent="0" marL="0">
              <a:buNone/>
            </a:pPr>
            <a:r>
              <a:rPr lang="en-US" sz="1400" dirty="0">
                <a:solidFill>
                  <a:schemeClr val="tx2"/>
                </a:solidFill>
              </a:rPr>
              <a:t>Part des relevés sans aucune borne libre</a:t>
            </a:r>
            <a:endParaRPr lang="en-US" sz="1400" dirty="0"/>
          </a:p>
        </p:txBody>
      </p:sp>
      <p:sp>
        <p:nvSpPr>
          <p:cNvPr id="14" name="Text 10"/>
          <p:cNvSpPr txBox="1"/>
          <p:nvPr/>
        </p:nvSpPr>
        <p:spPr>
          <a:xfrm>
            <a:off x="4612538" y="3127248"/>
            <a:ext cx="2966618" cy="320040"/>
          </a:xfrm>
          <a:prstGeom prst="rect">
            <a:avLst/>
          </a:prstGeom>
          <a:noFill/>
          <a:ln/>
        </p:spPr>
        <p:txBody>
          <a:bodyPr wrap="square" lIns="0" tIns="0" rIns="0" bIns="0" rtlCol="0" anchor="t"/>
          <a:lstStyle/>
          <a:p>
            <a:pPr indent="0" marL="0">
              <a:buNone/>
            </a:pPr>
            <a:r>
              <a:rPr lang="en-US" sz="1300" i="1" dirty="0">
                <a:solidFill>
                  <a:schemeClr val="accent3"/>
                </a:solidFill>
                <a:latin typeface="+mj-lt" pitchFamily="34" charset="0"/>
                <a:ea typeface="+mj-lt" pitchFamily="34" charset="-122"/>
                <a:cs typeface="+mj-lt" pitchFamily="34" charset="-120"/>
              </a:rPr>
              <a:t>relevés à 0 borne ÷ relevés totaux</a:t>
            </a:r>
            <a:endParaRPr lang="en-US" sz="1300" dirty="0"/>
          </a:p>
        </p:txBody>
      </p:sp>
      <p:sp>
        <p:nvSpPr>
          <p:cNvPr id="15" name="KPI Durée d’un épisode"/>
          <p:cNvSpPr/>
          <p:nvPr/>
        </p:nvSpPr>
        <p:spPr>
          <a:xfrm>
            <a:off x="8127797" y="13716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16" name="Icône Durée d’un épisode"/>
          <p:cNvSpPr/>
          <p:nvPr/>
        </p:nvSpPr>
        <p:spPr>
          <a:xfrm>
            <a:off x="8402117" y="1645920"/>
            <a:ext cx="685800" cy="685800"/>
          </a:xfrm>
          <a:prstGeom prst="ellipse">
            <a:avLst/>
          </a:prstGeom>
          <a:solidFill>
            <a:schemeClr val="accent2"/>
          </a:solidFill>
          <a:ln/>
        </p:spPr>
      </p:sp>
      <p:pic>
        <p:nvPicPr>
          <p:cNvPr id="17" name="Image 2" descr="preencoded.png">    </p:cNvPr>
          <p:cNvPicPr>
            <a:picLocks noChangeAspect="1"/>
          </p:cNvPicPr>
          <p:nvPr/>
        </p:nvPicPr>
        <p:blipFill>
          <a:blip r:embed="rId3"/>
          <a:stretch>
            <a:fillRect/>
          </a:stretch>
        </p:blipFill>
        <p:spPr>
          <a:xfrm>
            <a:off x="8573567" y="1817370"/>
            <a:ext cx="342900" cy="342900"/>
          </a:xfrm>
          <a:prstGeom prst="rect">
            <a:avLst/>
          </a:prstGeom>
        </p:spPr>
      </p:pic>
      <p:sp>
        <p:nvSpPr>
          <p:cNvPr id="18" name="Text 13"/>
          <p:cNvSpPr txBox="1"/>
          <p:nvPr/>
        </p:nvSpPr>
        <p:spPr>
          <a:xfrm>
            <a:off x="9270797" y="16459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Durée d’un épisode</a:t>
            </a:r>
            <a:endParaRPr lang="en-US" sz="1900" dirty="0"/>
          </a:p>
        </p:txBody>
      </p:sp>
      <p:sp>
        <p:nvSpPr>
          <p:cNvPr id="19" name="Text 14"/>
          <p:cNvSpPr txBox="1"/>
          <p:nvPr/>
        </p:nvSpPr>
        <p:spPr>
          <a:xfrm>
            <a:off x="8402117" y="2514600"/>
            <a:ext cx="2966618" cy="594360"/>
          </a:xfrm>
          <a:prstGeom prst="rect">
            <a:avLst/>
          </a:prstGeom>
          <a:noFill/>
          <a:ln/>
        </p:spPr>
        <p:txBody>
          <a:bodyPr wrap="square" lIns="0" tIns="0" rIns="0" bIns="0" rtlCol="0" anchor="t"/>
          <a:lstStyle/>
          <a:p>
            <a:pPr indent="0" marL="0">
              <a:buNone/>
            </a:pPr>
            <a:r>
              <a:rPr lang="en-US" sz="1400" dirty="0">
                <a:solidFill>
                  <a:schemeClr val="tx2"/>
                </a:solidFill>
              </a:rPr>
              <a:t>Durée moyenne d’un épisode de pénurie</a:t>
            </a:r>
            <a:endParaRPr lang="en-US" sz="1400" dirty="0"/>
          </a:p>
        </p:txBody>
      </p:sp>
      <p:sp>
        <p:nvSpPr>
          <p:cNvPr id="20" name="Text 15"/>
          <p:cNvSpPr txBox="1"/>
          <p:nvPr/>
        </p:nvSpPr>
        <p:spPr>
          <a:xfrm>
            <a:off x="8402117" y="3127248"/>
            <a:ext cx="2966618" cy="320040"/>
          </a:xfrm>
          <a:prstGeom prst="rect">
            <a:avLst/>
          </a:prstGeom>
          <a:noFill/>
          <a:ln/>
        </p:spPr>
        <p:txBody>
          <a:bodyPr wrap="square" lIns="0" tIns="0" rIns="0" bIns="0" rtlCol="0" anchor="t"/>
          <a:lstStyle/>
          <a:p>
            <a:pPr indent="0" marL="0">
              <a:buNone/>
            </a:pPr>
            <a:r>
              <a:rPr lang="en-US" sz="1300" i="1" dirty="0">
                <a:solidFill>
                  <a:schemeClr val="accent2"/>
                </a:solidFill>
                <a:latin typeface="+mj-lt" pitchFamily="34" charset="0"/>
                <a:ea typeface="+mj-lt" pitchFamily="34" charset="-122"/>
                <a:cs typeface="+mj-lt" pitchFamily="34" charset="-120"/>
              </a:rPr>
              <a:t>relevés consécutifs à 0 vélo × 5 min</a:t>
            </a:r>
            <a:endParaRPr lang="en-US" sz="1300" dirty="0"/>
          </a:p>
        </p:txBody>
      </p:sp>
      <p:sp>
        <p:nvSpPr>
          <p:cNvPr id="21" name="KPI Stations critiques"/>
          <p:cNvSpPr/>
          <p:nvPr/>
        </p:nvSpPr>
        <p:spPr>
          <a:xfrm>
            <a:off x="548640" y="38862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22" name="Icône Stations critiques"/>
          <p:cNvSpPr/>
          <p:nvPr/>
        </p:nvSpPr>
        <p:spPr>
          <a:xfrm>
            <a:off x="822960" y="4160520"/>
            <a:ext cx="685800" cy="685800"/>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994410" y="4331970"/>
            <a:ext cx="342900" cy="342900"/>
          </a:xfrm>
          <a:prstGeom prst="rect">
            <a:avLst/>
          </a:prstGeom>
        </p:spPr>
      </p:pic>
      <p:sp>
        <p:nvSpPr>
          <p:cNvPr id="24" name="Text 18"/>
          <p:cNvSpPr txBox="1"/>
          <p:nvPr/>
        </p:nvSpPr>
        <p:spPr>
          <a:xfrm>
            <a:off x="1691640" y="41605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Stations critiques</a:t>
            </a:r>
            <a:endParaRPr lang="en-US" sz="1900" dirty="0"/>
          </a:p>
        </p:txBody>
      </p:sp>
      <p:sp>
        <p:nvSpPr>
          <p:cNvPr id="25" name="Text 19"/>
          <p:cNvSpPr txBox="1"/>
          <p:nvPr/>
        </p:nvSpPr>
        <p:spPr>
          <a:xfrm>
            <a:off x="822960" y="5029200"/>
            <a:ext cx="2966618" cy="594360"/>
          </a:xfrm>
          <a:prstGeom prst="rect">
            <a:avLst/>
          </a:prstGeom>
          <a:noFill/>
          <a:ln/>
        </p:spPr>
        <p:txBody>
          <a:bodyPr wrap="square" lIns="0" tIns="0" rIns="0" bIns="0" rtlCol="0" anchor="t"/>
          <a:lstStyle/>
          <a:p>
            <a:pPr indent="0" marL="0">
              <a:buNone/>
            </a:pPr>
            <a:r>
              <a:rPr lang="en-US" sz="1400" dirty="0">
                <a:solidFill>
                  <a:schemeClr val="tx2"/>
                </a:solidFill>
              </a:rPr>
              <a:t>Nombre de stations « critiques » par heure</a:t>
            </a:r>
            <a:endParaRPr lang="en-US" sz="1400" dirty="0"/>
          </a:p>
        </p:txBody>
      </p:sp>
      <p:sp>
        <p:nvSpPr>
          <p:cNvPr id="26" name="Text 20"/>
          <p:cNvSpPr txBox="1"/>
          <p:nvPr/>
        </p:nvSpPr>
        <p:spPr>
          <a:xfrm>
            <a:off x="822960" y="5641848"/>
            <a:ext cx="2966618" cy="320040"/>
          </a:xfrm>
          <a:prstGeom prst="rect">
            <a:avLst/>
          </a:prstGeom>
          <a:noFill/>
          <a:ln/>
        </p:spPr>
        <p:txBody>
          <a:bodyPr wrap="square" lIns="0" tIns="0" rIns="0" bIns="0" rtlCol="0" anchor="t"/>
          <a:lstStyle/>
          <a:p>
            <a:pPr indent="0" marL="0">
              <a:buNone/>
            </a:pPr>
            <a:r>
              <a:rPr lang="en-US" sz="1300" i="1" dirty="0">
                <a:solidFill>
                  <a:schemeClr val="tx2"/>
                </a:solidFill>
                <a:latin typeface="+mj-lt" pitchFamily="34" charset="0"/>
                <a:ea typeface="+mj-lt" pitchFamily="34" charset="-122"/>
                <a:cs typeface="+mj-lt" pitchFamily="34" charset="-120"/>
              </a:rPr>
              <a:t>suivi heure par heure</a:t>
            </a:r>
            <a:endParaRPr lang="en-US" sz="1300" dirty="0"/>
          </a:p>
        </p:txBody>
      </p:sp>
      <p:sp>
        <p:nvSpPr>
          <p:cNvPr id="27" name="KPI Effet des pannes"/>
          <p:cNvSpPr/>
          <p:nvPr/>
        </p:nvSpPr>
        <p:spPr>
          <a:xfrm>
            <a:off x="4338218" y="38862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28" name="Icône Effet des pannes"/>
          <p:cNvSpPr/>
          <p:nvPr/>
        </p:nvSpPr>
        <p:spPr>
          <a:xfrm>
            <a:off x="4612538" y="4160520"/>
            <a:ext cx="685800" cy="685800"/>
          </a:xfrm>
          <a:prstGeom prst="ellipse">
            <a:avLst/>
          </a:prstGeom>
          <a:solidFill>
            <a:schemeClr val="accent5"/>
          </a:solidFill>
          <a:ln/>
        </p:spPr>
      </p:sp>
      <p:pic>
        <p:nvPicPr>
          <p:cNvPr id="29" name="Image 4" descr="preencoded.png">    </p:cNvPr>
          <p:cNvPicPr>
            <a:picLocks noChangeAspect="1"/>
          </p:cNvPicPr>
          <p:nvPr/>
        </p:nvPicPr>
        <p:blipFill>
          <a:blip r:embed="rId5"/>
          <a:stretch>
            <a:fillRect/>
          </a:stretch>
        </p:blipFill>
        <p:spPr>
          <a:xfrm>
            <a:off x="4783988" y="4331970"/>
            <a:ext cx="342900" cy="342900"/>
          </a:xfrm>
          <a:prstGeom prst="rect">
            <a:avLst/>
          </a:prstGeom>
        </p:spPr>
      </p:pic>
      <p:sp>
        <p:nvSpPr>
          <p:cNvPr id="30" name="Text 23"/>
          <p:cNvSpPr txBox="1"/>
          <p:nvPr/>
        </p:nvSpPr>
        <p:spPr>
          <a:xfrm>
            <a:off x="5481218" y="41605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Effet des pannes</a:t>
            </a:r>
            <a:endParaRPr lang="en-US" sz="1900" dirty="0"/>
          </a:p>
        </p:txBody>
      </p:sp>
      <p:sp>
        <p:nvSpPr>
          <p:cNvPr id="31" name="Text 24"/>
          <p:cNvSpPr txBox="1"/>
          <p:nvPr/>
        </p:nvSpPr>
        <p:spPr>
          <a:xfrm>
            <a:off x="4612538" y="5029200"/>
            <a:ext cx="2966618" cy="594360"/>
          </a:xfrm>
          <a:prstGeom prst="rect">
            <a:avLst/>
          </a:prstGeom>
          <a:noFill/>
          <a:ln/>
        </p:spPr>
        <p:txBody>
          <a:bodyPr wrap="square" lIns="0" tIns="0" rIns="0" bIns="0" rtlCol="0" anchor="t"/>
          <a:lstStyle/>
          <a:p>
            <a:pPr indent="0" marL="0">
              <a:buNone/>
            </a:pPr>
            <a:r>
              <a:rPr lang="en-US" sz="1400" dirty="0">
                <a:solidFill>
                  <a:schemeClr val="tx2"/>
                </a:solidFill>
              </a:rPr>
              <a:t>Écart de taux de pénurie avec / sans perturbation à proximité</a:t>
            </a:r>
            <a:endParaRPr lang="en-US" sz="1400" dirty="0"/>
          </a:p>
        </p:txBody>
      </p:sp>
      <p:sp>
        <p:nvSpPr>
          <p:cNvPr id="32" name="Text 25"/>
          <p:cNvSpPr txBox="1"/>
          <p:nvPr/>
        </p:nvSpPr>
        <p:spPr>
          <a:xfrm>
            <a:off x="4612538" y="5641848"/>
            <a:ext cx="2966618" cy="320040"/>
          </a:xfrm>
          <a:prstGeom prst="rect">
            <a:avLst/>
          </a:prstGeom>
          <a:noFill/>
          <a:ln/>
        </p:spPr>
        <p:txBody>
          <a:bodyPr wrap="square" lIns="0" tIns="0" rIns="0" bIns="0" rtlCol="0" anchor="t"/>
          <a:lstStyle/>
          <a:p>
            <a:pPr indent="0" marL="0">
              <a:buNone/>
            </a:pPr>
            <a:r>
              <a:rPr lang="en-US" sz="1300" i="1" dirty="0">
                <a:solidFill>
                  <a:schemeClr val="accent5"/>
                </a:solidFill>
                <a:latin typeface="+mj-lt" pitchFamily="34" charset="0"/>
                <a:ea typeface="+mj-lt" pitchFamily="34" charset="-122"/>
                <a:cs typeface="+mj-lt" pitchFamily="34" charset="-120"/>
              </a:rPr>
              <a:t>en points de pourcentage</a:t>
            </a:r>
            <a:endParaRPr lang="en-US" sz="1300" dirty="0"/>
          </a:p>
        </p:txBody>
      </p:sp>
      <p:sp>
        <p:nvSpPr>
          <p:cNvPr id="33" name="KPI Pannes par ligne"/>
          <p:cNvSpPr/>
          <p:nvPr/>
        </p:nvSpPr>
        <p:spPr>
          <a:xfrm>
            <a:off x="8127797" y="3886200"/>
            <a:ext cx="3515258" cy="2240280"/>
          </a:xfrm>
          <a:prstGeom prst="roundRect">
            <a:avLst>
              <a:gd name="adj" fmla="val 4082"/>
            </a:avLst>
          </a:prstGeom>
          <a:solidFill>
            <a:schemeClr val="bg1"/>
          </a:solidFill>
          <a:ln/>
          <a:effectLst>
            <a:outerShdw sx="100000" sy="100000" kx="0" ky="0" algn="bl" rotWithShape="0" blurRad="127000" dist="25400" dir="5400000">
              <a:srgbClr val="102A2C">
                <a:alpha val="12000"/>
              </a:srgbClr>
            </a:outerShdw>
          </a:effectLst>
        </p:spPr>
      </p:sp>
      <p:sp>
        <p:nvSpPr>
          <p:cNvPr id="34" name="Icône Pannes par ligne"/>
          <p:cNvSpPr/>
          <p:nvPr/>
        </p:nvSpPr>
        <p:spPr>
          <a:xfrm>
            <a:off x="8402117" y="4160520"/>
            <a:ext cx="685800" cy="685800"/>
          </a:xfrm>
          <a:prstGeom prst="ellipse">
            <a:avLst/>
          </a:prstGeom>
          <a:solidFill>
            <a:schemeClr val="accent1"/>
          </a:solidFill>
          <a:ln/>
        </p:spPr>
      </p:sp>
      <p:pic>
        <p:nvPicPr>
          <p:cNvPr id="35" name="Image 5" descr="preencoded.png">    </p:cNvPr>
          <p:cNvPicPr>
            <a:picLocks noChangeAspect="1"/>
          </p:cNvPicPr>
          <p:nvPr/>
        </p:nvPicPr>
        <p:blipFill>
          <a:blip r:embed="rId6"/>
          <a:stretch>
            <a:fillRect/>
          </a:stretch>
        </p:blipFill>
        <p:spPr>
          <a:xfrm>
            <a:off x="8573567" y="4331970"/>
            <a:ext cx="342900" cy="342900"/>
          </a:xfrm>
          <a:prstGeom prst="rect">
            <a:avLst/>
          </a:prstGeom>
        </p:spPr>
      </p:pic>
      <p:sp>
        <p:nvSpPr>
          <p:cNvPr id="36" name="Text 28"/>
          <p:cNvSpPr txBox="1"/>
          <p:nvPr/>
        </p:nvSpPr>
        <p:spPr>
          <a:xfrm>
            <a:off x="9270797" y="4160520"/>
            <a:ext cx="2143658" cy="6858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Pannes par ligne</a:t>
            </a:r>
            <a:endParaRPr lang="en-US" sz="1900" dirty="0"/>
          </a:p>
        </p:txBody>
      </p:sp>
      <p:sp>
        <p:nvSpPr>
          <p:cNvPr id="37" name="Text 29"/>
          <p:cNvSpPr txBox="1"/>
          <p:nvPr/>
        </p:nvSpPr>
        <p:spPr>
          <a:xfrm>
            <a:off x="8402117" y="5029200"/>
            <a:ext cx="2966618" cy="594360"/>
          </a:xfrm>
          <a:prstGeom prst="rect">
            <a:avLst/>
          </a:prstGeom>
          <a:noFill/>
          <a:ln/>
        </p:spPr>
        <p:txBody>
          <a:bodyPr wrap="square" lIns="0" tIns="0" rIns="0" bIns="0" rtlCol="0" anchor="t"/>
          <a:lstStyle/>
          <a:p>
            <a:pPr indent="0" marL="0">
              <a:buNone/>
            </a:pPr>
            <a:r>
              <a:rPr lang="en-US" sz="1400" dirty="0">
                <a:solidFill>
                  <a:schemeClr val="tx2"/>
                </a:solidFill>
              </a:rPr>
              <a:t>Nombre et durée des perturbations par ligne</a:t>
            </a:r>
            <a:endParaRPr lang="en-US" sz="1400" dirty="0"/>
          </a:p>
        </p:txBody>
      </p:sp>
      <p:sp>
        <p:nvSpPr>
          <p:cNvPr id="38" name="Text 30"/>
          <p:cNvSpPr txBox="1"/>
          <p:nvPr/>
        </p:nvSpPr>
        <p:spPr>
          <a:xfrm>
            <a:off x="8402117" y="5641848"/>
            <a:ext cx="2966618" cy="320040"/>
          </a:xfrm>
          <a:prstGeom prst="rect">
            <a:avLst/>
          </a:prstGeom>
          <a:noFill/>
          <a:ln/>
        </p:spPr>
        <p:txBody>
          <a:bodyPr wrap="square" lIns="0" tIns="0" rIns="0" bIns="0" rtlCol="0" anchor="t"/>
          <a:lstStyle/>
          <a:p>
            <a:pPr indent="0" marL="0">
              <a:buNone/>
            </a:pPr>
            <a:r>
              <a:rPr lang="en-US" sz="1300" i="1" dirty="0">
                <a:solidFill>
                  <a:schemeClr val="accent1"/>
                </a:solidFill>
                <a:latin typeface="+mj-lt" pitchFamily="34" charset="0"/>
                <a:ea typeface="+mj-lt" pitchFamily="34" charset="-122"/>
                <a:cs typeface="+mj-lt" pitchFamily="34" charset="-120"/>
              </a:rPr>
              <a:t>de la 1re à la dernière apparition</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Sept axes d’analyse</a:t>
            </a:r>
            <a:endParaRPr lang="en-US" sz="3400" dirty="0"/>
          </a:p>
        </p:txBody>
      </p:sp>
      <p:sp>
        <p:nvSpPr>
          <p:cNvPr id="3" name="Axe 1"/>
          <p:cNvSpPr/>
          <p:nvPr/>
        </p:nvSpPr>
        <p:spPr>
          <a:xfrm>
            <a:off x="548640" y="1371600"/>
            <a:ext cx="5410048" cy="987552"/>
          </a:xfrm>
          <a:prstGeom prst="roundRect">
            <a:avLst>
              <a:gd name="adj" fmla="val 9259"/>
            </a:avLst>
          </a:prstGeom>
          <a:solidFill>
            <a:schemeClr val="bg2"/>
          </a:solidFill>
          <a:ln/>
        </p:spPr>
      </p:sp>
      <p:sp>
        <p:nvSpPr>
          <p:cNvPr id="4" name="Icône axe 1"/>
          <p:cNvSpPr/>
          <p:nvPr/>
        </p:nvSpPr>
        <p:spPr>
          <a:xfrm>
            <a:off x="777240" y="1591056"/>
            <a:ext cx="548640" cy="54864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914400" y="1728216"/>
            <a:ext cx="274320" cy="274320"/>
          </a:xfrm>
          <a:prstGeom prst="rect">
            <a:avLst/>
          </a:prstGeom>
        </p:spPr>
      </p:pic>
      <p:sp>
        <p:nvSpPr>
          <p:cNvPr id="6" name="Text 3"/>
          <p:cNvSpPr txBox="1"/>
          <p:nvPr/>
        </p:nvSpPr>
        <p:spPr>
          <a:xfrm>
            <a:off x="1508760" y="1463040"/>
            <a:ext cx="4221328" cy="804672"/>
          </a:xfrm>
          <a:prstGeom prst="rect">
            <a:avLst/>
          </a:prstGeom>
          <a:noFill/>
          <a:ln/>
        </p:spPr>
        <p:txBody>
          <a:bodyPr wrap="square" lIns="0" tIns="0" rIns="0" bIns="0" rtlCol="0" anchor="ctr"/>
          <a:lstStyle/>
          <a:p>
            <a:pPr indent="0" marL="0">
              <a:buNone/>
            </a:pPr>
            <a:r>
              <a:rPr lang="en-US" sz="1600" dirty="0">
                <a:solidFill>
                  <a:schemeClr val="tx1"/>
                </a:solidFill>
              </a:rPr>
              <a:t>Heure de la journée</a:t>
            </a:r>
            <a:endParaRPr lang="en-US" sz="1600" dirty="0"/>
          </a:p>
        </p:txBody>
      </p:sp>
      <p:sp>
        <p:nvSpPr>
          <p:cNvPr id="7" name="Axe 2"/>
          <p:cNvSpPr/>
          <p:nvPr/>
        </p:nvSpPr>
        <p:spPr>
          <a:xfrm>
            <a:off x="6233008" y="1371600"/>
            <a:ext cx="5410048" cy="987552"/>
          </a:xfrm>
          <a:prstGeom prst="roundRect">
            <a:avLst>
              <a:gd name="adj" fmla="val 9259"/>
            </a:avLst>
          </a:prstGeom>
          <a:solidFill>
            <a:schemeClr val="bg2"/>
          </a:solidFill>
          <a:ln/>
        </p:spPr>
      </p:sp>
      <p:sp>
        <p:nvSpPr>
          <p:cNvPr id="8" name="Icône axe 2"/>
          <p:cNvSpPr/>
          <p:nvPr/>
        </p:nvSpPr>
        <p:spPr>
          <a:xfrm>
            <a:off x="6461608" y="1591056"/>
            <a:ext cx="548640" cy="54864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98768" y="1728216"/>
            <a:ext cx="274320" cy="274320"/>
          </a:xfrm>
          <a:prstGeom prst="rect">
            <a:avLst/>
          </a:prstGeom>
        </p:spPr>
      </p:pic>
      <p:sp>
        <p:nvSpPr>
          <p:cNvPr id="10" name="Text 6"/>
          <p:cNvSpPr txBox="1"/>
          <p:nvPr/>
        </p:nvSpPr>
        <p:spPr>
          <a:xfrm>
            <a:off x="7193128" y="1463040"/>
            <a:ext cx="4221328" cy="804672"/>
          </a:xfrm>
          <a:prstGeom prst="rect">
            <a:avLst/>
          </a:prstGeom>
          <a:noFill/>
          <a:ln/>
        </p:spPr>
        <p:txBody>
          <a:bodyPr wrap="square" lIns="0" tIns="0" rIns="0" bIns="0" rtlCol="0" anchor="ctr"/>
          <a:lstStyle/>
          <a:p>
            <a:pPr indent="0" marL="0">
              <a:buNone/>
            </a:pPr>
            <a:r>
              <a:rPr lang="en-US" sz="1600" dirty="0">
                <a:solidFill>
                  <a:schemeClr val="tx1"/>
                </a:solidFill>
              </a:rPr>
              <a:t>Jour de la semaine, week-end ou férié</a:t>
            </a:r>
            <a:endParaRPr lang="en-US" sz="1600" dirty="0"/>
          </a:p>
        </p:txBody>
      </p:sp>
      <p:sp>
        <p:nvSpPr>
          <p:cNvPr id="11" name="Axe 3"/>
          <p:cNvSpPr/>
          <p:nvPr/>
        </p:nvSpPr>
        <p:spPr>
          <a:xfrm>
            <a:off x="548640" y="2514600"/>
            <a:ext cx="5410048" cy="987552"/>
          </a:xfrm>
          <a:prstGeom prst="roundRect">
            <a:avLst>
              <a:gd name="adj" fmla="val 9259"/>
            </a:avLst>
          </a:prstGeom>
          <a:solidFill>
            <a:schemeClr val="bg2"/>
          </a:solidFill>
          <a:ln/>
        </p:spPr>
      </p:sp>
      <p:sp>
        <p:nvSpPr>
          <p:cNvPr id="12" name="Icône axe 3"/>
          <p:cNvSpPr/>
          <p:nvPr/>
        </p:nvSpPr>
        <p:spPr>
          <a:xfrm>
            <a:off x="777240" y="2734056"/>
            <a:ext cx="548640" cy="548640"/>
          </a:xfrm>
          <a:prstGeom prst="ellipse">
            <a:avLst/>
          </a:prstGeom>
          <a:solidFill>
            <a:schemeClr val="tx2"/>
          </a:solidFill>
          <a:ln/>
        </p:spPr>
      </p:sp>
      <p:pic>
        <p:nvPicPr>
          <p:cNvPr id="13" name="Image 2" descr="preencoded.png">    </p:cNvPr>
          <p:cNvPicPr>
            <a:picLocks noChangeAspect="1"/>
          </p:cNvPicPr>
          <p:nvPr/>
        </p:nvPicPr>
        <p:blipFill>
          <a:blip r:embed="rId3"/>
          <a:stretch>
            <a:fillRect/>
          </a:stretch>
        </p:blipFill>
        <p:spPr>
          <a:xfrm>
            <a:off x="914400" y="2871216"/>
            <a:ext cx="274320" cy="274320"/>
          </a:xfrm>
          <a:prstGeom prst="rect">
            <a:avLst/>
          </a:prstGeom>
        </p:spPr>
      </p:pic>
      <p:sp>
        <p:nvSpPr>
          <p:cNvPr id="14" name="Text 9"/>
          <p:cNvSpPr txBox="1"/>
          <p:nvPr/>
        </p:nvSpPr>
        <p:spPr>
          <a:xfrm>
            <a:off x="1508760" y="2606040"/>
            <a:ext cx="4221328" cy="804672"/>
          </a:xfrm>
          <a:prstGeom prst="rect">
            <a:avLst/>
          </a:prstGeom>
          <a:noFill/>
          <a:ln/>
        </p:spPr>
        <p:txBody>
          <a:bodyPr wrap="square" lIns="0" tIns="0" rIns="0" bIns="0" rtlCol="0" anchor="ctr"/>
          <a:lstStyle/>
          <a:p>
            <a:pPr indent="0" marL="0">
              <a:buNone/>
            </a:pPr>
            <a:r>
              <a:rPr lang="en-US" sz="1600" dirty="0">
                <a:solidFill>
                  <a:schemeClr val="tx1"/>
                </a:solidFill>
              </a:rPr>
              <a:t>Arrondissement ou zone</a:t>
            </a:r>
            <a:endParaRPr lang="en-US" sz="1600" dirty="0"/>
          </a:p>
        </p:txBody>
      </p:sp>
      <p:sp>
        <p:nvSpPr>
          <p:cNvPr id="15" name="Axe 4"/>
          <p:cNvSpPr/>
          <p:nvPr/>
        </p:nvSpPr>
        <p:spPr>
          <a:xfrm>
            <a:off x="6233008" y="2514600"/>
            <a:ext cx="5410048" cy="987552"/>
          </a:xfrm>
          <a:prstGeom prst="roundRect">
            <a:avLst>
              <a:gd name="adj" fmla="val 9259"/>
            </a:avLst>
          </a:prstGeom>
          <a:solidFill>
            <a:schemeClr val="bg2"/>
          </a:solidFill>
          <a:ln/>
        </p:spPr>
      </p:sp>
      <p:sp>
        <p:nvSpPr>
          <p:cNvPr id="16" name="Icône axe 4"/>
          <p:cNvSpPr/>
          <p:nvPr/>
        </p:nvSpPr>
        <p:spPr>
          <a:xfrm>
            <a:off x="6461608" y="2734056"/>
            <a:ext cx="548640" cy="548640"/>
          </a:xfrm>
          <a:prstGeom prst="ellipse">
            <a:avLst/>
          </a:prstGeom>
          <a:solidFill>
            <a:schemeClr val="accent2"/>
          </a:solidFill>
          <a:ln/>
        </p:spPr>
      </p:sp>
      <p:pic>
        <p:nvPicPr>
          <p:cNvPr id="17" name="Image 3" descr="preencoded.png">    </p:cNvPr>
          <p:cNvPicPr>
            <a:picLocks noChangeAspect="1"/>
          </p:cNvPicPr>
          <p:nvPr/>
        </p:nvPicPr>
        <p:blipFill>
          <a:blip r:embed="rId4"/>
          <a:stretch>
            <a:fillRect/>
          </a:stretch>
        </p:blipFill>
        <p:spPr>
          <a:xfrm>
            <a:off x="6598768" y="2871216"/>
            <a:ext cx="274320" cy="274320"/>
          </a:xfrm>
          <a:prstGeom prst="rect">
            <a:avLst/>
          </a:prstGeom>
        </p:spPr>
      </p:pic>
      <p:sp>
        <p:nvSpPr>
          <p:cNvPr id="18" name="Text 12"/>
          <p:cNvSpPr txBox="1"/>
          <p:nvPr/>
        </p:nvSpPr>
        <p:spPr>
          <a:xfrm>
            <a:off x="7193128" y="2606040"/>
            <a:ext cx="4221328" cy="804672"/>
          </a:xfrm>
          <a:prstGeom prst="rect">
            <a:avLst/>
          </a:prstGeom>
          <a:noFill/>
          <a:ln/>
        </p:spPr>
        <p:txBody>
          <a:bodyPr wrap="square" lIns="0" tIns="0" rIns="0" bIns="0" rtlCol="0" anchor="ctr"/>
          <a:lstStyle/>
          <a:p>
            <a:pPr indent="0" marL="0">
              <a:buNone/>
            </a:pPr>
            <a:r>
              <a:rPr lang="en-US" sz="1600" dirty="0">
                <a:solidFill>
                  <a:schemeClr val="tx1"/>
                </a:solidFill>
              </a:rPr>
              <a:t>Météo : pluie ou non, tranches de température</a:t>
            </a:r>
            <a:endParaRPr lang="en-US" sz="1600" dirty="0"/>
          </a:p>
        </p:txBody>
      </p:sp>
      <p:sp>
        <p:nvSpPr>
          <p:cNvPr id="19" name="Axe 5"/>
          <p:cNvSpPr/>
          <p:nvPr/>
        </p:nvSpPr>
        <p:spPr>
          <a:xfrm>
            <a:off x="548640" y="3657600"/>
            <a:ext cx="5410048" cy="987552"/>
          </a:xfrm>
          <a:prstGeom prst="roundRect">
            <a:avLst>
              <a:gd name="adj" fmla="val 9259"/>
            </a:avLst>
          </a:prstGeom>
          <a:solidFill>
            <a:schemeClr val="bg2"/>
          </a:solidFill>
          <a:ln/>
        </p:spPr>
      </p:sp>
      <p:sp>
        <p:nvSpPr>
          <p:cNvPr id="20" name="Icône axe 5"/>
          <p:cNvSpPr/>
          <p:nvPr/>
        </p:nvSpPr>
        <p:spPr>
          <a:xfrm>
            <a:off x="777240" y="3877056"/>
            <a:ext cx="548640" cy="548640"/>
          </a:xfrm>
          <a:prstGeom prst="ellipse">
            <a:avLst/>
          </a:prstGeom>
          <a:solidFill>
            <a:schemeClr val="accent1"/>
          </a:solidFill>
          <a:ln/>
        </p:spPr>
      </p:sp>
      <p:pic>
        <p:nvPicPr>
          <p:cNvPr id="21" name="Image 4" descr="preencoded.png">    </p:cNvPr>
          <p:cNvPicPr>
            <a:picLocks noChangeAspect="1"/>
          </p:cNvPicPr>
          <p:nvPr/>
        </p:nvPicPr>
        <p:blipFill>
          <a:blip r:embed="rId5"/>
          <a:stretch>
            <a:fillRect/>
          </a:stretch>
        </p:blipFill>
        <p:spPr>
          <a:xfrm>
            <a:off x="914400" y="4014216"/>
            <a:ext cx="274320" cy="274320"/>
          </a:xfrm>
          <a:prstGeom prst="rect">
            <a:avLst/>
          </a:prstGeom>
        </p:spPr>
      </p:pic>
      <p:sp>
        <p:nvSpPr>
          <p:cNvPr id="22" name="Text 15"/>
          <p:cNvSpPr txBox="1"/>
          <p:nvPr/>
        </p:nvSpPr>
        <p:spPr>
          <a:xfrm>
            <a:off x="1508760" y="3749040"/>
            <a:ext cx="4221328" cy="804672"/>
          </a:xfrm>
          <a:prstGeom prst="rect">
            <a:avLst/>
          </a:prstGeom>
          <a:noFill/>
          <a:ln/>
        </p:spPr>
        <p:txBody>
          <a:bodyPr wrap="square" lIns="0" tIns="0" rIns="0" bIns="0" rtlCol="0" anchor="ctr"/>
          <a:lstStyle/>
          <a:p>
            <a:pPr indent="0" marL="0">
              <a:buNone/>
            </a:pPr>
            <a:r>
              <a:rPr lang="en-US" sz="1600" dirty="0">
                <a:solidFill>
                  <a:schemeClr val="tx1"/>
                </a:solidFill>
              </a:rPr>
              <a:t>Type de vélo : mécanique ou électrique</a:t>
            </a:r>
            <a:endParaRPr lang="en-US" sz="1600" dirty="0"/>
          </a:p>
        </p:txBody>
      </p:sp>
      <p:sp>
        <p:nvSpPr>
          <p:cNvPr id="23" name="Axe 6"/>
          <p:cNvSpPr/>
          <p:nvPr/>
        </p:nvSpPr>
        <p:spPr>
          <a:xfrm>
            <a:off x="6233008" y="3657600"/>
            <a:ext cx="5410048" cy="987552"/>
          </a:xfrm>
          <a:prstGeom prst="roundRect">
            <a:avLst>
              <a:gd name="adj" fmla="val 9259"/>
            </a:avLst>
          </a:prstGeom>
          <a:solidFill>
            <a:schemeClr val="bg1"/>
          </a:solidFill>
          <a:ln/>
          <a:effectLst>
            <a:outerShdw sx="100000" sy="100000" kx="0" ky="0" algn="bl" rotWithShape="0" blurRad="127000" dist="25400" dir="5400000">
              <a:srgbClr val="102A2C">
                <a:alpha val="12000"/>
              </a:srgbClr>
            </a:outerShdw>
          </a:effectLst>
        </p:spPr>
      </p:sp>
      <p:sp>
        <p:nvSpPr>
          <p:cNvPr id="24" name="Icône axe 6"/>
          <p:cNvSpPr/>
          <p:nvPr/>
        </p:nvSpPr>
        <p:spPr>
          <a:xfrm>
            <a:off x="6461608" y="3877056"/>
            <a:ext cx="548640" cy="548640"/>
          </a:xfrm>
          <a:prstGeom prst="ellipse">
            <a:avLst/>
          </a:prstGeom>
          <a:solidFill>
            <a:schemeClr val="accent4"/>
          </a:solidFill>
          <a:ln/>
        </p:spPr>
      </p:sp>
      <p:pic>
        <p:nvPicPr>
          <p:cNvPr id="25" name="Image 5" descr="preencoded.png">    </p:cNvPr>
          <p:cNvPicPr>
            <a:picLocks noChangeAspect="1"/>
          </p:cNvPicPr>
          <p:nvPr/>
        </p:nvPicPr>
        <p:blipFill>
          <a:blip r:embed="rId6"/>
          <a:stretch>
            <a:fillRect/>
          </a:stretch>
        </p:blipFill>
        <p:spPr>
          <a:xfrm>
            <a:off x="6598768" y="4014216"/>
            <a:ext cx="274320" cy="274320"/>
          </a:xfrm>
          <a:prstGeom prst="rect">
            <a:avLst/>
          </a:prstGeom>
        </p:spPr>
      </p:pic>
      <p:sp>
        <p:nvSpPr>
          <p:cNvPr id="26" name="Text 18"/>
          <p:cNvSpPr txBox="1"/>
          <p:nvPr/>
        </p:nvSpPr>
        <p:spPr>
          <a:xfrm>
            <a:off x="7193128" y="3776472"/>
            <a:ext cx="4221328"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VOLET PANNES</a:t>
            </a:r>
            <a:endParaRPr lang="en-US" sz="1000" dirty="0"/>
          </a:p>
        </p:txBody>
      </p:sp>
      <p:sp>
        <p:nvSpPr>
          <p:cNvPr id="27" name="Text 19"/>
          <p:cNvSpPr txBox="1"/>
          <p:nvPr/>
        </p:nvSpPr>
        <p:spPr>
          <a:xfrm>
            <a:off x="7193128" y="3977640"/>
            <a:ext cx="4221328" cy="594360"/>
          </a:xfrm>
          <a:prstGeom prst="rect">
            <a:avLst/>
          </a:prstGeom>
          <a:noFill/>
          <a:ln/>
        </p:spPr>
        <p:txBody>
          <a:bodyPr wrap="square" lIns="0" tIns="0" rIns="0" bIns="0" rtlCol="0" anchor="ctr"/>
          <a:lstStyle/>
          <a:p>
            <a:pPr indent="0" marL="0">
              <a:buNone/>
            </a:pPr>
            <a:r>
              <a:rPr lang="en-US" sz="1500" dirty="0">
                <a:solidFill>
                  <a:schemeClr val="tx1"/>
                </a:solidFill>
              </a:rPr>
              <a:t>Arrêt perturbé à moins de 300 m (oui / non) et sa gravité</a:t>
            </a:r>
            <a:endParaRPr lang="en-US" sz="1500" dirty="0"/>
          </a:p>
        </p:txBody>
      </p:sp>
      <p:sp>
        <p:nvSpPr>
          <p:cNvPr id="28" name="Axe 7"/>
          <p:cNvSpPr/>
          <p:nvPr/>
        </p:nvSpPr>
        <p:spPr>
          <a:xfrm>
            <a:off x="548640" y="4800600"/>
            <a:ext cx="5410048" cy="987552"/>
          </a:xfrm>
          <a:prstGeom prst="roundRect">
            <a:avLst>
              <a:gd name="adj" fmla="val 9259"/>
            </a:avLst>
          </a:prstGeom>
          <a:solidFill>
            <a:schemeClr val="bg1"/>
          </a:solidFill>
          <a:ln/>
          <a:effectLst>
            <a:outerShdw sx="100000" sy="100000" kx="0" ky="0" algn="bl" rotWithShape="0" blurRad="127000" dist="25400" dir="5400000">
              <a:srgbClr val="102A2C">
                <a:alpha val="12000"/>
              </a:srgbClr>
            </a:outerShdw>
          </a:effectLst>
        </p:spPr>
      </p:sp>
      <p:sp>
        <p:nvSpPr>
          <p:cNvPr id="29" name="Icône axe 7"/>
          <p:cNvSpPr/>
          <p:nvPr/>
        </p:nvSpPr>
        <p:spPr>
          <a:xfrm>
            <a:off x="777240" y="5020056"/>
            <a:ext cx="548640" cy="548640"/>
          </a:xfrm>
          <a:prstGeom prst="ellipse">
            <a:avLst/>
          </a:prstGeom>
          <a:solidFill>
            <a:schemeClr val="accent4"/>
          </a:solidFill>
          <a:ln/>
        </p:spPr>
      </p:sp>
      <p:pic>
        <p:nvPicPr>
          <p:cNvPr id="30" name="Image 6" descr="preencoded.png">    </p:cNvPr>
          <p:cNvPicPr>
            <a:picLocks noChangeAspect="1"/>
          </p:cNvPicPr>
          <p:nvPr/>
        </p:nvPicPr>
        <p:blipFill>
          <a:blip r:embed="rId7"/>
          <a:stretch>
            <a:fillRect/>
          </a:stretch>
        </p:blipFill>
        <p:spPr>
          <a:xfrm>
            <a:off x="914400" y="5157216"/>
            <a:ext cx="274320" cy="274320"/>
          </a:xfrm>
          <a:prstGeom prst="rect">
            <a:avLst/>
          </a:prstGeom>
        </p:spPr>
      </p:pic>
      <p:sp>
        <p:nvSpPr>
          <p:cNvPr id="31" name="Text 22"/>
          <p:cNvSpPr txBox="1"/>
          <p:nvPr/>
        </p:nvSpPr>
        <p:spPr>
          <a:xfrm>
            <a:off x="1508760" y="4919472"/>
            <a:ext cx="4221328"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VOLET PANNES</a:t>
            </a:r>
            <a:endParaRPr lang="en-US" sz="1000" dirty="0"/>
          </a:p>
        </p:txBody>
      </p:sp>
      <p:sp>
        <p:nvSpPr>
          <p:cNvPr id="32" name="Text 23"/>
          <p:cNvSpPr txBox="1"/>
          <p:nvPr/>
        </p:nvSpPr>
        <p:spPr>
          <a:xfrm>
            <a:off x="1508760" y="5120640"/>
            <a:ext cx="4221328" cy="594360"/>
          </a:xfrm>
          <a:prstGeom prst="rect">
            <a:avLst/>
          </a:prstGeom>
          <a:noFill/>
          <a:ln/>
        </p:spPr>
        <p:txBody>
          <a:bodyPr wrap="square" lIns="0" tIns="0" rIns="0" bIns="0" rtlCol="0" anchor="ctr"/>
          <a:lstStyle/>
          <a:p>
            <a:pPr indent="0" marL="0">
              <a:buNone/>
            </a:pPr>
            <a:r>
              <a:rPr lang="en-US" sz="1500" dirty="0">
                <a:solidFill>
                  <a:schemeClr val="tx1"/>
                </a:solidFill>
              </a:rPr>
              <a:t>Type de ligne : métro, RER et tramway en analyse principale, bus en complément</a:t>
            </a:r>
            <a:endParaRPr lang="en-US" sz="1500" dirty="0"/>
          </a:p>
        </p:txBody>
      </p:sp>
      <p:sp>
        <p:nvSpPr>
          <p:cNvPr id="33" name="Règle de comparaison"/>
          <p:cNvSpPr/>
          <p:nvPr/>
        </p:nvSpPr>
        <p:spPr>
          <a:xfrm>
            <a:off x="6233008" y="4800600"/>
            <a:ext cx="5410048" cy="987552"/>
          </a:xfrm>
          <a:prstGeom prst="roundRect">
            <a:avLst>
              <a:gd name="adj" fmla="val 9259"/>
            </a:avLst>
          </a:prstGeom>
          <a:solidFill>
            <a:schemeClr val="tx1"/>
          </a:solidFill>
          <a:ln/>
          <a:effectLst>
            <a:outerShdw sx="100000" sy="100000" kx="0" ky="0" algn="bl" rotWithShape="0" blurRad="127000" dist="25400" dir="5400000">
              <a:srgbClr val="102A2C">
                <a:alpha val="12000"/>
              </a:srgbClr>
            </a:outerShdw>
          </a:effectLst>
        </p:spPr>
      </p:sp>
      <p:sp>
        <p:nvSpPr>
          <p:cNvPr id="34" name="Icône comparaison"/>
          <p:cNvSpPr/>
          <p:nvPr/>
        </p:nvSpPr>
        <p:spPr>
          <a:xfrm>
            <a:off x="6461608" y="5020056"/>
            <a:ext cx="548640" cy="548640"/>
          </a:xfrm>
          <a:prstGeom prst="ellipse">
            <a:avLst/>
          </a:prstGeom>
          <a:solidFill>
            <a:schemeClr val="accent1"/>
          </a:solidFill>
          <a:ln/>
        </p:spPr>
      </p:sp>
      <p:pic>
        <p:nvPicPr>
          <p:cNvPr id="35" name="Image 7" descr="preencoded.png">    </p:cNvPr>
          <p:cNvPicPr>
            <a:picLocks noChangeAspect="1"/>
          </p:cNvPicPr>
          <p:nvPr/>
        </p:nvPicPr>
        <p:blipFill>
          <a:blip r:embed="rId8"/>
          <a:stretch>
            <a:fillRect/>
          </a:stretch>
        </p:blipFill>
        <p:spPr>
          <a:xfrm>
            <a:off x="6598768" y="5157216"/>
            <a:ext cx="274320" cy="274320"/>
          </a:xfrm>
          <a:prstGeom prst="rect">
            <a:avLst/>
          </a:prstGeom>
        </p:spPr>
      </p:pic>
      <p:sp>
        <p:nvSpPr>
          <p:cNvPr id="36" name="Text 26"/>
          <p:cNvSpPr txBox="1"/>
          <p:nvPr/>
        </p:nvSpPr>
        <p:spPr>
          <a:xfrm>
            <a:off x="7193128" y="4892040"/>
            <a:ext cx="4221328" cy="804672"/>
          </a:xfrm>
          <a:prstGeom prst="rect">
            <a:avLst/>
          </a:prstGeom>
          <a:noFill/>
          <a:ln/>
        </p:spPr>
        <p:txBody>
          <a:bodyPr wrap="square" lIns="0" tIns="0" rIns="0" bIns="0" rtlCol="0" anchor="ctr"/>
          <a:lstStyle/>
          <a:p>
            <a:pPr indent="0" marL="0">
              <a:buNone/>
            </a:pPr>
            <a:r>
              <a:rPr lang="en-US" sz="1600" b="1" dirty="0">
                <a:solidFill>
                  <a:schemeClr val="bg1"/>
                </a:solidFill>
              </a:rPr>
              <a:t>Toujours comparer à heure et météo comparables</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Visualiser, puis recommander</a:t>
            </a:r>
            <a:endParaRPr lang="en-US" sz="3400" dirty="0"/>
          </a:p>
        </p:txBody>
      </p:sp>
      <p:sp>
        <p:nvSpPr>
          <p:cNvPr id="3" name="Visu Carte"/>
          <p:cNvSpPr/>
          <p:nvPr/>
        </p:nvSpPr>
        <p:spPr>
          <a:xfrm>
            <a:off x="548640" y="1325880"/>
            <a:ext cx="3515258" cy="1234440"/>
          </a:xfrm>
          <a:prstGeom prst="roundRect">
            <a:avLst>
              <a:gd name="adj" fmla="val 7407"/>
            </a:avLst>
          </a:prstGeom>
          <a:solidFill>
            <a:schemeClr val="bg2"/>
          </a:solidFill>
          <a:ln/>
        </p:spPr>
      </p:sp>
      <p:sp>
        <p:nvSpPr>
          <p:cNvPr id="4" name="Icône Carte"/>
          <p:cNvSpPr/>
          <p:nvPr/>
        </p:nvSpPr>
        <p:spPr>
          <a:xfrm>
            <a:off x="777240" y="1600200"/>
            <a:ext cx="594360" cy="59436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1554480" y="146304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Carte</a:t>
            </a:r>
            <a:endParaRPr lang="en-US" sz="1700" dirty="0"/>
          </a:p>
        </p:txBody>
      </p:sp>
      <p:sp>
        <p:nvSpPr>
          <p:cNvPr id="7" name="Text 4"/>
          <p:cNvSpPr txBox="1"/>
          <p:nvPr/>
        </p:nvSpPr>
        <p:spPr>
          <a:xfrm>
            <a:off x="1554480" y="1810512"/>
            <a:ext cx="2326538" cy="658368"/>
          </a:xfrm>
          <a:prstGeom prst="rect">
            <a:avLst/>
          </a:prstGeom>
          <a:noFill/>
          <a:ln/>
        </p:spPr>
        <p:txBody>
          <a:bodyPr wrap="square" lIns="0" tIns="0" rIns="0" bIns="0" rtlCol="0" anchor="t"/>
          <a:lstStyle/>
          <a:p>
            <a:pPr indent="0" marL="0">
              <a:buNone/>
            </a:pPr>
            <a:r>
              <a:rPr lang="en-US" sz="1400" dirty="0">
                <a:solidFill>
                  <a:schemeClr val="tx2"/>
                </a:solidFill>
              </a:rPr>
              <a:t>Stations colorées par taux de pénurie</a:t>
            </a:r>
            <a:endParaRPr lang="en-US" sz="1400" dirty="0"/>
          </a:p>
        </p:txBody>
      </p:sp>
      <p:sp>
        <p:nvSpPr>
          <p:cNvPr id="8" name="Visu Heatmap"/>
          <p:cNvSpPr/>
          <p:nvPr/>
        </p:nvSpPr>
        <p:spPr>
          <a:xfrm>
            <a:off x="4338218" y="1325880"/>
            <a:ext cx="3515258" cy="1234440"/>
          </a:xfrm>
          <a:prstGeom prst="roundRect">
            <a:avLst>
              <a:gd name="adj" fmla="val 7407"/>
            </a:avLst>
          </a:prstGeom>
          <a:solidFill>
            <a:schemeClr val="bg2"/>
          </a:solidFill>
          <a:ln/>
        </p:spPr>
      </p:sp>
      <p:sp>
        <p:nvSpPr>
          <p:cNvPr id="9" name="Icône Heatmap"/>
          <p:cNvSpPr/>
          <p:nvPr/>
        </p:nvSpPr>
        <p:spPr>
          <a:xfrm>
            <a:off x="4566818" y="1600200"/>
            <a:ext cx="594360" cy="5943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4715408" y="1748790"/>
            <a:ext cx="297180" cy="297180"/>
          </a:xfrm>
          <a:prstGeom prst="rect">
            <a:avLst/>
          </a:prstGeom>
        </p:spPr>
      </p:pic>
      <p:sp>
        <p:nvSpPr>
          <p:cNvPr id="11" name="Text 7"/>
          <p:cNvSpPr txBox="1"/>
          <p:nvPr/>
        </p:nvSpPr>
        <p:spPr>
          <a:xfrm>
            <a:off x="5344058" y="146304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Heatmap</a:t>
            </a:r>
            <a:endParaRPr lang="en-US" sz="1700" dirty="0"/>
          </a:p>
        </p:txBody>
      </p:sp>
      <p:sp>
        <p:nvSpPr>
          <p:cNvPr id="12" name="Text 8"/>
          <p:cNvSpPr txBox="1"/>
          <p:nvPr/>
        </p:nvSpPr>
        <p:spPr>
          <a:xfrm>
            <a:off x="5344058" y="1810512"/>
            <a:ext cx="2326538" cy="658368"/>
          </a:xfrm>
          <a:prstGeom prst="rect">
            <a:avLst/>
          </a:prstGeom>
          <a:noFill/>
          <a:ln/>
        </p:spPr>
        <p:txBody>
          <a:bodyPr wrap="square" lIns="0" tIns="0" rIns="0" bIns="0" rtlCol="0" anchor="t"/>
          <a:lstStyle/>
          <a:p>
            <a:pPr indent="0" marL="0">
              <a:buNone/>
            </a:pPr>
            <a:r>
              <a:rPr lang="en-US" sz="1400" dirty="0">
                <a:solidFill>
                  <a:schemeClr val="tx2"/>
                </a:solidFill>
              </a:rPr>
              <a:t>Heure × jour de la semaine</a:t>
            </a:r>
            <a:endParaRPr lang="en-US" sz="1400" dirty="0"/>
          </a:p>
        </p:txBody>
      </p:sp>
      <p:sp>
        <p:nvSpPr>
          <p:cNvPr id="13" name="Visu Pluie / sec"/>
          <p:cNvSpPr/>
          <p:nvPr/>
        </p:nvSpPr>
        <p:spPr>
          <a:xfrm>
            <a:off x="8127797" y="1325880"/>
            <a:ext cx="3515258" cy="1234440"/>
          </a:xfrm>
          <a:prstGeom prst="roundRect">
            <a:avLst>
              <a:gd name="adj" fmla="val 7407"/>
            </a:avLst>
          </a:prstGeom>
          <a:solidFill>
            <a:schemeClr val="bg2"/>
          </a:solidFill>
          <a:ln/>
        </p:spPr>
      </p:sp>
      <p:sp>
        <p:nvSpPr>
          <p:cNvPr id="14" name="Icône Pluie / sec"/>
          <p:cNvSpPr/>
          <p:nvPr/>
        </p:nvSpPr>
        <p:spPr>
          <a:xfrm>
            <a:off x="8356397" y="1600200"/>
            <a:ext cx="594360" cy="594360"/>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8504987" y="1748790"/>
            <a:ext cx="297180" cy="297180"/>
          </a:xfrm>
          <a:prstGeom prst="rect">
            <a:avLst/>
          </a:prstGeom>
        </p:spPr>
      </p:pic>
      <p:sp>
        <p:nvSpPr>
          <p:cNvPr id="16" name="Text 11"/>
          <p:cNvSpPr txBox="1"/>
          <p:nvPr/>
        </p:nvSpPr>
        <p:spPr>
          <a:xfrm>
            <a:off x="9133637" y="146304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Pluie / sec</a:t>
            </a:r>
            <a:endParaRPr lang="en-US" sz="1700" dirty="0"/>
          </a:p>
        </p:txBody>
      </p:sp>
      <p:sp>
        <p:nvSpPr>
          <p:cNvPr id="17" name="Text 12"/>
          <p:cNvSpPr txBox="1"/>
          <p:nvPr/>
        </p:nvSpPr>
        <p:spPr>
          <a:xfrm>
            <a:off x="9133637" y="1810512"/>
            <a:ext cx="2326538" cy="658368"/>
          </a:xfrm>
          <a:prstGeom prst="rect">
            <a:avLst/>
          </a:prstGeom>
          <a:noFill/>
          <a:ln/>
        </p:spPr>
        <p:txBody>
          <a:bodyPr wrap="square" lIns="0" tIns="0" rIns="0" bIns="0" rtlCol="0" anchor="t"/>
          <a:lstStyle/>
          <a:p>
            <a:pPr indent="0" marL="0">
              <a:buNone/>
            </a:pPr>
            <a:r>
              <a:rPr lang="en-US" sz="1400" dirty="0">
                <a:solidFill>
                  <a:schemeClr val="tx2"/>
                </a:solidFill>
              </a:rPr>
              <a:t>Courbes de pénurie selon la météo</a:t>
            </a:r>
            <a:endParaRPr lang="en-US" sz="1400" dirty="0"/>
          </a:p>
        </p:txBody>
      </p:sp>
      <p:sp>
        <p:nvSpPr>
          <p:cNvPr id="18" name="Visu Top 20"/>
          <p:cNvSpPr/>
          <p:nvPr/>
        </p:nvSpPr>
        <p:spPr>
          <a:xfrm>
            <a:off x="548640" y="2788920"/>
            <a:ext cx="3515258" cy="1234440"/>
          </a:xfrm>
          <a:prstGeom prst="roundRect">
            <a:avLst>
              <a:gd name="adj" fmla="val 7407"/>
            </a:avLst>
          </a:prstGeom>
          <a:solidFill>
            <a:schemeClr val="bg2"/>
          </a:solidFill>
          <a:ln/>
        </p:spPr>
      </p:sp>
      <p:sp>
        <p:nvSpPr>
          <p:cNvPr id="19" name="Icône Top 20"/>
          <p:cNvSpPr/>
          <p:nvPr/>
        </p:nvSpPr>
        <p:spPr>
          <a:xfrm>
            <a:off x="777240" y="3063240"/>
            <a:ext cx="594360" cy="59436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25830" y="3211830"/>
            <a:ext cx="297180" cy="297180"/>
          </a:xfrm>
          <a:prstGeom prst="rect">
            <a:avLst/>
          </a:prstGeom>
        </p:spPr>
      </p:pic>
      <p:sp>
        <p:nvSpPr>
          <p:cNvPr id="21" name="Text 15"/>
          <p:cNvSpPr txBox="1"/>
          <p:nvPr/>
        </p:nvSpPr>
        <p:spPr>
          <a:xfrm>
            <a:off x="1554480" y="292608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Top 20</a:t>
            </a:r>
            <a:endParaRPr lang="en-US" sz="1700" dirty="0"/>
          </a:p>
        </p:txBody>
      </p:sp>
      <p:sp>
        <p:nvSpPr>
          <p:cNvPr id="22" name="Text 16"/>
          <p:cNvSpPr txBox="1"/>
          <p:nvPr/>
        </p:nvSpPr>
        <p:spPr>
          <a:xfrm>
            <a:off x="1554480" y="3273552"/>
            <a:ext cx="2326538" cy="658368"/>
          </a:xfrm>
          <a:prstGeom prst="rect">
            <a:avLst/>
          </a:prstGeom>
          <a:noFill/>
          <a:ln/>
        </p:spPr>
        <p:txBody>
          <a:bodyPr wrap="square" lIns="0" tIns="0" rIns="0" bIns="0" rtlCol="0" anchor="t"/>
          <a:lstStyle/>
          <a:p>
            <a:pPr indent="0" marL="0">
              <a:buNone/>
            </a:pPr>
            <a:r>
              <a:rPr lang="en-US" sz="1400" dirty="0">
                <a:solidFill>
                  <a:schemeClr val="tx2"/>
                </a:solidFill>
              </a:rPr>
              <a:t>Les 20 stations les plus critiques</a:t>
            </a:r>
            <a:endParaRPr lang="en-US" sz="1400" dirty="0"/>
          </a:p>
        </p:txBody>
      </p:sp>
      <p:sp>
        <p:nvSpPr>
          <p:cNvPr id="23" name="Visu Chronologie"/>
          <p:cNvSpPr/>
          <p:nvPr/>
        </p:nvSpPr>
        <p:spPr>
          <a:xfrm>
            <a:off x="4338218" y="2788920"/>
            <a:ext cx="3515258" cy="1234440"/>
          </a:xfrm>
          <a:prstGeom prst="roundRect">
            <a:avLst>
              <a:gd name="adj" fmla="val 7407"/>
            </a:avLst>
          </a:prstGeom>
          <a:solidFill>
            <a:schemeClr val="bg2"/>
          </a:solidFill>
          <a:ln/>
        </p:spPr>
      </p:sp>
      <p:sp>
        <p:nvSpPr>
          <p:cNvPr id="24" name="Icône Chronologie"/>
          <p:cNvSpPr/>
          <p:nvPr/>
        </p:nvSpPr>
        <p:spPr>
          <a:xfrm>
            <a:off x="4566818" y="3063240"/>
            <a:ext cx="594360" cy="594360"/>
          </a:xfrm>
          <a:prstGeom prst="ellipse">
            <a:avLst/>
          </a:prstGeom>
          <a:solidFill>
            <a:schemeClr val="accent5"/>
          </a:solidFill>
          <a:ln/>
        </p:spPr>
      </p:sp>
      <p:pic>
        <p:nvPicPr>
          <p:cNvPr id="25" name="Image 4" descr="preencoded.png">    </p:cNvPr>
          <p:cNvPicPr>
            <a:picLocks noChangeAspect="1"/>
          </p:cNvPicPr>
          <p:nvPr/>
        </p:nvPicPr>
        <p:blipFill>
          <a:blip r:embed="rId5"/>
          <a:stretch>
            <a:fillRect/>
          </a:stretch>
        </p:blipFill>
        <p:spPr>
          <a:xfrm>
            <a:off x="4715408" y="3211830"/>
            <a:ext cx="297180" cy="297180"/>
          </a:xfrm>
          <a:prstGeom prst="rect">
            <a:avLst/>
          </a:prstGeom>
        </p:spPr>
      </p:pic>
      <p:sp>
        <p:nvSpPr>
          <p:cNvPr id="26" name="Text 19"/>
          <p:cNvSpPr txBox="1"/>
          <p:nvPr/>
        </p:nvSpPr>
        <p:spPr>
          <a:xfrm>
            <a:off x="5344058" y="292608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Chronologie</a:t>
            </a:r>
            <a:endParaRPr lang="en-US" sz="1700" dirty="0"/>
          </a:p>
        </p:txBody>
      </p:sp>
      <p:sp>
        <p:nvSpPr>
          <p:cNvPr id="27" name="Text 20"/>
          <p:cNvSpPr txBox="1"/>
          <p:nvPr/>
        </p:nvSpPr>
        <p:spPr>
          <a:xfrm>
            <a:off x="5344058" y="3273552"/>
            <a:ext cx="2326538" cy="658368"/>
          </a:xfrm>
          <a:prstGeom prst="rect">
            <a:avLst/>
          </a:prstGeom>
          <a:noFill/>
          <a:ln/>
        </p:spPr>
        <p:txBody>
          <a:bodyPr wrap="square" lIns="0" tIns="0" rIns="0" bIns="0" rtlCol="0" anchor="t"/>
          <a:lstStyle/>
          <a:p>
            <a:pPr indent="0" marL="0">
              <a:buNone/>
            </a:pPr>
            <a:r>
              <a:rPr lang="en-US" sz="1400" dirty="0">
                <a:solidFill>
                  <a:schemeClr val="tx2"/>
                </a:solidFill>
              </a:rPr>
              <a:t>Perturbations superposées à la pénurie des stations voisines</a:t>
            </a:r>
            <a:endParaRPr lang="en-US" sz="1400" dirty="0"/>
          </a:p>
        </p:txBody>
      </p:sp>
      <p:sp>
        <p:nvSpPr>
          <p:cNvPr id="28" name="Visu Avec / sans"/>
          <p:cNvSpPr/>
          <p:nvPr/>
        </p:nvSpPr>
        <p:spPr>
          <a:xfrm>
            <a:off x="8127797" y="2788920"/>
            <a:ext cx="3515258" cy="1234440"/>
          </a:xfrm>
          <a:prstGeom prst="roundRect">
            <a:avLst>
              <a:gd name="adj" fmla="val 7407"/>
            </a:avLst>
          </a:prstGeom>
          <a:solidFill>
            <a:schemeClr val="bg2"/>
          </a:solidFill>
          <a:ln/>
        </p:spPr>
      </p:sp>
      <p:sp>
        <p:nvSpPr>
          <p:cNvPr id="29" name="Icône Avec / sans"/>
          <p:cNvSpPr/>
          <p:nvPr/>
        </p:nvSpPr>
        <p:spPr>
          <a:xfrm>
            <a:off x="8356397" y="3063240"/>
            <a:ext cx="594360" cy="594360"/>
          </a:xfrm>
          <a:prstGeom prst="ellipse">
            <a:avLst/>
          </a:prstGeom>
          <a:solidFill>
            <a:schemeClr val="tx2"/>
          </a:solidFill>
          <a:ln/>
        </p:spPr>
      </p:sp>
      <p:pic>
        <p:nvPicPr>
          <p:cNvPr id="30" name="Image 5" descr="preencoded.png">    </p:cNvPr>
          <p:cNvPicPr>
            <a:picLocks noChangeAspect="1"/>
          </p:cNvPicPr>
          <p:nvPr/>
        </p:nvPicPr>
        <p:blipFill>
          <a:blip r:embed="rId6"/>
          <a:stretch>
            <a:fillRect/>
          </a:stretch>
        </p:blipFill>
        <p:spPr>
          <a:xfrm>
            <a:off x="8504987" y="3211830"/>
            <a:ext cx="297180" cy="297180"/>
          </a:xfrm>
          <a:prstGeom prst="rect">
            <a:avLst/>
          </a:prstGeom>
        </p:spPr>
      </p:pic>
      <p:sp>
        <p:nvSpPr>
          <p:cNvPr id="31" name="Text 23"/>
          <p:cNvSpPr txBox="1"/>
          <p:nvPr/>
        </p:nvSpPr>
        <p:spPr>
          <a:xfrm>
            <a:off x="9133637" y="2926080"/>
            <a:ext cx="2326538" cy="347472"/>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Avec / sans</a:t>
            </a:r>
            <a:endParaRPr lang="en-US" sz="1700" dirty="0"/>
          </a:p>
        </p:txBody>
      </p:sp>
      <p:sp>
        <p:nvSpPr>
          <p:cNvPr id="32" name="Text 24"/>
          <p:cNvSpPr txBox="1"/>
          <p:nvPr/>
        </p:nvSpPr>
        <p:spPr>
          <a:xfrm>
            <a:off x="9133637" y="3273552"/>
            <a:ext cx="2326538" cy="658368"/>
          </a:xfrm>
          <a:prstGeom prst="rect">
            <a:avLst/>
          </a:prstGeom>
          <a:noFill/>
          <a:ln/>
        </p:spPr>
        <p:txBody>
          <a:bodyPr wrap="square" lIns="0" tIns="0" rIns="0" bIns="0" rtlCol="0" anchor="t"/>
          <a:lstStyle/>
          <a:p>
            <a:pPr indent="0" marL="0">
              <a:buNone/>
            </a:pPr>
            <a:r>
              <a:rPr lang="en-US" sz="1400" dirty="0">
                <a:solidFill>
                  <a:schemeClr val="tx2"/>
                </a:solidFill>
              </a:rPr>
              <a:t>Comparaison avec ou sans perturbation, par arrondissement</a:t>
            </a:r>
            <a:endParaRPr lang="en-US" sz="1400" dirty="0"/>
          </a:p>
        </p:txBody>
      </p:sp>
      <p:sp>
        <p:nvSpPr>
          <p:cNvPr id="33" name="Recommandation"/>
          <p:cNvSpPr/>
          <p:nvPr/>
        </p:nvSpPr>
        <p:spPr>
          <a:xfrm>
            <a:off x="548640" y="4343400"/>
            <a:ext cx="11094415" cy="1783080"/>
          </a:xfrm>
          <a:prstGeom prst="roundRect">
            <a:avLst>
              <a:gd name="adj" fmla="val 5128"/>
            </a:avLst>
          </a:prstGeom>
          <a:solidFill>
            <a:schemeClr val="tx1"/>
          </a:solidFill>
          <a:ln/>
          <a:effectLst>
            <a:outerShdw sx="100000" sy="100000" kx="0" ky="0" algn="bl" rotWithShape="0" blurRad="127000" dist="25400" dir="5400000">
              <a:srgbClr val="102A2C">
                <a:alpha val="12000"/>
              </a:srgbClr>
            </a:outerShdw>
          </a:effectLst>
        </p:spPr>
      </p:sp>
      <p:sp>
        <p:nvSpPr>
          <p:cNvPr id="34" name="Icône recommandation"/>
          <p:cNvSpPr/>
          <p:nvPr/>
        </p:nvSpPr>
        <p:spPr>
          <a:xfrm>
            <a:off x="868680" y="4663440"/>
            <a:ext cx="731520" cy="73152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1051560" y="4846320"/>
            <a:ext cx="365760" cy="365760"/>
          </a:xfrm>
          <a:prstGeom prst="rect">
            <a:avLst/>
          </a:prstGeom>
        </p:spPr>
      </p:pic>
      <p:sp>
        <p:nvSpPr>
          <p:cNvPr id="36" name="Text 27"/>
          <p:cNvSpPr txBox="1"/>
          <p:nvPr/>
        </p:nvSpPr>
        <p:spPr>
          <a:xfrm>
            <a:off x="1874520" y="4526280"/>
            <a:ext cx="9448495" cy="292608"/>
          </a:xfrm>
          <a:prstGeom prst="rect">
            <a:avLst/>
          </a:prstGeom>
          <a:noFill/>
          <a:ln/>
        </p:spPr>
        <p:txBody>
          <a:bodyPr wrap="square" lIns="0" tIns="0" rIns="0" bIns="0" rtlCol="0" anchor="t"/>
          <a:lstStyle/>
          <a:p>
            <a:pPr indent="0" marL="0">
              <a:buNone/>
            </a:pPr>
            <a:r>
              <a:rPr lang="en-US" sz="1400" b="1" dirty="0">
                <a:solidFill>
                  <a:schemeClr val="accent6"/>
                </a:solidFill>
              </a:rPr>
              <a:t>Exemple de recommandation attendue</a:t>
            </a:r>
            <a:endParaRPr lang="en-US" sz="1400" dirty="0"/>
          </a:p>
        </p:txBody>
      </p:sp>
      <p:sp>
        <p:nvSpPr>
          <p:cNvPr id="37" name="Text 28"/>
          <p:cNvSpPr txBox="1"/>
          <p:nvPr/>
        </p:nvSpPr>
        <p:spPr>
          <a:xfrm>
            <a:off x="1874520" y="4846320"/>
            <a:ext cx="9448495" cy="822960"/>
          </a:xfrm>
          <a:prstGeom prst="rect">
            <a:avLst/>
          </a:prstGeom>
          <a:noFill/>
          <a:ln/>
        </p:spPr>
        <p:txBody>
          <a:bodyPr wrap="square" lIns="0" tIns="0" rIns="0" bIns="0" rtlCol="0" anchor="t"/>
          <a:lstStyle/>
          <a:p>
            <a:pPr indent="0" marL="0">
              <a:buNone/>
            </a:pPr>
            <a:r>
              <a:rPr lang="en-US" sz="2000" i="1" dirty="0">
                <a:solidFill>
                  <a:schemeClr val="bg1"/>
                </a:solidFill>
                <a:latin typeface="+mj-lt" pitchFamily="34" charset="0"/>
                <a:ea typeface="+mj-lt" pitchFamily="34" charset="-122"/>
                <a:cs typeface="+mj-lt" pitchFamily="34" charset="-120"/>
              </a:rPr>
              <a:t>« Renforcer les stations proches de la ligne X dès qu’une perturbation bloquante est signalée sur un arrêt voisin, surtout aux heures de pointe et les jours de pluie »</a:t>
            </a:r>
            <a:endParaRPr lang="en-US" sz="2000" dirty="0"/>
          </a:p>
        </p:txBody>
      </p:sp>
      <p:sp>
        <p:nvSpPr>
          <p:cNvPr id="38" name="Text 29"/>
          <p:cNvSpPr txBox="1"/>
          <p:nvPr/>
        </p:nvSpPr>
        <p:spPr>
          <a:xfrm>
            <a:off x="1874520" y="5687568"/>
            <a:ext cx="9448495" cy="292608"/>
          </a:xfrm>
          <a:prstGeom prst="rect">
            <a:avLst/>
          </a:prstGeom>
          <a:noFill/>
          <a:ln/>
        </p:spPr>
        <p:txBody>
          <a:bodyPr wrap="square" lIns="0" tIns="0" rIns="0" bIns="0" rtlCol="0" anchor="t"/>
          <a:lstStyle/>
          <a:p>
            <a:pPr indent="0" marL="0">
              <a:buNone/>
            </a:pPr>
            <a:r>
              <a:rPr lang="en-US" sz="1300" dirty="0">
                <a:solidFill>
                  <a:schemeClr val="bg2"/>
                </a:solidFill>
              </a:rPr>
              <a:t>À valider sur les données réellement collectées</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Qualité des données : cinq pièges</a:t>
            </a:r>
            <a:endParaRPr lang="en-US" sz="3400" dirty="0"/>
          </a:p>
        </p:txBody>
      </p:sp>
      <p:sp>
        <p:nvSpPr>
          <p:cNvPr id="3" name="Text 1"/>
          <p:cNvSpPr txBox="1"/>
          <p:nvPr/>
        </p:nvSpPr>
        <p:spPr>
          <a:xfrm>
            <a:off x="1417320" y="1280160"/>
            <a:ext cx="4572000" cy="228600"/>
          </a:xfrm>
          <a:prstGeom prst="rect">
            <a:avLst/>
          </a:prstGeom>
          <a:noFill/>
          <a:ln/>
        </p:spPr>
        <p:txBody>
          <a:bodyPr wrap="square" lIns="0" tIns="0" rIns="0" bIns="0" rtlCol="0" anchor="t"/>
          <a:lstStyle/>
          <a:p>
            <a:pPr indent="0" marL="0">
              <a:buNone/>
            </a:pPr>
            <a:r>
              <a:rPr lang="en-US" sz="1100" b="1" spc="100" kern="0" dirty="0">
                <a:solidFill>
                  <a:schemeClr val="accent4"/>
                </a:solidFill>
              </a:rPr>
              <a:t>PROBLÈME</a:t>
            </a:r>
            <a:endParaRPr lang="en-US" sz="1100" dirty="0"/>
          </a:p>
        </p:txBody>
      </p:sp>
      <p:sp>
        <p:nvSpPr>
          <p:cNvPr id="4" name="Text 2"/>
          <p:cNvSpPr txBox="1"/>
          <p:nvPr/>
        </p:nvSpPr>
        <p:spPr>
          <a:xfrm>
            <a:off x="7086600" y="1280160"/>
            <a:ext cx="36576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PARADE</a:t>
            </a:r>
            <a:endParaRPr lang="en-US" sz="1100" dirty="0"/>
          </a:p>
        </p:txBody>
      </p:sp>
      <p:sp>
        <p:nvSpPr>
          <p:cNvPr id="5" name="Problème 1"/>
          <p:cNvSpPr/>
          <p:nvPr/>
        </p:nvSpPr>
        <p:spPr>
          <a:xfrm>
            <a:off x="548640" y="1572768"/>
            <a:ext cx="5440680" cy="768096"/>
          </a:xfrm>
          <a:prstGeom prst="roundRect">
            <a:avLst>
              <a:gd name="adj" fmla="val 11905"/>
            </a:avLst>
          </a:prstGeom>
          <a:solidFill>
            <a:schemeClr val="bg2"/>
          </a:solidFill>
          <a:ln/>
        </p:spPr>
      </p:sp>
      <p:sp>
        <p:nvSpPr>
          <p:cNvPr id="6" name="Icône problème 1"/>
          <p:cNvSpPr/>
          <p:nvPr/>
        </p:nvSpPr>
        <p:spPr>
          <a:xfrm>
            <a:off x="749808" y="1709928"/>
            <a:ext cx="493776" cy="493776"/>
          </a:xfrm>
          <a:prstGeom prst="ellipse">
            <a:avLst/>
          </a:prstGeom>
          <a:solidFill>
            <a:schemeClr val="accent4"/>
          </a:solidFill>
          <a:ln/>
        </p:spPr>
      </p:sp>
      <p:pic>
        <p:nvPicPr>
          <p:cNvPr id="7" name="Image 0" descr="preencoded.png">    </p:cNvPr>
          <p:cNvPicPr>
            <a:picLocks noChangeAspect="1"/>
          </p:cNvPicPr>
          <p:nvPr/>
        </p:nvPicPr>
        <p:blipFill>
          <a:blip r:embed="rId1"/>
          <a:stretch>
            <a:fillRect/>
          </a:stretch>
        </p:blipFill>
        <p:spPr>
          <a:xfrm>
            <a:off x="873252" y="1833372"/>
            <a:ext cx="246888" cy="246888"/>
          </a:xfrm>
          <a:prstGeom prst="rect">
            <a:avLst/>
          </a:prstGeom>
        </p:spPr>
      </p:pic>
      <p:sp>
        <p:nvSpPr>
          <p:cNvPr id="8" name="Text 5"/>
          <p:cNvSpPr txBox="1"/>
          <p:nvPr/>
        </p:nvSpPr>
        <p:spPr>
          <a:xfrm>
            <a:off x="1417320" y="1645920"/>
            <a:ext cx="4434840" cy="310896"/>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last_reported en retard</a:t>
            </a:r>
            <a:endParaRPr lang="en-US" sz="1600" dirty="0"/>
          </a:p>
        </p:txBody>
      </p:sp>
      <p:sp>
        <p:nvSpPr>
          <p:cNvPr id="9" name="Text 6"/>
          <p:cNvSpPr txBox="1"/>
          <p:nvPr/>
        </p:nvSpPr>
        <p:spPr>
          <a:xfrm>
            <a:off x="1417320" y="1984248"/>
            <a:ext cx="4434840" cy="292608"/>
          </a:xfrm>
          <a:prstGeom prst="rect">
            <a:avLst/>
          </a:prstGeom>
          <a:noFill/>
          <a:ln/>
        </p:spPr>
        <p:txBody>
          <a:bodyPr wrap="square" lIns="0" tIns="0" rIns="0" bIns="0" rtlCol="0" anchor="t"/>
          <a:lstStyle/>
          <a:p>
            <a:pPr indent="0" marL="0">
              <a:buNone/>
            </a:pPr>
            <a:r>
              <a:rPr lang="en-US" sz="1400" dirty="0">
                <a:solidFill>
                  <a:schemeClr val="tx2"/>
                </a:solidFill>
              </a:rPr>
              <a:t>Mis à jour par lots, ≈ 20 min de retard</a:t>
            </a:r>
            <a:endParaRPr lang="en-US" sz="1400" dirty="0"/>
          </a:p>
        </p:txBody>
      </p:sp>
      <p:sp>
        <p:nvSpPr>
          <p:cNvPr id="10" name="Flèche piège 1"/>
          <p:cNvSpPr/>
          <p:nvPr/>
        </p:nvSpPr>
        <p:spPr>
          <a:xfrm>
            <a:off x="6080760" y="1956816"/>
            <a:ext cx="502920" cy="0"/>
          </a:xfrm>
          <a:prstGeom prst="line">
            <a:avLst/>
          </a:prstGeom>
          <a:noFill/>
          <a:ln w="25400">
            <a:solidFill>
              <a:schemeClr val="tx2"/>
            </a:solidFill>
            <a:prstDash val="solid"/>
            <a:tailEnd type="triangle"/>
          </a:ln>
        </p:spPr>
      </p:sp>
      <p:sp>
        <p:nvSpPr>
          <p:cNvPr id="11" name="Parade 1"/>
          <p:cNvSpPr/>
          <p:nvPr/>
        </p:nvSpPr>
        <p:spPr>
          <a:xfrm>
            <a:off x="6675120" y="1572768"/>
            <a:ext cx="4967935" cy="768096"/>
          </a:xfrm>
          <a:prstGeom prst="roundRect">
            <a:avLst>
              <a:gd name="adj" fmla="val 11905"/>
            </a:avLst>
          </a:prstGeom>
          <a:solidFill>
            <a:schemeClr val="bg1"/>
          </a:solidFill>
          <a:ln/>
          <a:effectLst>
            <a:outerShdw sx="100000" sy="100000" kx="0" ky="0" algn="bl" rotWithShape="0" blurRad="127000" dist="25400" dir="5400000">
              <a:srgbClr val="102A2C">
                <a:alpha val="12000"/>
              </a:srgbClr>
            </a:outerShdw>
          </a:effectLst>
        </p:spPr>
      </p:sp>
      <p:sp>
        <p:nvSpPr>
          <p:cNvPr id="12" name="Icône parade 1"/>
          <p:cNvSpPr/>
          <p:nvPr/>
        </p:nvSpPr>
        <p:spPr>
          <a:xfrm>
            <a:off x="6876288" y="1709928"/>
            <a:ext cx="493776" cy="493776"/>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6999732" y="1833372"/>
            <a:ext cx="246888" cy="246888"/>
          </a:xfrm>
          <a:prstGeom prst="rect">
            <a:avLst/>
          </a:prstGeom>
        </p:spPr>
      </p:pic>
      <p:sp>
        <p:nvSpPr>
          <p:cNvPr id="14" name="Text 10"/>
          <p:cNvSpPr txBox="1"/>
          <p:nvPr/>
        </p:nvSpPr>
        <p:spPr>
          <a:xfrm>
            <a:off x="7543800" y="1636776"/>
            <a:ext cx="3916375" cy="640080"/>
          </a:xfrm>
          <a:prstGeom prst="rect">
            <a:avLst/>
          </a:prstGeom>
          <a:noFill/>
          <a:ln/>
        </p:spPr>
        <p:txBody>
          <a:bodyPr wrap="square" lIns="0" tIns="0" rIns="0" bIns="0" rtlCol="0" anchor="ctr"/>
          <a:lstStyle/>
          <a:p>
            <a:pPr indent="0" marL="0">
              <a:buNone/>
            </a:pPr>
            <a:r>
              <a:rPr lang="en-US" sz="1500" dirty="0">
                <a:solidFill>
                  <a:schemeClr val="tx1"/>
                </a:solidFill>
              </a:rPr>
              <a:t>Horodater avec lastUpdatedOther ou l’heure de collecte</a:t>
            </a:r>
            <a:endParaRPr lang="en-US" sz="1500" dirty="0"/>
          </a:p>
        </p:txBody>
      </p:sp>
      <p:sp>
        <p:nvSpPr>
          <p:cNvPr id="15" name="Problème 2"/>
          <p:cNvSpPr/>
          <p:nvPr/>
        </p:nvSpPr>
        <p:spPr>
          <a:xfrm>
            <a:off x="548640" y="2468880"/>
            <a:ext cx="5440680" cy="768096"/>
          </a:xfrm>
          <a:prstGeom prst="roundRect">
            <a:avLst>
              <a:gd name="adj" fmla="val 11905"/>
            </a:avLst>
          </a:prstGeom>
          <a:solidFill>
            <a:schemeClr val="bg2"/>
          </a:solidFill>
          <a:ln/>
        </p:spPr>
      </p:sp>
      <p:sp>
        <p:nvSpPr>
          <p:cNvPr id="16" name="Icône problème 2"/>
          <p:cNvSpPr/>
          <p:nvPr/>
        </p:nvSpPr>
        <p:spPr>
          <a:xfrm>
            <a:off x="749808" y="2606040"/>
            <a:ext cx="493776" cy="493776"/>
          </a:xfrm>
          <a:prstGeom prst="ellipse">
            <a:avLst/>
          </a:prstGeom>
          <a:solidFill>
            <a:schemeClr val="accent4"/>
          </a:solidFill>
          <a:ln/>
        </p:spPr>
      </p:sp>
      <p:pic>
        <p:nvPicPr>
          <p:cNvPr id="17" name="Image 2" descr="preencoded.png">    </p:cNvPr>
          <p:cNvPicPr>
            <a:picLocks noChangeAspect="1"/>
          </p:cNvPicPr>
          <p:nvPr/>
        </p:nvPicPr>
        <p:blipFill>
          <a:blip r:embed="rId3"/>
          <a:stretch>
            <a:fillRect/>
          </a:stretch>
        </p:blipFill>
        <p:spPr>
          <a:xfrm>
            <a:off x="873252" y="2729484"/>
            <a:ext cx="246888" cy="246888"/>
          </a:xfrm>
          <a:prstGeom prst="rect">
            <a:avLst/>
          </a:prstGeom>
        </p:spPr>
      </p:pic>
      <p:sp>
        <p:nvSpPr>
          <p:cNvPr id="18" name="Text 13"/>
          <p:cNvSpPr txBox="1"/>
          <p:nvPr/>
        </p:nvSpPr>
        <p:spPr>
          <a:xfrm>
            <a:off x="1417320" y="2542032"/>
            <a:ext cx="4434840" cy="310896"/>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Dates PRIM sans fuseau</a:t>
            </a:r>
            <a:endParaRPr lang="en-US" sz="1600" dirty="0"/>
          </a:p>
        </p:txBody>
      </p:sp>
      <p:sp>
        <p:nvSpPr>
          <p:cNvPr id="19" name="Text 14"/>
          <p:cNvSpPr txBox="1"/>
          <p:nvPr/>
        </p:nvSpPr>
        <p:spPr>
          <a:xfrm>
            <a:off x="1417320" y="2880360"/>
            <a:ext cx="4434840" cy="292608"/>
          </a:xfrm>
          <a:prstGeom prst="rect">
            <a:avLst/>
          </a:prstGeom>
          <a:noFill/>
          <a:ln/>
        </p:spPr>
        <p:txBody>
          <a:bodyPr wrap="square" lIns="0" tIns="0" rIns="0" bIns="0" rtlCol="0" anchor="t"/>
          <a:lstStyle/>
          <a:p>
            <a:pPr indent="0" marL="0">
              <a:buNone/>
            </a:pPr>
            <a:r>
              <a:rPr lang="en-US" sz="1400" dirty="0">
                <a:solidFill>
                  <a:schemeClr val="tx2"/>
                </a:solidFill>
              </a:rPr>
              <a:t>Heure de Paris, sans indication de fuseau</a:t>
            </a:r>
            <a:endParaRPr lang="en-US" sz="1400" dirty="0"/>
          </a:p>
        </p:txBody>
      </p:sp>
      <p:sp>
        <p:nvSpPr>
          <p:cNvPr id="20" name="Flèche piège 2"/>
          <p:cNvSpPr/>
          <p:nvPr/>
        </p:nvSpPr>
        <p:spPr>
          <a:xfrm>
            <a:off x="6080760" y="2852928"/>
            <a:ext cx="502920" cy="0"/>
          </a:xfrm>
          <a:prstGeom prst="line">
            <a:avLst/>
          </a:prstGeom>
          <a:noFill/>
          <a:ln w="25400">
            <a:solidFill>
              <a:schemeClr val="tx2"/>
            </a:solidFill>
            <a:prstDash val="solid"/>
            <a:tailEnd type="triangle"/>
          </a:ln>
        </p:spPr>
      </p:sp>
      <p:sp>
        <p:nvSpPr>
          <p:cNvPr id="21" name="Parade 2"/>
          <p:cNvSpPr/>
          <p:nvPr/>
        </p:nvSpPr>
        <p:spPr>
          <a:xfrm>
            <a:off x="6675120" y="2468880"/>
            <a:ext cx="4967935" cy="768096"/>
          </a:xfrm>
          <a:prstGeom prst="roundRect">
            <a:avLst>
              <a:gd name="adj" fmla="val 11905"/>
            </a:avLst>
          </a:prstGeom>
          <a:solidFill>
            <a:schemeClr val="bg1"/>
          </a:solidFill>
          <a:ln/>
          <a:effectLst>
            <a:outerShdw sx="100000" sy="100000" kx="0" ky="0" algn="bl" rotWithShape="0" blurRad="127000" dist="25400" dir="5400000">
              <a:srgbClr val="102A2C">
                <a:alpha val="12000"/>
              </a:srgbClr>
            </a:outerShdw>
          </a:effectLst>
        </p:spPr>
      </p:sp>
      <p:sp>
        <p:nvSpPr>
          <p:cNvPr id="22" name="Icône parade 2"/>
          <p:cNvSpPr/>
          <p:nvPr/>
        </p:nvSpPr>
        <p:spPr>
          <a:xfrm>
            <a:off x="6876288" y="2606040"/>
            <a:ext cx="493776" cy="493776"/>
          </a:xfrm>
          <a:prstGeom prst="ellipse">
            <a:avLst/>
          </a:prstGeom>
          <a:solidFill>
            <a:schemeClr val="accent1"/>
          </a:solidFill>
          <a:ln/>
        </p:spPr>
      </p:sp>
      <p:pic>
        <p:nvPicPr>
          <p:cNvPr id="23" name="Image 3" descr="preencoded.png">    </p:cNvPr>
          <p:cNvPicPr>
            <a:picLocks noChangeAspect="1"/>
          </p:cNvPicPr>
          <p:nvPr/>
        </p:nvPicPr>
        <p:blipFill>
          <a:blip r:embed="rId4"/>
          <a:stretch>
            <a:fillRect/>
          </a:stretch>
        </p:blipFill>
        <p:spPr>
          <a:xfrm>
            <a:off x="6999732" y="2729484"/>
            <a:ext cx="246888" cy="246888"/>
          </a:xfrm>
          <a:prstGeom prst="rect">
            <a:avLst/>
          </a:prstGeom>
        </p:spPr>
      </p:pic>
      <p:sp>
        <p:nvSpPr>
          <p:cNvPr id="24" name="Text 18"/>
          <p:cNvSpPr txBox="1"/>
          <p:nvPr/>
        </p:nvSpPr>
        <p:spPr>
          <a:xfrm>
            <a:off x="7543800" y="2532888"/>
            <a:ext cx="3916375" cy="640080"/>
          </a:xfrm>
          <a:prstGeom prst="rect">
            <a:avLst/>
          </a:prstGeom>
          <a:noFill/>
          <a:ln/>
        </p:spPr>
        <p:txBody>
          <a:bodyPr wrap="square" lIns="0" tIns="0" rIns="0" bIns="0" rtlCol="0" anchor="ctr"/>
          <a:lstStyle/>
          <a:p>
            <a:pPr indent="0" marL="0">
              <a:buNone/>
            </a:pPr>
            <a:r>
              <a:rPr lang="en-US" sz="1500" dirty="0">
                <a:solidFill>
                  <a:schemeClr val="tx1"/>
                </a:solidFill>
              </a:rPr>
              <a:t>Convertir les dates PRIM en UTC</a:t>
            </a:r>
            <a:endParaRPr lang="en-US" sz="1500" dirty="0"/>
          </a:p>
        </p:txBody>
      </p:sp>
      <p:sp>
        <p:nvSpPr>
          <p:cNvPr id="25" name="Problème 3"/>
          <p:cNvSpPr/>
          <p:nvPr/>
        </p:nvSpPr>
        <p:spPr>
          <a:xfrm>
            <a:off x="548640" y="3364992"/>
            <a:ext cx="5440680" cy="768096"/>
          </a:xfrm>
          <a:prstGeom prst="roundRect">
            <a:avLst>
              <a:gd name="adj" fmla="val 11905"/>
            </a:avLst>
          </a:prstGeom>
          <a:solidFill>
            <a:schemeClr val="bg2"/>
          </a:solidFill>
          <a:ln/>
        </p:spPr>
      </p:sp>
      <p:sp>
        <p:nvSpPr>
          <p:cNvPr id="26" name="Icône problème 3"/>
          <p:cNvSpPr/>
          <p:nvPr/>
        </p:nvSpPr>
        <p:spPr>
          <a:xfrm>
            <a:off x="749808" y="3502152"/>
            <a:ext cx="493776" cy="493776"/>
          </a:xfrm>
          <a:prstGeom prst="ellipse">
            <a:avLst/>
          </a:prstGeom>
          <a:solidFill>
            <a:schemeClr val="accent4"/>
          </a:solidFill>
          <a:ln/>
        </p:spPr>
      </p:sp>
      <p:pic>
        <p:nvPicPr>
          <p:cNvPr id="27" name="Image 4" descr="preencoded.png">    </p:cNvPr>
          <p:cNvPicPr>
            <a:picLocks noChangeAspect="1"/>
          </p:cNvPicPr>
          <p:nvPr/>
        </p:nvPicPr>
        <p:blipFill>
          <a:blip r:embed="rId5"/>
          <a:stretch>
            <a:fillRect/>
          </a:stretch>
        </p:blipFill>
        <p:spPr>
          <a:xfrm>
            <a:off x="873252" y="3625596"/>
            <a:ext cx="246888" cy="246888"/>
          </a:xfrm>
          <a:prstGeom prst="rect">
            <a:avLst/>
          </a:prstGeom>
        </p:spPr>
      </p:pic>
      <p:sp>
        <p:nvSpPr>
          <p:cNvPr id="28" name="Text 21"/>
          <p:cNvSpPr txBox="1"/>
          <p:nvPr/>
        </p:nvSpPr>
        <p:spPr>
          <a:xfrm>
            <a:off x="1417320" y="3438144"/>
            <a:ext cx="4434840" cy="310896"/>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Stations hors service</a:t>
            </a:r>
            <a:endParaRPr lang="en-US" sz="1600" dirty="0"/>
          </a:p>
        </p:txBody>
      </p:sp>
      <p:sp>
        <p:nvSpPr>
          <p:cNvPr id="29" name="Text 22"/>
          <p:cNvSpPr txBox="1"/>
          <p:nvPr/>
        </p:nvSpPr>
        <p:spPr>
          <a:xfrm>
            <a:off x="1417320" y="3776472"/>
            <a:ext cx="4434840" cy="292608"/>
          </a:xfrm>
          <a:prstGeom prst="rect">
            <a:avLst/>
          </a:prstGeom>
          <a:noFill/>
          <a:ln/>
        </p:spPr>
        <p:txBody>
          <a:bodyPr wrap="square" lIns="0" tIns="0" rIns="0" bIns="0" rtlCol="0" anchor="t"/>
          <a:lstStyle/>
          <a:p>
            <a:pPr indent="0" marL="0">
              <a:buNone/>
            </a:pPr>
            <a:r>
              <a:rPr lang="en-US" sz="1400" dirty="0">
                <a:solidFill>
                  <a:schemeClr val="tx2"/>
                </a:solidFill>
              </a:rPr>
              <a:t>is_installed ou is_renting à 0</a:t>
            </a:r>
            <a:endParaRPr lang="en-US" sz="1400" dirty="0"/>
          </a:p>
        </p:txBody>
      </p:sp>
      <p:sp>
        <p:nvSpPr>
          <p:cNvPr id="30" name="Flèche piège 3"/>
          <p:cNvSpPr/>
          <p:nvPr/>
        </p:nvSpPr>
        <p:spPr>
          <a:xfrm>
            <a:off x="6080760" y="3749040"/>
            <a:ext cx="502920" cy="0"/>
          </a:xfrm>
          <a:prstGeom prst="line">
            <a:avLst/>
          </a:prstGeom>
          <a:noFill/>
          <a:ln w="25400">
            <a:solidFill>
              <a:schemeClr val="tx2"/>
            </a:solidFill>
            <a:prstDash val="solid"/>
            <a:tailEnd type="triangle"/>
          </a:ln>
        </p:spPr>
      </p:sp>
      <p:sp>
        <p:nvSpPr>
          <p:cNvPr id="31" name="Parade 3"/>
          <p:cNvSpPr/>
          <p:nvPr/>
        </p:nvSpPr>
        <p:spPr>
          <a:xfrm>
            <a:off x="6675120" y="3364992"/>
            <a:ext cx="4967935" cy="768096"/>
          </a:xfrm>
          <a:prstGeom prst="roundRect">
            <a:avLst>
              <a:gd name="adj" fmla="val 11905"/>
            </a:avLst>
          </a:prstGeom>
          <a:solidFill>
            <a:schemeClr val="bg1"/>
          </a:solidFill>
          <a:ln/>
          <a:effectLst>
            <a:outerShdw sx="100000" sy="100000" kx="0" ky="0" algn="bl" rotWithShape="0" blurRad="127000" dist="25400" dir="5400000">
              <a:srgbClr val="102A2C">
                <a:alpha val="12000"/>
              </a:srgbClr>
            </a:outerShdw>
          </a:effectLst>
        </p:spPr>
      </p:sp>
      <p:sp>
        <p:nvSpPr>
          <p:cNvPr id="32" name="Icône parade 3"/>
          <p:cNvSpPr/>
          <p:nvPr/>
        </p:nvSpPr>
        <p:spPr>
          <a:xfrm>
            <a:off x="6876288" y="3502152"/>
            <a:ext cx="493776" cy="493776"/>
          </a:xfrm>
          <a:prstGeom prst="ellipse">
            <a:avLst/>
          </a:prstGeom>
          <a:solidFill>
            <a:schemeClr val="accent1"/>
          </a:solidFill>
          <a:ln/>
        </p:spPr>
      </p:sp>
      <p:pic>
        <p:nvPicPr>
          <p:cNvPr id="33" name="Image 5" descr="preencoded.png">    </p:cNvPr>
          <p:cNvPicPr>
            <a:picLocks noChangeAspect="1"/>
          </p:cNvPicPr>
          <p:nvPr/>
        </p:nvPicPr>
        <p:blipFill>
          <a:blip r:embed="rId6"/>
          <a:stretch>
            <a:fillRect/>
          </a:stretch>
        </p:blipFill>
        <p:spPr>
          <a:xfrm>
            <a:off x="6999732" y="3625596"/>
            <a:ext cx="246888" cy="246888"/>
          </a:xfrm>
          <a:prstGeom prst="rect">
            <a:avLst/>
          </a:prstGeom>
        </p:spPr>
      </p:pic>
      <p:sp>
        <p:nvSpPr>
          <p:cNvPr id="34" name="Text 26"/>
          <p:cNvSpPr txBox="1"/>
          <p:nvPr/>
        </p:nvSpPr>
        <p:spPr>
          <a:xfrm>
            <a:off x="7543800" y="3429000"/>
            <a:ext cx="3916375" cy="640080"/>
          </a:xfrm>
          <a:prstGeom prst="rect">
            <a:avLst/>
          </a:prstGeom>
          <a:noFill/>
          <a:ln/>
        </p:spPr>
        <p:txBody>
          <a:bodyPr wrap="square" lIns="0" tIns="0" rIns="0" bIns="0" rtlCol="0" anchor="ctr"/>
          <a:lstStyle/>
          <a:p>
            <a:pPr indent="0" marL="0">
              <a:buNone/>
            </a:pPr>
            <a:r>
              <a:rPr lang="en-US" sz="1500" dirty="0">
                <a:solidFill>
                  <a:schemeClr val="tx1"/>
                </a:solidFill>
              </a:rPr>
              <a:t>Filtrer ces stations avant le calcul des taux</a:t>
            </a:r>
            <a:endParaRPr lang="en-US" sz="1500" dirty="0"/>
          </a:p>
        </p:txBody>
      </p:sp>
      <p:sp>
        <p:nvSpPr>
          <p:cNvPr id="35" name="Problème 4"/>
          <p:cNvSpPr/>
          <p:nvPr/>
        </p:nvSpPr>
        <p:spPr>
          <a:xfrm>
            <a:off x="548640" y="4261104"/>
            <a:ext cx="5440680" cy="768096"/>
          </a:xfrm>
          <a:prstGeom prst="roundRect">
            <a:avLst>
              <a:gd name="adj" fmla="val 11905"/>
            </a:avLst>
          </a:prstGeom>
          <a:solidFill>
            <a:schemeClr val="bg2"/>
          </a:solidFill>
          <a:ln/>
        </p:spPr>
      </p:sp>
      <p:sp>
        <p:nvSpPr>
          <p:cNvPr id="36" name="Icône problème 4"/>
          <p:cNvSpPr/>
          <p:nvPr/>
        </p:nvSpPr>
        <p:spPr>
          <a:xfrm>
            <a:off x="749808" y="4398264"/>
            <a:ext cx="493776" cy="493776"/>
          </a:xfrm>
          <a:prstGeom prst="ellipse">
            <a:avLst/>
          </a:prstGeom>
          <a:solidFill>
            <a:schemeClr val="accent4"/>
          </a:solidFill>
          <a:ln/>
        </p:spPr>
      </p:sp>
      <p:pic>
        <p:nvPicPr>
          <p:cNvPr id="37" name="Image 6" descr="preencoded.png">    </p:cNvPr>
          <p:cNvPicPr>
            <a:picLocks noChangeAspect="1"/>
          </p:cNvPicPr>
          <p:nvPr/>
        </p:nvPicPr>
        <p:blipFill>
          <a:blip r:embed="rId7"/>
          <a:stretch>
            <a:fillRect/>
          </a:stretch>
        </p:blipFill>
        <p:spPr>
          <a:xfrm>
            <a:off x="873252" y="4521708"/>
            <a:ext cx="246888" cy="246888"/>
          </a:xfrm>
          <a:prstGeom prst="rect">
            <a:avLst/>
          </a:prstGeom>
        </p:spPr>
      </p:pic>
      <p:sp>
        <p:nvSpPr>
          <p:cNvPr id="38" name="Text 29"/>
          <p:cNvSpPr txBox="1"/>
          <p:nvPr/>
        </p:nvSpPr>
        <p:spPr>
          <a:xfrm>
            <a:off x="1417320" y="4334256"/>
            <a:ext cx="4434840" cy="310896"/>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ttl trompeur</a:t>
            </a:r>
            <a:endParaRPr lang="en-US" sz="1600" dirty="0"/>
          </a:p>
        </p:txBody>
      </p:sp>
      <p:sp>
        <p:nvSpPr>
          <p:cNvPr id="39" name="Text 30"/>
          <p:cNvSpPr txBox="1"/>
          <p:nvPr/>
        </p:nvSpPr>
        <p:spPr>
          <a:xfrm>
            <a:off x="1417320" y="4672584"/>
            <a:ext cx="4434840" cy="292608"/>
          </a:xfrm>
          <a:prstGeom prst="rect">
            <a:avLst/>
          </a:prstGeom>
          <a:noFill/>
          <a:ln/>
        </p:spPr>
        <p:txBody>
          <a:bodyPr wrap="square" lIns="0" tIns="0" rIns="0" bIns="0" rtlCol="0" anchor="t"/>
          <a:lstStyle/>
          <a:p>
            <a:pPr indent="0" marL="0">
              <a:buNone/>
            </a:pPr>
            <a:r>
              <a:rPr lang="en-US" sz="1400" dirty="0">
                <a:solidFill>
                  <a:schemeClr val="tx2"/>
                </a:solidFill>
              </a:rPr>
              <a:t>3 600 s annoncés, données mises à jour chaque minute</a:t>
            </a:r>
            <a:endParaRPr lang="en-US" sz="1400" dirty="0"/>
          </a:p>
        </p:txBody>
      </p:sp>
      <p:sp>
        <p:nvSpPr>
          <p:cNvPr id="40" name="Flèche piège 4"/>
          <p:cNvSpPr/>
          <p:nvPr/>
        </p:nvSpPr>
        <p:spPr>
          <a:xfrm>
            <a:off x="6080760" y="4645152"/>
            <a:ext cx="502920" cy="0"/>
          </a:xfrm>
          <a:prstGeom prst="line">
            <a:avLst/>
          </a:prstGeom>
          <a:noFill/>
          <a:ln w="25400">
            <a:solidFill>
              <a:schemeClr val="tx2"/>
            </a:solidFill>
            <a:prstDash val="solid"/>
            <a:tailEnd type="triangle"/>
          </a:ln>
        </p:spPr>
      </p:sp>
      <p:sp>
        <p:nvSpPr>
          <p:cNvPr id="41" name="Parade 4"/>
          <p:cNvSpPr/>
          <p:nvPr/>
        </p:nvSpPr>
        <p:spPr>
          <a:xfrm>
            <a:off x="6675120" y="4261104"/>
            <a:ext cx="4967935" cy="768096"/>
          </a:xfrm>
          <a:prstGeom prst="roundRect">
            <a:avLst>
              <a:gd name="adj" fmla="val 11905"/>
            </a:avLst>
          </a:prstGeom>
          <a:solidFill>
            <a:schemeClr val="bg1"/>
          </a:solidFill>
          <a:ln/>
          <a:effectLst>
            <a:outerShdw sx="100000" sy="100000" kx="0" ky="0" algn="bl" rotWithShape="0" blurRad="127000" dist="25400" dir="5400000">
              <a:srgbClr val="102A2C">
                <a:alpha val="12000"/>
              </a:srgbClr>
            </a:outerShdw>
          </a:effectLst>
        </p:spPr>
      </p:sp>
      <p:sp>
        <p:nvSpPr>
          <p:cNvPr id="42" name="Icône parade 4"/>
          <p:cNvSpPr/>
          <p:nvPr/>
        </p:nvSpPr>
        <p:spPr>
          <a:xfrm>
            <a:off x="6876288" y="4398264"/>
            <a:ext cx="493776" cy="493776"/>
          </a:xfrm>
          <a:prstGeom prst="ellipse">
            <a:avLst/>
          </a:prstGeom>
          <a:solidFill>
            <a:schemeClr val="accent1"/>
          </a:solidFill>
          <a:ln/>
        </p:spPr>
      </p:sp>
      <p:pic>
        <p:nvPicPr>
          <p:cNvPr id="43" name="Image 7" descr="preencoded.png">    </p:cNvPr>
          <p:cNvPicPr>
            <a:picLocks noChangeAspect="1"/>
          </p:cNvPicPr>
          <p:nvPr/>
        </p:nvPicPr>
        <p:blipFill>
          <a:blip r:embed="rId8"/>
          <a:stretch>
            <a:fillRect/>
          </a:stretch>
        </p:blipFill>
        <p:spPr>
          <a:xfrm>
            <a:off x="6999732" y="4521708"/>
            <a:ext cx="246888" cy="246888"/>
          </a:xfrm>
          <a:prstGeom prst="rect">
            <a:avLst/>
          </a:prstGeom>
        </p:spPr>
      </p:pic>
      <p:sp>
        <p:nvSpPr>
          <p:cNvPr id="44" name="Text 34"/>
          <p:cNvSpPr txBox="1"/>
          <p:nvPr/>
        </p:nvSpPr>
        <p:spPr>
          <a:xfrm>
            <a:off x="7543800" y="4325112"/>
            <a:ext cx="3916375" cy="640080"/>
          </a:xfrm>
          <a:prstGeom prst="rect">
            <a:avLst/>
          </a:prstGeom>
          <a:noFill/>
          <a:ln/>
        </p:spPr>
        <p:txBody>
          <a:bodyPr wrap="square" lIns="0" tIns="0" rIns="0" bIns="0" rtlCol="0" anchor="ctr"/>
          <a:lstStyle/>
          <a:p>
            <a:pPr indent="0" marL="0">
              <a:buNone/>
            </a:pPr>
            <a:r>
              <a:rPr lang="en-US" sz="1500" dirty="0">
                <a:solidFill>
                  <a:schemeClr val="tx1"/>
                </a:solidFill>
              </a:rPr>
              <a:t>Contrôler le nombre de stations à chaque relevé grâce au manifeste</a:t>
            </a:r>
            <a:endParaRPr lang="en-US" sz="1500" dirty="0"/>
          </a:p>
        </p:txBody>
      </p:sp>
      <p:sp>
        <p:nvSpPr>
          <p:cNvPr id="45" name="Problème 5"/>
          <p:cNvSpPr/>
          <p:nvPr/>
        </p:nvSpPr>
        <p:spPr>
          <a:xfrm>
            <a:off x="548640" y="5157216"/>
            <a:ext cx="5440680" cy="768096"/>
          </a:xfrm>
          <a:prstGeom prst="roundRect">
            <a:avLst>
              <a:gd name="adj" fmla="val 11905"/>
            </a:avLst>
          </a:prstGeom>
          <a:solidFill>
            <a:schemeClr val="bg2"/>
          </a:solidFill>
          <a:ln/>
        </p:spPr>
      </p:sp>
      <p:sp>
        <p:nvSpPr>
          <p:cNvPr id="46" name="Icône problème 5"/>
          <p:cNvSpPr/>
          <p:nvPr/>
        </p:nvSpPr>
        <p:spPr>
          <a:xfrm>
            <a:off x="749808" y="5294376"/>
            <a:ext cx="493776" cy="493776"/>
          </a:xfrm>
          <a:prstGeom prst="ellipse">
            <a:avLst/>
          </a:prstGeom>
          <a:solidFill>
            <a:schemeClr val="accent4"/>
          </a:solidFill>
          <a:ln/>
        </p:spPr>
      </p:sp>
      <p:pic>
        <p:nvPicPr>
          <p:cNvPr id="47" name="Image 8" descr="preencoded.png">    </p:cNvPr>
          <p:cNvPicPr>
            <a:picLocks noChangeAspect="1"/>
          </p:cNvPicPr>
          <p:nvPr/>
        </p:nvPicPr>
        <p:blipFill>
          <a:blip r:embed="rId9"/>
          <a:stretch>
            <a:fillRect/>
          </a:stretch>
        </p:blipFill>
        <p:spPr>
          <a:xfrm>
            <a:off x="873252" y="5417820"/>
            <a:ext cx="246888" cy="246888"/>
          </a:xfrm>
          <a:prstGeom prst="rect">
            <a:avLst/>
          </a:prstGeom>
        </p:spPr>
      </p:pic>
      <p:sp>
        <p:nvSpPr>
          <p:cNvPr id="48" name="Text 37"/>
          <p:cNvSpPr txBox="1"/>
          <p:nvPr/>
        </p:nvSpPr>
        <p:spPr>
          <a:xfrm>
            <a:off x="1417320" y="5230368"/>
            <a:ext cx="4434840" cy="310896"/>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Identifiants géants</a:t>
            </a:r>
            <a:endParaRPr lang="en-US" sz="1600" dirty="0"/>
          </a:p>
        </p:txBody>
      </p:sp>
      <p:sp>
        <p:nvSpPr>
          <p:cNvPr id="49" name="Text 38"/>
          <p:cNvSpPr txBox="1"/>
          <p:nvPr/>
        </p:nvSpPr>
        <p:spPr>
          <a:xfrm>
            <a:off x="1417320" y="5568696"/>
            <a:ext cx="4434840" cy="292608"/>
          </a:xfrm>
          <a:prstGeom prst="rect">
            <a:avLst/>
          </a:prstGeom>
          <a:noFill/>
          <a:ln/>
        </p:spPr>
        <p:txBody>
          <a:bodyPr wrap="square" lIns="0" tIns="0" rIns="0" bIns="0" rtlCol="0" anchor="t"/>
          <a:lstStyle/>
          <a:p>
            <a:pPr indent="0" marL="0">
              <a:buNone/>
            </a:pPr>
            <a:r>
              <a:rPr lang="en-US" sz="1400" dirty="0">
                <a:solidFill>
                  <a:schemeClr val="tx2"/>
                </a:solidFill>
              </a:rPr>
              <a:t>station_id supérieur à 2³¹</a:t>
            </a:r>
            <a:endParaRPr lang="en-US" sz="1400" dirty="0"/>
          </a:p>
        </p:txBody>
      </p:sp>
      <p:sp>
        <p:nvSpPr>
          <p:cNvPr id="50" name="Flèche piège 5"/>
          <p:cNvSpPr/>
          <p:nvPr/>
        </p:nvSpPr>
        <p:spPr>
          <a:xfrm>
            <a:off x="6080760" y="5541264"/>
            <a:ext cx="502920" cy="0"/>
          </a:xfrm>
          <a:prstGeom prst="line">
            <a:avLst/>
          </a:prstGeom>
          <a:noFill/>
          <a:ln w="25400">
            <a:solidFill>
              <a:schemeClr val="tx2"/>
            </a:solidFill>
            <a:prstDash val="solid"/>
            <a:tailEnd type="triangle"/>
          </a:ln>
        </p:spPr>
      </p:sp>
      <p:sp>
        <p:nvSpPr>
          <p:cNvPr id="51" name="Parade 5"/>
          <p:cNvSpPr/>
          <p:nvPr/>
        </p:nvSpPr>
        <p:spPr>
          <a:xfrm>
            <a:off x="6675120" y="5157216"/>
            <a:ext cx="4967935" cy="768096"/>
          </a:xfrm>
          <a:prstGeom prst="roundRect">
            <a:avLst>
              <a:gd name="adj" fmla="val 11905"/>
            </a:avLst>
          </a:prstGeom>
          <a:solidFill>
            <a:schemeClr val="bg1"/>
          </a:solidFill>
          <a:ln/>
          <a:effectLst>
            <a:outerShdw sx="100000" sy="100000" kx="0" ky="0" algn="bl" rotWithShape="0" blurRad="127000" dist="25400" dir="5400000">
              <a:srgbClr val="102A2C">
                <a:alpha val="12000"/>
              </a:srgbClr>
            </a:outerShdw>
          </a:effectLst>
        </p:spPr>
      </p:sp>
      <p:sp>
        <p:nvSpPr>
          <p:cNvPr id="52" name="Icône parade 5"/>
          <p:cNvSpPr/>
          <p:nvPr/>
        </p:nvSpPr>
        <p:spPr>
          <a:xfrm>
            <a:off x="6876288" y="5294376"/>
            <a:ext cx="493776" cy="493776"/>
          </a:xfrm>
          <a:prstGeom prst="ellipse">
            <a:avLst/>
          </a:prstGeom>
          <a:solidFill>
            <a:schemeClr val="accent1"/>
          </a:solidFill>
          <a:ln/>
        </p:spPr>
      </p:sp>
      <p:pic>
        <p:nvPicPr>
          <p:cNvPr id="53" name="Image 9" descr="preencoded.png">    </p:cNvPr>
          <p:cNvPicPr>
            <a:picLocks noChangeAspect="1"/>
          </p:cNvPicPr>
          <p:nvPr/>
        </p:nvPicPr>
        <p:blipFill>
          <a:blip r:embed="rId10"/>
          <a:stretch>
            <a:fillRect/>
          </a:stretch>
        </p:blipFill>
        <p:spPr>
          <a:xfrm>
            <a:off x="6999732" y="5417820"/>
            <a:ext cx="246888" cy="246888"/>
          </a:xfrm>
          <a:prstGeom prst="rect">
            <a:avLst/>
          </a:prstGeom>
        </p:spPr>
      </p:pic>
      <p:sp>
        <p:nvSpPr>
          <p:cNvPr id="54" name="Text 42"/>
          <p:cNvSpPr txBox="1"/>
          <p:nvPr/>
        </p:nvSpPr>
        <p:spPr>
          <a:xfrm>
            <a:off x="7543800" y="5221224"/>
            <a:ext cx="3916375" cy="640080"/>
          </a:xfrm>
          <a:prstGeom prst="rect">
            <a:avLst/>
          </a:prstGeom>
          <a:noFill/>
          <a:ln/>
        </p:spPr>
        <p:txBody>
          <a:bodyPr wrap="square" lIns="0" tIns="0" rIns="0" bIns="0" rtlCol="0" anchor="ctr"/>
          <a:lstStyle/>
          <a:p>
            <a:pPr indent="0" marL="0">
              <a:buNone/>
            </a:pPr>
            <a:r>
              <a:rPr lang="en-US" sz="1500" dirty="0">
                <a:solidFill>
                  <a:schemeClr val="tx1"/>
                </a:solidFill>
              </a:rPr>
              <a:t>Typer les identifiants en bigint</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Le lien avec les pannes : prudence</a:t>
            </a:r>
            <a:endParaRPr lang="en-US" sz="3400" dirty="0"/>
          </a:p>
        </p:txBody>
      </p:sp>
      <p:sp>
        <p:nvSpPr>
          <p:cNvPr id="3" name="Chiffre 14"/>
          <p:cNvSpPr/>
          <p:nvPr/>
        </p:nvSpPr>
        <p:spPr>
          <a:xfrm>
            <a:off x="548640" y="1371600"/>
            <a:ext cx="3515258" cy="1965960"/>
          </a:xfrm>
          <a:prstGeom prst="roundRect">
            <a:avLst>
              <a:gd name="adj" fmla="val 4651"/>
            </a:avLst>
          </a:prstGeom>
          <a:solidFill>
            <a:schemeClr val="bg1"/>
          </a:solidFill>
          <a:ln/>
          <a:effectLst>
            <a:outerShdw sx="100000" sy="100000" kx="0" ky="0" algn="bl" rotWithShape="0" blurRad="127000" dist="25400" dir="5400000">
              <a:srgbClr val="102A2C">
                <a:alpha val="12000"/>
              </a:srgbClr>
            </a:outerShdw>
          </a:effectLst>
        </p:spPr>
      </p:sp>
      <p:sp>
        <p:nvSpPr>
          <p:cNvPr id="4" name="Text 2"/>
          <p:cNvSpPr txBox="1"/>
          <p:nvPr/>
        </p:nvSpPr>
        <p:spPr>
          <a:xfrm>
            <a:off x="868680" y="1508760"/>
            <a:ext cx="2875178" cy="868680"/>
          </a:xfrm>
          <a:prstGeom prst="rect">
            <a:avLst/>
          </a:prstGeom>
          <a:noFill/>
          <a:ln/>
        </p:spPr>
        <p:txBody>
          <a:bodyPr wrap="square" lIns="0" tIns="0" rIns="0" bIns="0" rtlCol="0" anchor="ctr"/>
          <a:lstStyle/>
          <a:p>
            <a:pPr indent="0" marL="0">
              <a:buNone/>
            </a:pPr>
            <a:r>
              <a:rPr lang="en-US" sz="4800" b="1" dirty="0">
                <a:solidFill>
                  <a:schemeClr val="accent4"/>
                </a:solidFill>
                <a:latin typeface="+mj-lt" pitchFamily="34" charset="0"/>
                <a:ea typeface="+mj-lt" pitchFamily="34" charset="-122"/>
                <a:cs typeface="+mj-lt" pitchFamily="34" charset="-120"/>
              </a:rPr>
              <a:t>14</a:t>
            </a:r>
            <a:endParaRPr lang="en-US" sz="4800" dirty="0"/>
          </a:p>
        </p:txBody>
      </p:sp>
      <p:sp>
        <p:nvSpPr>
          <p:cNvPr id="5" name="Text 3"/>
          <p:cNvSpPr txBox="1"/>
          <p:nvPr/>
        </p:nvSpPr>
        <p:spPr>
          <a:xfrm>
            <a:off x="868680" y="2423160"/>
            <a:ext cx="2875178" cy="777240"/>
          </a:xfrm>
          <a:prstGeom prst="rect">
            <a:avLst/>
          </a:prstGeom>
          <a:noFill/>
          <a:ln/>
        </p:spPr>
        <p:txBody>
          <a:bodyPr wrap="square" lIns="0" tIns="0" rIns="0" bIns="0" rtlCol="0" anchor="t"/>
          <a:lstStyle/>
          <a:p>
            <a:pPr indent="0" marL="0">
              <a:buNone/>
            </a:pPr>
            <a:r>
              <a:rPr lang="en-US" sz="1400" dirty="0">
                <a:solidFill>
                  <a:schemeClr val="tx2"/>
                </a:solidFill>
              </a:rPr>
              <a:t>incidents ferrés actifs le jour du test (métro, RER, tramway)</a:t>
            </a:r>
            <a:endParaRPr lang="en-US" sz="1400" dirty="0"/>
          </a:p>
        </p:txBody>
      </p:sp>
      <p:sp>
        <p:nvSpPr>
          <p:cNvPr id="6" name="Chiffre 19"/>
          <p:cNvSpPr/>
          <p:nvPr/>
        </p:nvSpPr>
        <p:spPr>
          <a:xfrm>
            <a:off x="4338218" y="1371600"/>
            <a:ext cx="3515258" cy="1965960"/>
          </a:xfrm>
          <a:prstGeom prst="roundRect">
            <a:avLst>
              <a:gd name="adj" fmla="val 4651"/>
            </a:avLst>
          </a:prstGeom>
          <a:solidFill>
            <a:schemeClr val="bg1"/>
          </a:solidFill>
          <a:ln/>
          <a:effectLst>
            <a:outerShdw sx="100000" sy="100000" kx="0" ky="0" algn="bl" rotWithShape="0" blurRad="127000" dist="25400" dir="5400000">
              <a:srgbClr val="102A2C">
                <a:alpha val="12000"/>
              </a:srgbClr>
            </a:outerShdw>
          </a:effectLst>
        </p:spPr>
      </p:sp>
      <p:sp>
        <p:nvSpPr>
          <p:cNvPr id="7" name="Text 5"/>
          <p:cNvSpPr txBox="1"/>
          <p:nvPr/>
        </p:nvSpPr>
        <p:spPr>
          <a:xfrm>
            <a:off x="4658258" y="1508760"/>
            <a:ext cx="2875178" cy="868680"/>
          </a:xfrm>
          <a:prstGeom prst="rect">
            <a:avLst/>
          </a:prstGeom>
          <a:noFill/>
          <a:ln/>
        </p:spPr>
        <p:txBody>
          <a:bodyPr wrap="square" lIns="0" tIns="0" rIns="0" bIns="0" rtlCol="0" anchor="ctr"/>
          <a:lstStyle/>
          <a:p>
            <a:pPr indent="0" marL="0">
              <a:buNone/>
            </a:pPr>
            <a:r>
              <a:rPr lang="en-US" sz="4800" b="1" dirty="0">
                <a:solidFill>
                  <a:schemeClr val="accent2"/>
                </a:solidFill>
                <a:latin typeface="+mj-lt" pitchFamily="34" charset="0"/>
                <a:ea typeface="+mj-lt" pitchFamily="34" charset="-122"/>
                <a:cs typeface="+mj-lt" pitchFamily="34" charset="-120"/>
              </a:rPr>
              <a:t>19</a:t>
            </a:r>
            <a:endParaRPr lang="en-US" sz="4800" dirty="0"/>
          </a:p>
        </p:txBody>
      </p:sp>
      <p:sp>
        <p:nvSpPr>
          <p:cNvPr id="8" name="Text 6"/>
          <p:cNvSpPr txBox="1"/>
          <p:nvPr/>
        </p:nvSpPr>
        <p:spPr>
          <a:xfrm>
            <a:off x="4658258" y="2423160"/>
            <a:ext cx="2875178" cy="777240"/>
          </a:xfrm>
          <a:prstGeom prst="rect">
            <a:avLst/>
          </a:prstGeom>
          <a:noFill/>
          <a:ln/>
        </p:spPr>
        <p:txBody>
          <a:bodyPr wrap="square" lIns="0" tIns="0" rIns="0" bIns="0" rtlCol="0" anchor="t"/>
          <a:lstStyle/>
          <a:p>
            <a:pPr indent="0" marL="0">
              <a:buNone/>
            </a:pPr>
            <a:r>
              <a:rPr lang="en-US" sz="1400" dirty="0">
                <a:solidFill>
                  <a:schemeClr val="tx2"/>
                </a:solidFill>
              </a:rPr>
              <a:t>stations à moins de 300 m d’un arrêt ferré bloqué (74 avec les arrêts perturbés)</a:t>
            </a:r>
            <a:endParaRPr lang="en-US" sz="1400" dirty="0"/>
          </a:p>
        </p:txBody>
      </p:sp>
      <p:sp>
        <p:nvSpPr>
          <p:cNvPr id="9" name="Chiffre 92 %"/>
          <p:cNvSpPr/>
          <p:nvPr/>
        </p:nvSpPr>
        <p:spPr>
          <a:xfrm>
            <a:off x="8127797" y="1371600"/>
            <a:ext cx="3515258" cy="1965960"/>
          </a:xfrm>
          <a:prstGeom prst="roundRect">
            <a:avLst>
              <a:gd name="adj" fmla="val 4651"/>
            </a:avLst>
          </a:prstGeom>
          <a:solidFill>
            <a:schemeClr val="bg1"/>
          </a:solidFill>
          <a:ln/>
          <a:effectLst>
            <a:outerShdw sx="100000" sy="100000" kx="0" ky="0" algn="bl" rotWithShape="0" blurRad="127000" dist="25400" dir="5400000">
              <a:srgbClr val="102A2C">
                <a:alpha val="12000"/>
              </a:srgbClr>
            </a:outerShdw>
          </a:effectLst>
        </p:spPr>
      </p:sp>
      <p:sp>
        <p:nvSpPr>
          <p:cNvPr id="10" name="Text 8"/>
          <p:cNvSpPr txBox="1"/>
          <p:nvPr/>
        </p:nvSpPr>
        <p:spPr>
          <a:xfrm>
            <a:off x="8447837" y="1508760"/>
            <a:ext cx="2875178" cy="868680"/>
          </a:xfrm>
          <a:prstGeom prst="rect">
            <a:avLst/>
          </a:prstGeom>
          <a:noFill/>
          <a:ln/>
        </p:spPr>
        <p:txBody>
          <a:bodyPr wrap="square" lIns="0" tIns="0" rIns="0" bIns="0" rtlCol="0" anchor="ctr"/>
          <a:lstStyle/>
          <a:p>
            <a:pPr indent="0" marL="0">
              <a:buNone/>
            </a:pPr>
            <a:r>
              <a:rPr lang="en-US" sz="4800" b="1" dirty="0">
                <a:solidFill>
                  <a:schemeClr val="accent3"/>
                </a:solidFill>
                <a:latin typeface="+mj-lt" pitchFamily="34" charset="0"/>
                <a:ea typeface="+mj-lt" pitchFamily="34" charset="-122"/>
                <a:cs typeface="+mj-lt" pitchFamily="34" charset="-120"/>
              </a:rPr>
              <a:t>92 %</a:t>
            </a:r>
            <a:endParaRPr lang="en-US" sz="4800" dirty="0"/>
          </a:p>
        </p:txBody>
      </p:sp>
      <p:sp>
        <p:nvSpPr>
          <p:cNvPr id="11" name="Text 9"/>
          <p:cNvSpPr txBox="1"/>
          <p:nvPr/>
        </p:nvSpPr>
        <p:spPr>
          <a:xfrm>
            <a:off x="8447837" y="2423160"/>
            <a:ext cx="2875178" cy="777240"/>
          </a:xfrm>
          <a:prstGeom prst="rect">
            <a:avLst/>
          </a:prstGeom>
          <a:noFill/>
          <a:ln/>
        </p:spPr>
        <p:txBody>
          <a:bodyPr wrap="square" lIns="0" tIns="0" rIns="0" bIns="0" rtlCol="0" anchor="t"/>
          <a:lstStyle/>
          <a:p>
            <a:pPr indent="0" marL="0">
              <a:buNone/>
            </a:pPr>
            <a:r>
              <a:rPr lang="en-US" sz="1400" dirty="0">
                <a:solidFill>
                  <a:schemeClr val="tx2"/>
                </a:solidFill>
              </a:rPr>
              <a:t>des stations « concernées » si l’on joint sur la ligne entière : trompeur</a:t>
            </a:r>
            <a:endParaRPr lang="en-US" sz="1400" dirty="0"/>
          </a:p>
        </p:txBody>
      </p:sp>
      <p:sp>
        <p:nvSpPr>
          <p:cNvPr id="12" name="Carte Ce qui brouille le lien"/>
          <p:cNvSpPr/>
          <p:nvPr/>
        </p:nvSpPr>
        <p:spPr>
          <a:xfrm>
            <a:off x="548640" y="3566160"/>
            <a:ext cx="5410048" cy="2560320"/>
          </a:xfrm>
          <a:prstGeom prst="roundRect">
            <a:avLst>
              <a:gd name="adj" fmla="val 3571"/>
            </a:avLst>
          </a:prstGeom>
          <a:solidFill>
            <a:schemeClr val="bg1"/>
          </a:solidFill>
          <a:ln/>
          <a:effectLst>
            <a:outerShdw sx="100000" sy="100000" kx="0" ky="0" algn="bl" rotWithShape="0" blurRad="127000" dist="25400" dir="5400000">
              <a:srgbClr val="102A2C">
                <a:alpha val="12000"/>
              </a:srgbClr>
            </a:outerShdw>
          </a:effectLst>
        </p:spPr>
      </p:sp>
      <p:sp>
        <p:nvSpPr>
          <p:cNvPr id="13" name="Icône Ce qui brouille le lien"/>
          <p:cNvSpPr/>
          <p:nvPr/>
        </p:nvSpPr>
        <p:spPr>
          <a:xfrm>
            <a:off x="822960" y="3794760"/>
            <a:ext cx="548640" cy="548640"/>
          </a:xfrm>
          <a:prstGeom prst="ellipse">
            <a:avLst/>
          </a:prstGeom>
          <a:solidFill>
            <a:schemeClr val="accent4"/>
          </a:solidFill>
          <a:ln/>
        </p:spPr>
      </p:sp>
      <p:pic>
        <p:nvPicPr>
          <p:cNvPr id="14" name="Image 0" descr="preencoded.png">    </p:cNvPr>
          <p:cNvPicPr>
            <a:picLocks noChangeAspect="1"/>
          </p:cNvPicPr>
          <p:nvPr/>
        </p:nvPicPr>
        <p:blipFill>
          <a:blip r:embed="rId1"/>
          <a:stretch>
            <a:fillRect/>
          </a:stretch>
        </p:blipFill>
        <p:spPr>
          <a:xfrm>
            <a:off x="960120" y="3931920"/>
            <a:ext cx="274320" cy="274320"/>
          </a:xfrm>
          <a:prstGeom prst="rect">
            <a:avLst/>
          </a:prstGeom>
        </p:spPr>
      </p:pic>
      <p:sp>
        <p:nvSpPr>
          <p:cNvPr id="15" name="Text 12"/>
          <p:cNvSpPr txBox="1"/>
          <p:nvPr/>
        </p:nvSpPr>
        <p:spPr>
          <a:xfrm>
            <a:off x="1554480" y="3840480"/>
            <a:ext cx="4129888" cy="4572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Ce qui brouille le lien</a:t>
            </a:r>
            <a:endParaRPr lang="en-US" sz="1900" dirty="0"/>
          </a:p>
        </p:txBody>
      </p:sp>
      <p:sp>
        <p:nvSpPr>
          <p:cNvPr id="16" name="Text 13"/>
          <p:cNvSpPr txBox="1"/>
          <p:nvPr/>
        </p:nvSpPr>
        <p:spPr>
          <a:xfrm>
            <a:off x="822960" y="4480560"/>
            <a:ext cx="4861408" cy="1554480"/>
          </a:xfrm>
          <a:prstGeom prst="rect">
            <a:avLst/>
          </a:prstGeom>
          <a:noFill/>
          <a:ln/>
        </p:spPr>
        <p:txBody>
          <a:bodyPr wrap="square" lIns="0" tIns="0" rIns="0" bIns="0" rtlCol="0" anchor="t"/>
          <a:lstStyle/>
          <a:p>
            <a:pPr marL="190500" indent="-190500">
              <a:spcAft>
                <a:spcPts val="400"/>
              </a:spcAft>
              <a:buSzPct val="100000"/>
              <a:buChar char="•"/>
            </a:pPr>
            <a:r>
              <a:rPr lang="en-US" sz="1400" dirty="0">
                <a:solidFill>
                  <a:schemeClr val="tx1"/>
                </a:solidFill>
              </a:rPr>
              <a:t>Jour du test non représentatif (manifestations, grève du T4)</a:t>
            </a:r>
            <a:endParaRPr lang="en-US" sz="1400" dirty="0"/>
          </a:p>
          <a:p>
            <a:pPr marL="190500" indent="-190500">
              <a:spcAft>
                <a:spcPts val="400"/>
              </a:spcAft>
              <a:buSzPct val="100000"/>
              <a:buChar char="•"/>
            </a:pPr>
            <a:r>
              <a:rPr lang="en-US" sz="1400" dirty="0">
                <a:solidFill>
                  <a:schemeClr val="tx1"/>
                </a:solidFill>
              </a:rPr>
              <a:t>Une panne coïncide souvent avec l’heure de pointe ou la pluie</a:t>
            </a:r>
            <a:endParaRPr lang="en-US" sz="1400" dirty="0"/>
          </a:p>
          <a:p>
            <a:pPr marL="190500" indent="-190500">
              <a:spcAft>
                <a:spcPts val="400"/>
              </a:spcAft>
              <a:buSzPct val="100000"/>
              <a:buChar char="•"/>
            </a:pPr>
            <a:r>
              <a:rPr lang="en-US" sz="1400" dirty="0">
                <a:solidFill>
                  <a:schemeClr val="tx1"/>
                </a:solidFill>
              </a:rPr>
              <a:t>Joindre sur la ligne entière surestime fortement l’impact</a:t>
            </a:r>
            <a:endParaRPr lang="en-US" sz="1400" dirty="0"/>
          </a:p>
        </p:txBody>
      </p:sp>
      <p:sp>
        <p:nvSpPr>
          <p:cNvPr id="17" name="Carte Parades"/>
          <p:cNvSpPr/>
          <p:nvPr/>
        </p:nvSpPr>
        <p:spPr>
          <a:xfrm>
            <a:off x="6233008" y="3566160"/>
            <a:ext cx="5410048" cy="2560320"/>
          </a:xfrm>
          <a:prstGeom prst="roundRect">
            <a:avLst>
              <a:gd name="adj" fmla="val 3571"/>
            </a:avLst>
          </a:prstGeom>
          <a:solidFill>
            <a:schemeClr val="bg1"/>
          </a:solidFill>
          <a:ln/>
          <a:effectLst>
            <a:outerShdw sx="100000" sy="100000" kx="0" ky="0" algn="bl" rotWithShape="0" blurRad="127000" dist="25400" dir="5400000">
              <a:srgbClr val="102A2C">
                <a:alpha val="12000"/>
              </a:srgbClr>
            </a:outerShdw>
          </a:effectLst>
        </p:spPr>
      </p:sp>
      <p:sp>
        <p:nvSpPr>
          <p:cNvPr id="18" name="Icône Parades"/>
          <p:cNvSpPr/>
          <p:nvPr/>
        </p:nvSpPr>
        <p:spPr>
          <a:xfrm>
            <a:off x="6507328" y="3794760"/>
            <a:ext cx="548640" cy="548640"/>
          </a:xfrm>
          <a:prstGeom prst="ellipse">
            <a:avLst/>
          </a:prstGeom>
          <a:solidFill>
            <a:schemeClr val="accent1"/>
          </a:solidFill>
          <a:ln/>
        </p:spPr>
      </p:sp>
      <p:pic>
        <p:nvPicPr>
          <p:cNvPr id="19" name="Image 1" descr="preencoded.png">    </p:cNvPr>
          <p:cNvPicPr>
            <a:picLocks noChangeAspect="1"/>
          </p:cNvPicPr>
          <p:nvPr/>
        </p:nvPicPr>
        <p:blipFill>
          <a:blip r:embed="rId2"/>
          <a:stretch>
            <a:fillRect/>
          </a:stretch>
        </p:blipFill>
        <p:spPr>
          <a:xfrm>
            <a:off x="6644488" y="3931920"/>
            <a:ext cx="274320" cy="274320"/>
          </a:xfrm>
          <a:prstGeom prst="rect">
            <a:avLst/>
          </a:prstGeom>
        </p:spPr>
      </p:pic>
      <p:sp>
        <p:nvSpPr>
          <p:cNvPr id="20" name="Text 16"/>
          <p:cNvSpPr txBox="1"/>
          <p:nvPr/>
        </p:nvSpPr>
        <p:spPr>
          <a:xfrm>
            <a:off x="7238848" y="3840480"/>
            <a:ext cx="4129888" cy="457200"/>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Parades</a:t>
            </a:r>
            <a:endParaRPr lang="en-US" sz="1900" dirty="0"/>
          </a:p>
        </p:txBody>
      </p:sp>
      <p:sp>
        <p:nvSpPr>
          <p:cNvPr id="21" name="Text 17"/>
          <p:cNvSpPr txBox="1"/>
          <p:nvPr/>
        </p:nvSpPr>
        <p:spPr>
          <a:xfrm>
            <a:off x="6507328" y="4480560"/>
            <a:ext cx="4861408" cy="1554480"/>
          </a:xfrm>
          <a:prstGeom prst="rect">
            <a:avLst/>
          </a:prstGeom>
          <a:noFill/>
          <a:ln/>
        </p:spPr>
        <p:txBody>
          <a:bodyPr wrap="square" lIns="0" tIns="0" rIns="0" bIns="0" rtlCol="0" anchor="t"/>
          <a:lstStyle/>
          <a:p>
            <a:pPr marL="190500" indent="-190500">
              <a:spcAft>
                <a:spcPts val="400"/>
              </a:spcAft>
              <a:buSzPct val="100000"/>
              <a:buChar char="•"/>
            </a:pPr>
            <a:r>
              <a:rPr lang="en-US" sz="1400" dirty="0">
                <a:solidFill>
                  <a:schemeClr val="tx1"/>
                </a:solidFill>
              </a:rPr>
              <a:t>Joindre au niveau des arrêts touchés, pas de la ligne</a:t>
            </a:r>
            <a:endParaRPr lang="en-US" sz="1400" dirty="0"/>
          </a:p>
          <a:p>
            <a:pPr marL="190500" indent="-190500">
              <a:spcAft>
                <a:spcPts val="400"/>
              </a:spcAft>
              <a:buSzPct val="100000"/>
              <a:buChar char="•"/>
            </a:pPr>
            <a:r>
              <a:rPr lang="en-US" sz="1400" dirty="0">
                <a:solidFill>
                  <a:schemeClr val="tx1"/>
                </a:solidFill>
              </a:rPr>
              <a:t>Comparer à heure et météo comparables ; tester 200, 300 et 500 m</a:t>
            </a:r>
            <a:endParaRPr lang="en-US" sz="1400" dirty="0"/>
          </a:p>
          <a:p>
            <a:pPr marL="190500" indent="-190500">
              <a:spcAft>
                <a:spcPts val="400"/>
              </a:spcAft>
              <a:buSzPct val="100000"/>
              <a:buChar char="•"/>
            </a:pPr>
            <a:r>
              <a:rPr lang="en-US" sz="1400" dirty="0">
                <a:solidFill>
                  <a:schemeClr val="tx1"/>
                </a:solidFill>
              </a:rPr>
              <a:t>Annoncer le nombre de pannes réellement observées</a:t>
            </a:r>
            <a:endParaRPr lang="en-US" sz="1400" dirty="0"/>
          </a:p>
          <a:p>
            <a:pPr marL="190500" indent="-190500">
              <a:spcAft>
                <a:spcPts val="400"/>
              </a:spcAft>
              <a:buSzPct val="100000"/>
              <a:buChar char="•"/>
            </a:pPr>
            <a:r>
              <a:rPr lang="en-US" sz="1400" dirty="0">
                <a:solidFill>
                  <a:schemeClr val="tx1"/>
                </a:solidFill>
              </a:rPr>
              <a:t>Plan B : ajouter PERTURBEE, travaux planifiés, arrêts de bus non desservis</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RGPD et limites assumées</a:t>
            </a:r>
            <a:endParaRPr lang="en-US" sz="3400" dirty="0"/>
          </a:p>
        </p:txBody>
      </p:sp>
      <p:sp>
        <p:nvSpPr>
          <p:cNvPr id="3" name="Carte RGPD : aucune donnée personnelle"/>
          <p:cNvSpPr/>
          <p:nvPr/>
        </p:nvSpPr>
        <p:spPr>
          <a:xfrm>
            <a:off x="548640" y="1371600"/>
            <a:ext cx="5410048" cy="4754880"/>
          </a:xfrm>
          <a:prstGeom prst="roundRect">
            <a:avLst>
              <a:gd name="adj" fmla="val 1923"/>
            </a:avLst>
          </a:prstGeom>
          <a:solidFill>
            <a:schemeClr val="bg2"/>
          </a:solidFill>
          <a:ln/>
        </p:spPr>
      </p:sp>
      <p:sp>
        <p:nvSpPr>
          <p:cNvPr id="4" name="Icône RGPD : aucune donnée personnelle"/>
          <p:cNvSpPr/>
          <p:nvPr/>
        </p:nvSpPr>
        <p:spPr>
          <a:xfrm>
            <a:off x="914400" y="1691640"/>
            <a:ext cx="731520" cy="7315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97280" y="1874520"/>
            <a:ext cx="365760" cy="365760"/>
          </a:xfrm>
          <a:prstGeom prst="rect">
            <a:avLst/>
          </a:prstGeom>
        </p:spPr>
      </p:pic>
      <p:sp>
        <p:nvSpPr>
          <p:cNvPr id="6" name="Text 3"/>
          <p:cNvSpPr txBox="1"/>
          <p:nvPr/>
        </p:nvSpPr>
        <p:spPr>
          <a:xfrm>
            <a:off x="1874520" y="1691640"/>
            <a:ext cx="3764128" cy="731520"/>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RGPD : aucune donnée personnelle</a:t>
            </a:r>
            <a:endParaRPr lang="en-US" sz="2200" dirty="0"/>
          </a:p>
        </p:txBody>
      </p:sp>
      <p:sp>
        <p:nvSpPr>
          <p:cNvPr id="7" name="Text 4"/>
          <p:cNvSpPr txBox="1"/>
          <p:nvPr/>
        </p:nvSpPr>
        <p:spPr>
          <a:xfrm>
            <a:off x="914400" y="2697480"/>
            <a:ext cx="4678528" cy="1051560"/>
          </a:xfrm>
          <a:prstGeom prst="rect">
            <a:avLst/>
          </a:prstGeom>
          <a:noFill/>
          <a:ln/>
        </p:spPr>
        <p:txBody>
          <a:bodyPr wrap="square" lIns="0" tIns="0" rIns="0" bIns="0" rtlCol="0" anchor="t"/>
          <a:lstStyle/>
          <a:p>
            <a:pPr indent="0" marL="0">
              <a:buNone/>
            </a:pPr>
            <a:r>
              <a:rPr lang="en-US" sz="1600" dirty="0">
                <a:solidFill>
                  <a:schemeClr val="tx2"/>
                </a:solidFill>
              </a:rPr>
              <a:t>Seulement des compteurs agrégés par station : ni données d’usagers, ni trajets individuels.</a:t>
            </a:r>
            <a:endParaRPr lang="en-US" sz="1600" dirty="0"/>
          </a:p>
        </p:txBody>
      </p:sp>
      <p:sp>
        <p:nvSpPr>
          <p:cNvPr id="8" name="Text 5"/>
          <p:cNvSpPr txBox="1"/>
          <p:nvPr/>
        </p:nvSpPr>
        <p:spPr>
          <a:xfrm>
            <a:off x="914400" y="3886200"/>
            <a:ext cx="27432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PARADE</a:t>
            </a:r>
            <a:endParaRPr lang="en-US" sz="1100" dirty="0"/>
          </a:p>
        </p:txBody>
      </p:sp>
      <p:sp>
        <p:nvSpPr>
          <p:cNvPr id="9" name="Text 6"/>
          <p:cNvSpPr txBox="1"/>
          <p:nvPr/>
        </p:nvSpPr>
        <p:spPr>
          <a:xfrm>
            <a:off x="914400" y="4206240"/>
            <a:ext cx="4678528" cy="1737360"/>
          </a:xfrm>
          <a:prstGeom prst="rect">
            <a:avLst/>
          </a:prstGeom>
          <a:noFill/>
          <a:ln/>
        </p:spPr>
        <p:txBody>
          <a:bodyPr wrap="square" lIns="0" tIns="0" rIns="0" bIns="0" rtlCol="0" anchor="t"/>
          <a:lstStyle/>
          <a:p>
            <a:pPr marL="190500" indent="-190500">
              <a:spcAft>
                <a:spcPts val="600"/>
              </a:spcAft>
              <a:buSzPct val="100000"/>
              <a:buChar char="•"/>
            </a:pPr>
            <a:r>
              <a:rPr lang="en-US" sz="1500" dirty="0">
                <a:solidFill>
                  <a:schemeClr val="tx1"/>
                </a:solidFill>
              </a:rPr>
              <a:t>Le préciser dans la fiche</a:t>
            </a:r>
            <a:endParaRPr lang="en-US" sz="1500" dirty="0"/>
          </a:p>
          <a:p>
            <a:pPr marL="190500" indent="-190500">
              <a:spcAft>
                <a:spcPts val="600"/>
              </a:spcAft>
              <a:buSzPct val="100000"/>
              <a:buChar char="•"/>
            </a:pPr>
            <a:r>
              <a:rPr lang="en-US" sz="1500" dirty="0">
                <a:solidFill>
                  <a:schemeClr val="tx1"/>
                </a:solidFill>
              </a:rPr>
              <a:t>N’ajouter aucune source contenant des données personnelles</a:t>
            </a:r>
            <a:endParaRPr lang="en-US" sz="1500" dirty="0"/>
          </a:p>
          <a:p>
            <a:pPr marL="190500" indent="-190500">
              <a:spcAft>
                <a:spcPts val="600"/>
              </a:spcAft>
              <a:buSzPct val="100000"/>
              <a:buChar char="•"/>
            </a:pPr>
            <a:r>
              <a:rPr lang="en-US" sz="1500" dirty="0">
                <a:solidFill>
                  <a:schemeClr val="tx1"/>
                </a:solidFill>
              </a:rPr>
              <a:t>Citer les licences : ODbL pour le référentiel IDFM, ODbL ou Licence Ouverte à confirmer pour les autres</a:t>
            </a:r>
            <a:endParaRPr lang="en-US" sz="1500" dirty="0"/>
          </a:p>
        </p:txBody>
      </p:sp>
      <p:sp>
        <p:nvSpPr>
          <p:cNvPr id="10" name="Carte Limites de l’étude"/>
          <p:cNvSpPr/>
          <p:nvPr/>
        </p:nvSpPr>
        <p:spPr>
          <a:xfrm>
            <a:off x="6233008" y="1371600"/>
            <a:ext cx="5410048" cy="4754880"/>
          </a:xfrm>
          <a:prstGeom prst="roundRect">
            <a:avLst>
              <a:gd name="adj" fmla="val 1923"/>
            </a:avLst>
          </a:prstGeom>
          <a:solidFill>
            <a:schemeClr val="bg2"/>
          </a:solidFill>
          <a:ln/>
        </p:spPr>
      </p:sp>
      <p:sp>
        <p:nvSpPr>
          <p:cNvPr id="11" name="Icône Limites de l’étude"/>
          <p:cNvSpPr/>
          <p:nvPr/>
        </p:nvSpPr>
        <p:spPr>
          <a:xfrm>
            <a:off x="6598768" y="1691640"/>
            <a:ext cx="731520" cy="731520"/>
          </a:xfrm>
          <a:prstGeom prst="ellipse">
            <a:avLst/>
          </a:prstGeom>
          <a:solidFill>
            <a:schemeClr val="accent2"/>
          </a:solidFill>
          <a:ln/>
        </p:spPr>
      </p:sp>
      <p:pic>
        <p:nvPicPr>
          <p:cNvPr id="12" name="Image 1" descr="preencoded.png">    </p:cNvPr>
          <p:cNvPicPr>
            <a:picLocks noChangeAspect="1"/>
          </p:cNvPicPr>
          <p:nvPr/>
        </p:nvPicPr>
        <p:blipFill>
          <a:blip r:embed="rId2"/>
          <a:stretch>
            <a:fillRect/>
          </a:stretch>
        </p:blipFill>
        <p:spPr>
          <a:xfrm>
            <a:off x="6781648" y="1874520"/>
            <a:ext cx="365760" cy="365760"/>
          </a:xfrm>
          <a:prstGeom prst="rect">
            <a:avLst/>
          </a:prstGeom>
        </p:spPr>
      </p:pic>
      <p:sp>
        <p:nvSpPr>
          <p:cNvPr id="13" name="Text 9"/>
          <p:cNvSpPr txBox="1"/>
          <p:nvPr/>
        </p:nvSpPr>
        <p:spPr>
          <a:xfrm>
            <a:off x="7558888" y="1691640"/>
            <a:ext cx="3764128" cy="731520"/>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Limites de l’étude</a:t>
            </a:r>
            <a:endParaRPr lang="en-US" sz="2200" dirty="0"/>
          </a:p>
        </p:txBody>
      </p:sp>
      <p:sp>
        <p:nvSpPr>
          <p:cNvPr id="14" name="Text 10"/>
          <p:cNvSpPr txBox="1"/>
          <p:nvPr/>
        </p:nvSpPr>
        <p:spPr>
          <a:xfrm>
            <a:off x="6598768" y="2697480"/>
            <a:ext cx="4678528" cy="1051560"/>
          </a:xfrm>
          <a:prstGeom prst="rect">
            <a:avLst/>
          </a:prstGeom>
          <a:noFill/>
          <a:ln/>
        </p:spPr>
        <p:txBody>
          <a:bodyPr wrap="square" lIns="0" tIns="0" rIns="0" bIns="0" rtlCol="0" anchor="t"/>
          <a:lstStyle/>
          <a:p>
            <a:pPr indent="0" marL="0">
              <a:buNone/>
            </a:pPr>
            <a:r>
              <a:rPr lang="en-US" sz="1600" dirty="0">
                <a:solidFill>
                  <a:schemeClr val="tx2"/>
                </a:solidFill>
              </a:rPr>
              <a:t>Une semaine d’historique, un seul point météo, quota Open-Meteo, quota PRIM de 1 000 appels/jour (29 % utilisés). Corrélation ≠ causalité.</a:t>
            </a:r>
            <a:endParaRPr lang="en-US" sz="1600" dirty="0"/>
          </a:p>
        </p:txBody>
      </p:sp>
      <p:sp>
        <p:nvSpPr>
          <p:cNvPr id="15" name="Text 11"/>
          <p:cNvSpPr txBox="1"/>
          <p:nvPr/>
        </p:nvSpPr>
        <p:spPr>
          <a:xfrm>
            <a:off x="6598768" y="3886200"/>
            <a:ext cx="27432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PARADE</a:t>
            </a:r>
            <a:endParaRPr lang="en-US" sz="1100" dirty="0"/>
          </a:p>
        </p:txBody>
      </p:sp>
      <p:sp>
        <p:nvSpPr>
          <p:cNvPr id="16" name="Text 12"/>
          <p:cNvSpPr txBox="1"/>
          <p:nvPr/>
        </p:nvSpPr>
        <p:spPr>
          <a:xfrm>
            <a:off x="6598768" y="4206240"/>
            <a:ext cx="4678528" cy="1737360"/>
          </a:xfrm>
          <a:prstGeom prst="rect">
            <a:avLst/>
          </a:prstGeom>
          <a:noFill/>
          <a:ln/>
        </p:spPr>
        <p:txBody>
          <a:bodyPr wrap="square" lIns="0" tIns="0" rIns="0" bIns="0" rtlCol="0" anchor="t"/>
          <a:lstStyle/>
          <a:p>
            <a:pPr marL="190500" indent="-190500">
              <a:spcAft>
                <a:spcPts val="600"/>
              </a:spcAft>
              <a:buSzPct val="100000"/>
              <a:buChar char="•"/>
            </a:pPr>
            <a:r>
              <a:rPr lang="en-US" sz="1500" dirty="0">
                <a:solidFill>
                  <a:schemeClr val="tx1"/>
                </a:solidFill>
              </a:rPr>
              <a:t>Annoncer ces limites dans les conclusions</a:t>
            </a:r>
            <a:endParaRPr lang="en-US" sz="1500" dirty="0"/>
          </a:p>
          <a:p>
            <a:pPr marL="190500" indent="-190500">
              <a:spcAft>
                <a:spcPts val="600"/>
              </a:spcAft>
              <a:buSzPct val="100000"/>
              <a:buChar char="•"/>
            </a:pPr>
            <a:r>
              <a:rPr lang="en-US" sz="1500" dirty="0">
                <a:solidFill>
                  <a:schemeClr val="tx1"/>
                </a:solidFill>
              </a:rPr>
              <a:t>Limiter les appels météo à un par jour</a:t>
            </a:r>
            <a:endParaRPr lang="en-US" sz="1500" dirty="0"/>
          </a:p>
          <a:p>
            <a:pPr marL="190500" indent="-190500">
              <a:spcAft>
                <a:spcPts val="600"/>
              </a:spcAft>
              <a:buSzPct val="100000"/>
              <a:buChar char="•"/>
            </a:pPr>
            <a:r>
              <a:rPr lang="en-US" sz="1500" dirty="0">
                <a:solidFill>
                  <a:schemeClr val="tx1"/>
                </a:solidFill>
              </a:rPr>
              <a:t>Lancer la collecte dès le premier jour</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Un budget étudiant sous contrôle</a:t>
            </a:r>
            <a:endParaRPr lang="en-US" sz="3400" dirty="0"/>
          </a:p>
        </p:txBody>
      </p:sp>
      <p:sp>
        <p:nvSpPr>
          <p:cNvPr id="3" name="Text 1"/>
          <p:cNvSpPr txBox="1"/>
          <p:nvPr/>
        </p:nvSpPr>
        <p:spPr>
          <a:xfrm>
            <a:off x="548640" y="1325880"/>
            <a:ext cx="11094415" cy="731520"/>
          </a:xfrm>
          <a:prstGeom prst="rect">
            <a:avLst/>
          </a:prstGeom>
          <a:noFill/>
          <a:ln/>
        </p:spPr>
        <p:txBody>
          <a:bodyPr wrap="square" lIns="0" tIns="0" rIns="0" bIns="0" rtlCol="0" anchor="t"/>
          <a:lstStyle/>
          <a:p>
            <a:pPr indent="0" marL="0">
              <a:buNone/>
            </a:pPr>
            <a:r>
              <a:rPr lang="en-US" sz="1800" dirty="0">
                <a:solidFill>
                  <a:schemeClr val="tx2"/>
                </a:solidFill>
              </a:rPr>
              <a:t>Stockage quasi gratuit à ce volume (≈ 550 Mo/jour brut, ≈ 4 Go sur la semaine, bien moins en Parquet) : le vrai risque est un service de calcul laissé allumé.</a:t>
            </a:r>
            <a:endParaRPr lang="en-US" sz="1800" dirty="0"/>
          </a:p>
        </p:txBody>
      </p:sp>
      <p:sp>
        <p:nvSpPr>
          <p:cNvPr id="4" name="Jauge crédit"/>
          <p:cNvSpPr/>
          <p:nvPr/>
        </p:nvSpPr>
        <p:spPr>
          <a:xfrm>
            <a:off x="548640" y="2880360"/>
            <a:ext cx="11094415" cy="502920"/>
          </a:xfrm>
          <a:prstGeom prst="rect">
            <a:avLst/>
          </a:prstGeom>
          <a:solidFill>
            <a:schemeClr val="bg1"/>
          </a:solidFill>
          <a:ln/>
        </p:spPr>
      </p:sp>
      <p:sp>
        <p:nvSpPr>
          <p:cNvPr id="5" name="Estimation 5-15 $"/>
          <p:cNvSpPr/>
          <p:nvPr/>
        </p:nvSpPr>
        <p:spPr>
          <a:xfrm>
            <a:off x="1103361" y="2880360"/>
            <a:ext cx="1109442" cy="502920"/>
          </a:xfrm>
          <a:prstGeom prst="rect">
            <a:avLst/>
          </a:prstGeom>
          <a:solidFill>
            <a:schemeClr val="accent1"/>
          </a:solidFill>
          <a:ln/>
        </p:spPr>
      </p:sp>
      <p:sp>
        <p:nvSpPr>
          <p:cNvPr id="6" name="Text 4"/>
          <p:cNvSpPr txBox="1"/>
          <p:nvPr/>
        </p:nvSpPr>
        <p:spPr>
          <a:xfrm>
            <a:off x="1103361" y="2377440"/>
            <a:ext cx="4114800" cy="365760"/>
          </a:xfrm>
          <a:prstGeom prst="rect">
            <a:avLst/>
          </a:prstGeom>
          <a:noFill/>
          <a:ln/>
        </p:spPr>
        <p:txBody>
          <a:bodyPr wrap="square" lIns="0" tIns="0" rIns="0" bIns="0" rtlCol="0" anchor="t"/>
          <a:lstStyle/>
          <a:p>
            <a:pPr indent="0" marL="0">
              <a:buNone/>
            </a:pPr>
            <a:r>
              <a:rPr lang="en-US" sz="1600" b="1" dirty="0">
                <a:solidFill>
                  <a:schemeClr val="accent1"/>
                </a:solidFill>
              </a:rPr>
              <a:t>Estimation : 5 à 15 $</a:t>
            </a:r>
            <a:pPr indent="0" marL="0">
              <a:buNone/>
            </a:pPr>
            <a:r>
              <a:rPr lang="en-US" sz="1600" dirty="0">
                <a:solidFill>
                  <a:schemeClr val="tx2"/>
                </a:solidFill>
              </a:rPr>
              <a:t> sur la semaine</a:t>
            </a:r>
            <a:endParaRPr lang="en-US" sz="1600" dirty="0"/>
          </a:p>
        </p:txBody>
      </p:sp>
      <p:sp>
        <p:nvSpPr>
          <p:cNvPr id="7" name="Seuil 20"/>
          <p:cNvSpPr/>
          <p:nvPr/>
        </p:nvSpPr>
        <p:spPr>
          <a:xfrm>
            <a:off x="2767523" y="2743200"/>
            <a:ext cx="0" cy="777240"/>
          </a:xfrm>
          <a:prstGeom prst="line">
            <a:avLst/>
          </a:prstGeom>
          <a:noFill/>
          <a:ln w="31750">
            <a:solidFill>
              <a:schemeClr val="accent3"/>
            </a:solidFill>
            <a:prstDash val="solid"/>
          </a:ln>
        </p:spPr>
      </p:sp>
      <p:sp>
        <p:nvSpPr>
          <p:cNvPr id="8" name="Text 6"/>
          <p:cNvSpPr txBox="1"/>
          <p:nvPr/>
        </p:nvSpPr>
        <p:spPr>
          <a:xfrm>
            <a:off x="2036003" y="3584448"/>
            <a:ext cx="1463040" cy="320040"/>
          </a:xfrm>
          <a:prstGeom prst="rect">
            <a:avLst/>
          </a:prstGeom>
          <a:noFill/>
          <a:ln/>
        </p:spPr>
        <p:txBody>
          <a:bodyPr wrap="square" lIns="0" tIns="0" rIns="0" bIns="0" rtlCol="0" anchor="t"/>
          <a:lstStyle/>
          <a:p>
            <a:pPr algn="ctr" indent="0" marL="0">
              <a:buNone/>
            </a:pPr>
            <a:r>
              <a:rPr lang="en-US" sz="1400" b="1" dirty="0">
                <a:solidFill>
                  <a:schemeClr val="tx1"/>
                </a:solidFill>
              </a:rPr>
              <a:t>Alerte 20 $</a:t>
            </a:r>
            <a:endParaRPr lang="en-US" sz="1400" dirty="0"/>
          </a:p>
        </p:txBody>
      </p:sp>
      <p:sp>
        <p:nvSpPr>
          <p:cNvPr id="9" name="Seuil 50"/>
          <p:cNvSpPr/>
          <p:nvPr/>
        </p:nvSpPr>
        <p:spPr>
          <a:xfrm>
            <a:off x="6095848" y="2743200"/>
            <a:ext cx="0" cy="777240"/>
          </a:xfrm>
          <a:prstGeom prst="line">
            <a:avLst/>
          </a:prstGeom>
          <a:noFill/>
          <a:ln w="31750">
            <a:solidFill>
              <a:schemeClr val="accent3"/>
            </a:solidFill>
            <a:prstDash val="solid"/>
          </a:ln>
        </p:spPr>
      </p:sp>
      <p:sp>
        <p:nvSpPr>
          <p:cNvPr id="10" name="Text 8"/>
          <p:cNvSpPr txBox="1"/>
          <p:nvPr/>
        </p:nvSpPr>
        <p:spPr>
          <a:xfrm>
            <a:off x="5364328" y="3584448"/>
            <a:ext cx="1463040" cy="320040"/>
          </a:xfrm>
          <a:prstGeom prst="rect">
            <a:avLst/>
          </a:prstGeom>
          <a:noFill/>
          <a:ln/>
        </p:spPr>
        <p:txBody>
          <a:bodyPr wrap="square" lIns="0" tIns="0" rIns="0" bIns="0" rtlCol="0" anchor="t"/>
          <a:lstStyle/>
          <a:p>
            <a:pPr algn="ctr" indent="0" marL="0">
              <a:buNone/>
            </a:pPr>
            <a:r>
              <a:rPr lang="en-US" sz="1400" b="1" dirty="0">
                <a:solidFill>
                  <a:schemeClr val="tx1"/>
                </a:solidFill>
              </a:rPr>
              <a:t>Alerte 50 $</a:t>
            </a:r>
            <a:endParaRPr lang="en-US" sz="1400" dirty="0"/>
          </a:p>
        </p:txBody>
      </p:sp>
      <p:sp>
        <p:nvSpPr>
          <p:cNvPr id="11" name="Seuil 80"/>
          <p:cNvSpPr/>
          <p:nvPr/>
        </p:nvSpPr>
        <p:spPr>
          <a:xfrm>
            <a:off x="9424172" y="2743200"/>
            <a:ext cx="0" cy="777240"/>
          </a:xfrm>
          <a:prstGeom prst="line">
            <a:avLst/>
          </a:prstGeom>
          <a:noFill/>
          <a:ln w="31750">
            <a:solidFill>
              <a:schemeClr val="accent3"/>
            </a:solidFill>
            <a:prstDash val="solid"/>
          </a:ln>
        </p:spPr>
      </p:sp>
      <p:sp>
        <p:nvSpPr>
          <p:cNvPr id="12" name="Text 10"/>
          <p:cNvSpPr txBox="1"/>
          <p:nvPr/>
        </p:nvSpPr>
        <p:spPr>
          <a:xfrm>
            <a:off x="8692652" y="3584448"/>
            <a:ext cx="1463040" cy="320040"/>
          </a:xfrm>
          <a:prstGeom prst="rect">
            <a:avLst/>
          </a:prstGeom>
          <a:noFill/>
          <a:ln/>
        </p:spPr>
        <p:txBody>
          <a:bodyPr wrap="square" lIns="0" tIns="0" rIns="0" bIns="0" rtlCol="0" anchor="t"/>
          <a:lstStyle/>
          <a:p>
            <a:pPr algn="ctr" indent="0" marL="0">
              <a:buNone/>
            </a:pPr>
            <a:r>
              <a:rPr lang="en-US" sz="1400" b="1" dirty="0">
                <a:solidFill>
                  <a:schemeClr val="tx1"/>
                </a:solidFill>
              </a:rPr>
              <a:t>Alerte 80 $</a:t>
            </a:r>
            <a:endParaRPr lang="en-US" sz="1400" dirty="0"/>
          </a:p>
        </p:txBody>
      </p:sp>
      <p:sp>
        <p:nvSpPr>
          <p:cNvPr id="13" name="Text 11"/>
          <p:cNvSpPr txBox="1"/>
          <p:nvPr/>
        </p:nvSpPr>
        <p:spPr>
          <a:xfrm>
            <a:off x="548640" y="3584448"/>
            <a:ext cx="731520" cy="320040"/>
          </a:xfrm>
          <a:prstGeom prst="rect">
            <a:avLst/>
          </a:prstGeom>
          <a:noFill/>
          <a:ln/>
        </p:spPr>
        <p:txBody>
          <a:bodyPr wrap="square" lIns="0" tIns="0" rIns="0" bIns="0" rtlCol="0" anchor="t"/>
          <a:lstStyle/>
          <a:p>
            <a:pPr indent="0" marL="0">
              <a:buNone/>
            </a:pPr>
            <a:r>
              <a:rPr lang="en-US" sz="1400" dirty="0">
                <a:solidFill>
                  <a:schemeClr val="tx2"/>
                </a:solidFill>
              </a:rPr>
              <a:t>0 $</a:t>
            </a:r>
            <a:endParaRPr lang="en-US" sz="1400" dirty="0"/>
          </a:p>
        </p:txBody>
      </p:sp>
      <p:sp>
        <p:nvSpPr>
          <p:cNvPr id="14" name="Text 12"/>
          <p:cNvSpPr txBox="1"/>
          <p:nvPr/>
        </p:nvSpPr>
        <p:spPr>
          <a:xfrm>
            <a:off x="9814255" y="3584448"/>
            <a:ext cx="1828800" cy="320040"/>
          </a:xfrm>
          <a:prstGeom prst="rect">
            <a:avLst/>
          </a:prstGeom>
          <a:noFill/>
          <a:ln/>
        </p:spPr>
        <p:txBody>
          <a:bodyPr wrap="square" lIns="0" tIns="0" rIns="0" bIns="0" rtlCol="0" anchor="t"/>
          <a:lstStyle/>
          <a:p>
            <a:pPr algn="r" indent="0" marL="0">
              <a:buNone/>
            </a:pPr>
            <a:r>
              <a:rPr lang="en-US" sz="1400" b="1" dirty="0">
                <a:solidFill>
                  <a:schemeClr val="tx2"/>
                </a:solidFill>
              </a:rPr>
              <a:t>100 $ de crédit</a:t>
            </a:r>
            <a:endParaRPr lang="en-US" sz="1400" dirty="0"/>
          </a:p>
        </p:txBody>
      </p:sp>
      <p:sp>
        <p:nvSpPr>
          <p:cNvPr id="15" name="Parade coût 1"/>
          <p:cNvSpPr/>
          <p:nvPr/>
        </p:nvSpPr>
        <p:spPr>
          <a:xfrm>
            <a:off x="548640" y="4206240"/>
            <a:ext cx="3515258" cy="1554480"/>
          </a:xfrm>
          <a:prstGeom prst="roundRect">
            <a:avLst>
              <a:gd name="adj" fmla="val 5882"/>
            </a:avLst>
          </a:prstGeom>
          <a:solidFill>
            <a:schemeClr val="bg1"/>
          </a:solidFill>
          <a:ln/>
          <a:effectLst>
            <a:outerShdw sx="100000" sy="100000" kx="0" ky="0" algn="bl" rotWithShape="0" blurRad="127000" dist="25400" dir="5400000">
              <a:srgbClr val="102A2C">
                <a:alpha val="12000"/>
              </a:srgbClr>
            </a:outerShdw>
          </a:effectLst>
        </p:spPr>
      </p:sp>
      <p:sp>
        <p:nvSpPr>
          <p:cNvPr id="16" name="Icône Pas de cluster permanent"/>
          <p:cNvSpPr/>
          <p:nvPr/>
        </p:nvSpPr>
        <p:spPr>
          <a:xfrm>
            <a:off x="822960" y="4636008"/>
            <a:ext cx="685800" cy="685800"/>
          </a:xfrm>
          <a:prstGeom prst="ellipse">
            <a:avLst/>
          </a:prstGeom>
          <a:solidFill>
            <a:schemeClr val="accent4"/>
          </a:solidFill>
          <a:ln/>
        </p:spPr>
      </p:sp>
      <p:pic>
        <p:nvPicPr>
          <p:cNvPr id="17" name="Image 0" descr="preencoded.png">    </p:cNvPr>
          <p:cNvPicPr>
            <a:picLocks noChangeAspect="1"/>
          </p:cNvPicPr>
          <p:nvPr/>
        </p:nvPicPr>
        <p:blipFill>
          <a:blip r:embed="rId1"/>
          <a:stretch>
            <a:fillRect/>
          </a:stretch>
        </p:blipFill>
        <p:spPr>
          <a:xfrm>
            <a:off x="994410" y="4807458"/>
            <a:ext cx="342900" cy="342900"/>
          </a:xfrm>
          <a:prstGeom prst="rect">
            <a:avLst/>
          </a:prstGeom>
        </p:spPr>
      </p:pic>
      <p:sp>
        <p:nvSpPr>
          <p:cNvPr id="18" name="Text 15"/>
          <p:cNvSpPr txBox="1"/>
          <p:nvPr/>
        </p:nvSpPr>
        <p:spPr>
          <a:xfrm>
            <a:off x="1691640" y="4343400"/>
            <a:ext cx="2189378" cy="566928"/>
          </a:xfrm>
          <a:prstGeom prst="rect">
            <a:avLst/>
          </a:prstGeom>
          <a:noFill/>
          <a:ln/>
        </p:spPr>
        <p:txBody>
          <a:bodyPr wrap="square" lIns="0" tIns="0" rIns="0" bIns="0" rtlCol="0" anchor="b"/>
          <a:lstStyle/>
          <a:p>
            <a:pPr indent="0" marL="0">
              <a:buNone/>
            </a:pPr>
            <a:r>
              <a:rPr lang="en-US" sz="1600" b="1" dirty="0">
                <a:solidFill>
                  <a:schemeClr val="tx1"/>
                </a:solidFill>
                <a:latin typeface="+mj-lt" pitchFamily="34" charset="0"/>
                <a:ea typeface="+mj-lt" pitchFamily="34" charset="-122"/>
                <a:cs typeface="+mj-lt" pitchFamily="34" charset="-120"/>
              </a:rPr>
              <a:t>Pas de cluster permanent</a:t>
            </a:r>
            <a:endParaRPr lang="en-US" sz="1600" dirty="0"/>
          </a:p>
        </p:txBody>
      </p:sp>
      <p:sp>
        <p:nvSpPr>
          <p:cNvPr id="19" name="Text 16"/>
          <p:cNvSpPr txBox="1"/>
          <p:nvPr/>
        </p:nvSpPr>
        <p:spPr>
          <a:xfrm>
            <a:off x="1691640" y="4956048"/>
            <a:ext cx="2189378" cy="640080"/>
          </a:xfrm>
          <a:prstGeom prst="rect">
            <a:avLst/>
          </a:prstGeom>
          <a:noFill/>
          <a:ln/>
        </p:spPr>
        <p:txBody>
          <a:bodyPr wrap="square" lIns="0" tIns="0" rIns="0" bIns="0" rtlCol="0" anchor="t"/>
          <a:lstStyle/>
          <a:p>
            <a:pPr indent="0" marL="0">
              <a:buNone/>
            </a:pPr>
            <a:r>
              <a:rPr lang="en-US" sz="1400" dirty="0">
                <a:solidFill>
                  <a:schemeClr val="tx2"/>
                </a:solidFill>
              </a:rPr>
              <a:t>Le calcul ne tourne qu’à la demande</a:t>
            </a:r>
            <a:endParaRPr lang="en-US" sz="1400" dirty="0"/>
          </a:p>
        </p:txBody>
      </p:sp>
      <p:sp>
        <p:nvSpPr>
          <p:cNvPr id="20" name="Parade coût 2"/>
          <p:cNvSpPr/>
          <p:nvPr/>
        </p:nvSpPr>
        <p:spPr>
          <a:xfrm>
            <a:off x="4338218" y="4206240"/>
            <a:ext cx="3515258" cy="1554480"/>
          </a:xfrm>
          <a:prstGeom prst="roundRect">
            <a:avLst>
              <a:gd name="adj" fmla="val 5882"/>
            </a:avLst>
          </a:prstGeom>
          <a:solidFill>
            <a:schemeClr val="bg1"/>
          </a:solidFill>
          <a:ln/>
          <a:effectLst>
            <a:outerShdw sx="100000" sy="100000" kx="0" ky="0" algn="bl" rotWithShape="0" blurRad="127000" dist="25400" dir="5400000">
              <a:srgbClr val="102A2C">
                <a:alpha val="12000"/>
              </a:srgbClr>
            </a:outerShdw>
          </a:effectLst>
        </p:spPr>
      </p:sp>
      <p:sp>
        <p:nvSpPr>
          <p:cNvPr id="21" name="Icône Alertes de budget"/>
          <p:cNvSpPr/>
          <p:nvPr/>
        </p:nvSpPr>
        <p:spPr>
          <a:xfrm>
            <a:off x="4612538" y="4636008"/>
            <a:ext cx="685800" cy="685800"/>
          </a:xfrm>
          <a:prstGeom prst="ellipse">
            <a:avLst/>
          </a:prstGeom>
          <a:solidFill>
            <a:schemeClr val="accent3"/>
          </a:solidFill>
          <a:ln/>
        </p:spPr>
      </p:sp>
      <p:pic>
        <p:nvPicPr>
          <p:cNvPr id="22" name="Image 1" descr="preencoded.png">    </p:cNvPr>
          <p:cNvPicPr>
            <a:picLocks noChangeAspect="1"/>
          </p:cNvPicPr>
          <p:nvPr/>
        </p:nvPicPr>
        <p:blipFill>
          <a:blip r:embed="rId2"/>
          <a:stretch>
            <a:fillRect/>
          </a:stretch>
        </p:blipFill>
        <p:spPr>
          <a:xfrm>
            <a:off x="4783988" y="4807458"/>
            <a:ext cx="342900" cy="342900"/>
          </a:xfrm>
          <a:prstGeom prst="rect">
            <a:avLst/>
          </a:prstGeom>
        </p:spPr>
      </p:pic>
      <p:sp>
        <p:nvSpPr>
          <p:cNvPr id="23" name="Text 19"/>
          <p:cNvSpPr txBox="1"/>
          <p:nvPr/>
        </p:nvSpPr>
        <p:spPr>
          <a:xfrm>
            <a:off x="5481218" y="4343400"/>
            <a:ext cx="2189378" cy="566928"/>
          </a:xfrm>
          <a:prstGeom prst="rect">
            <a:avLst/>
          </a:prstGeom>
          <a:noFill/>
          <a:ln/>
        </p:spPr>
        <p:txBody>
          <a:bodyPr wrap="square" lIns="0" tIns="0" rIns="0" bIns="0" rtlCol="0" anchor="b"/>
          <a:lstStyle/>
          <a:p>
            <a:pPr indent="0" marL="0">
              <a:buNone/>
            </a:pPr>
            <a:r>
              <a:rPr lang="en-US" sz="1600" b="1" dirty="0">
                <a:solidFill>
                  <a:schemeClr val="tx1"/>
                </a:solidFill>
                <a:latin typeface="+mj-lt" pitchFamily="34" charset="0"/>
                <a:ea typeface="+mj-lt" pitchFamily="34" charset="-122"/>
                <a:cs typeface="+mj-lt" pitchFamily="34" charset="-120"/>
              </a:rPr>
              <a:t>Alertes de budget</a:t>
            </a:r>
            <a:endParaRPr lang="en-US" sz="1600" dirty="0"/>
          </a:p>
        </p:txBody>
      </p:sp>
      <p:sp>
        <p:nvSpPr>
          <p:cNvPr id="24" name="Text 20"/>
          <p:cNvSpPr txBox="1"/>
          <p:nvPr/>
        </p:nvSpPr>
        <p:spPr>
          <a:xfrm>
            <a:off x="5481218" y="4956048"/>
            <a:ext cx="2189378" cy="640080"/>
          </a:xfrm>
          <a:prstGeom prst="rect">
            <a:avLst/>
          </a:prstGeom>
          <a:noFill/>
          <a:ln/>
        </p:spPr>
        <p:txBody>
          <a:bodyPr wrap="square" lIns="0" tIns="0" rIns="0" bIns="0" rtlCol="0" anchor="t"/>
          <a:lstStyle/>
          <a:p>
            <a:pPr indent="0" marL="0">
              <a:buNone/>
            </a:pPr>
            <a:r>
              <a:rPr lang="en-US" sz="1400" dirty="0">
                <a:solidFill>
                  <a:schemeClr val="tx2"/>
                </a:solidFill>
              </a:rPr>
              <a:t>Seuils à 20 $, 50 $ et 80 $</a:t>
            </a:r>
            <a:endParaRPr lang="en-US" sz="1400" dirty="0"/>
          </a:p>
        </p:txBody>
      </p:sp>
      <p:sp>
        <p:nvSpPr>
          <p:cNvPr id="25" name="Parade coût 3"/>
          <p:cNvSpPr/>
          <p:nvPr/>
        </p:nvSpPr>
        <p:spPr>
          <a:xfrm>
            <a:off x="8127797" y="4206240"/>
            <a:ext cx="3515258" cy="1554480"/>
          </a:xfrm>
          <a:prstGeom prst="roundRect">
            <a:avLst>
              <a:gd name="adj" fmla="val 5882"/>
            </a:avLst>
          </a:prstGeom>
          <a:solidFill>
            <a:schemeClr val="bg1"/>
          </a:solidFill>
          <a:ln/>
          <a:effectLst>
            <a:outerShdw sx="100000" sy="100000" kx="0" ky="0" algn="bl" rotWithShape="0" blurRad="127000" dist="25400" dir="5400000">
              <a:srgbClr val="102A2C">
                <a:alpha val="12000"/>
              </a:srgbClr>
            </a:outerShdw>
          </a:effectLst>
        </p:spPr>
      </p:sp>
      <p:sp>
        <p:nvSpPr>
          <p:cNvPr id="26" name="Icône Un seul groupe de ressources"/>
          <p:cNvSpPr/>
          <p:nvPr/>
        </p:nvSpPr>
        <p:spPr>
          <a:xfrm>
            <a:off x="8402117" y="4636008"/>
            <a:ext cx="685800" cy="685800"/>
          </a:xfrm>
          <a:prstGeom prst="ellipse">
            <a:avLst/>
          </a:prstGeom>
          <a:solidFill>
            <a:schemeClr val="accent2"/>
          </a:solidFill>
          <a:ln/>
        </p:spPr>
      </p:sp>
      <p:pic>
        <p:nvPicPr>
          <p:cNvPr id="27" name="Image 2" descr="preencoded.png">    </p:cNvPr>
          <p:cNvPicPr>
            <a:picLocks noChangeAspect="1"/>
          </p:cNvPicPr>
          <p:nvPr/>
        </p:nvPicPr>
        <p:blipFill>
          <a:blip r:embed="rId3"/>
          <a:stretch>
            <a:fillRect/>
          </a:stretch>
        </p:blipFill>
        <p:spPr>
          <a:xfrm>
            <a:off x="8573567" y="4807458"/>
            <a:ext cx="342900" cy="342900"/>
          </a:xfrm>
          <a:prstGeom prst="rect">
            <a:avLst/>
          </a:prstGeom>
        </p:spPr>
      </p:pic>
      <p:sp>
        <p:nvSpPr>
          <p:cNvPr id="28" name="Text 23"/>
          <p:cNvSpPr txBox="1"/>
          <p:nvPr/>
        </p:nvSpPr>
        <p:spPr>
          <a:xfrm>
            <a:off x="9270797" y="4343400"/>
            <a:ext cx="2189378" cy="566928"/>
          </a:xfrm>
          <a:prstGeom prst="rect">
            <a:avLst/>
          </a:prstGeom>
          <a:noFill/>
          <a:ln/>
        </p:spPr>
        <p:txBody>
          <a:bodyPr wrap="square" lIns="0" tIns="0" rIns="0" bIns="0" rtlCol="0" anchor="b"/>
          <a:lstStyle/>
          <a:p>
            <a:pPr indent="0" marL="0">
              <a:buNone/>
            </a:pPr>
            <a:r>
              <a:rPr lang="en-US" sz="1600" b="1" dirty="0">
                <a:solidFill>
                  <a:schemeClr val="tx1"/>
                </a:solidFill>
                <a:latin typeface="+mj-lt" pitchFamily="34" charset="0"/>
                <a:ea typeface="+mj-lt" pitchFamily="34" charset="-122"/>
                <a:cs typeface="+mj-lt" pitchFamily="34" charset="-120"/>
              </a:rPr>
              <a:t>Un seul groupe de ressources</a:t>
            </a:r>
            <a:endParaRPr lang="en-US" sz="1600" dirty="0"/>
          </a:p>
        </p:txBody>
      </p:sp>
      <p:sp>
        <p:nvSpPr>
          <p:cNvPr id="29" name="Text 24"/>
          <p:cNvSpPr txBox="1"/>
          <p:nvPr/>
        </p:nvSpPr>
        <p:spPr>
          <a:xfrm>
            <a:off x="9270797" y="4956048"/>
            <a:ext cx="2189378" cy="640080"/>
          </a:xfrm>
          <a:prstGeom prst="rect">
            <a:avLst/>
          </a:prstGeom>
          <a:noFill/>
          <a:ln/>
        </p:spPr>
        <p:txBody>
          <a:bodyPr wrap="square" lIns="0" tIns="0" rIns="0" bIns="0" rtlCol="0" anchor="t"/>
          <a:lstStyle/>
          <a:p>
            <a:pPr indent="0" marL="0">
              <a:buNone/>
            </a:pPr>
            <a:r>
              <a:rPr lang="en-US" sz="1400" dirty="0">
                <a:solidFill>
                  <a:schemeClr val="tx2"/>
                </a:solidFill>
              </a:rPr>
              <a:t>Supprimé d’un coup en fin de projet</a:t>
            </a:r>
            <a:endParaRPr lang="en-US" sz="1400" dirty="0"/>
          </a:p>
        </p:txBody>
      </p:sp>
      <p:sp>
        <p:nvSpPr>
          <p:cNvPr id="30" name="Text 25"/>
          <p:cNvSpPr txBox="1"/>
          <p:nvPr/>
        </p:nvSpPr>
        <p:spPr>
          <a:xfrm>
            <a:off x="548640" y="5897880"/>
            <a:ext cx="11094415" cy="274320"/>
          </a:xfrm>
          <a:prstGeom prst="rect">
            <a:avLst/>
          </a:prstGeom>
          <a:noFill/>
          <a:ln/>
        </p:spPr>
        <p:txBody>
          <a:bodyPr wrap="square" lIns="0" tIns="0" rIns="0" bIns="0" rtlCol="0" anchor="t"/>
          <a:lstStyle/>
          <a:p>
            <a:pPr indent="0" marL="0">
              <a:buNone/>
            </a:pPr>
            <a:r>
              <a:rPr lang="en-US" sz="1100" i="1" dirty="0">
                <a:solidFill>
                  <a:schemeClr val="tx2"/>
                </a:solidFill>
              </a:rPr>
              <a:t>Estimation à confirmer avec le calculateur de prix Azure.</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rPr>
              <a:t>Prochaine étape : valider le cadrage</a:t>
            </a:r>
            <a:endParaRPr lang="en-US" sz="3400" dirty="0"/>
          </a:p>
        </p:txBody>
      </p:sp>
      <p:sp>
        <p:nvSpPr>
          <p:cNvPr id="3" name="Text 1"/>
          <p:cNvSpPr txBox="1"/>
          <p:nvPr/>
        </p:nvSpPr>
        <p:spPr>
          <a:xfrm>
            <a:off x="548640" y="1463040"/>
            <a:ext cx="5669280" cy="91440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1 519 / 1 519</a:t>
            </a:r>
            <a:endParaRPr lang="en-US" sz="5400" dirty="0"/>
          </a:p>
        </p:txBody>
      </p:sp>
      <p:sp>
        <p:nvSpPr>
          <p:cNvPr id="4" name="Text 2"/>
          <p:cNvSpPr txBox="1"/>
          <p:nvPr/>
        </p:nvSpPr>
        <p:spPr>
          <a:xfrm>
            <a:off x="548640" y="2377440"/>
            <a:ext cx="5303520" cy="411480"/>
          </a:xfrm>
          <a:prstGeom prst="rect">
            <a:avLst/>
          </a:prstGeom>
          <a:noFill/>
          <a:ln/>
        </p:spPr>
        <p:txBody>
          <a:bodyPr wrap="square" lIns="0" tIns="0" rIns="0" bIns="0" rtlCol="0" anchor="t"/>
          <a:lstStyle/>
          <a:p>
            <a:pPr indent="0" marL="0">
              <a:buNone/>
            </a:pPr>
            <a:r>
              <a:rPr lang="en-US" sz="1800" dirty="0">
                <a:solidFill>
                  <a:schemeClr val="bg1"/>
                </a:solidFill>
              </a:rPr>
              <a:t>stations Vélib’ jointes à la météo</a:t>
            </a:r>
            <a:endParaRPr lang="en-US" sz="1800" dirty="0"/>
          </a:p>
        </p:txBody>
      </p:sp>
      <p:sp>
        <p:nvSpPr>
          <p:cNvPr id="5" name="Text 3"/>
          <p:cNvSpPr txBox="1"/>
          <p:nvPr/>
        </p:nvSpPr>
        <p:spPr>
          <a:xfrm>
            <a:off x="548640" y="3063240"/>
            <a:ext cx="5669280" cy="91440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722 / 722</a:t>
            </a:r>
            <a:endParaRPr lang="en-US" sz="5400" dirty="0"/>
          </a:p>
        </p:txBody>
      </p:sp>
      <p:sp>
        <p:nvSpPr>
          <p:cNvPr id="6" name="Text 4"/>
          <p:cNvSpPr txBox="1"/>
          <p:nvPr/>
        </p:nvSpPr>
        <p:spPr>
          <a:xfrm>
            <a:off x="548640" y="3977640"/>
            <a:ext cx="5303520" cy="411480"/>
          </a:xfrm>
          <a:prstGeom prst="rect">
            <a:avLst/>
          </a:prstGeom>
          <a:noFill/>
          <a:ln/>
        </p:spPr>
        <p:txBody>
          <a:bodyPr wrap="square" lIns="0" tIns="0" rIns="0" bIns="0" rtlCol="0" anchor="t"/>
          <a:lstStyle/>
          <a:p>
            <a:pPr indent="0" marL="0">
              <a:buNone/>
            </a:pPr>
            <a:r>
              <a:rPr lang="en-US" sz="1800" dirty="0">
                <a:solidFill>
                  <a:schemeClr val="bg1"/>
                </a:solidFill>
              </a:rPr>
              <a:t>lignes perturbées retrouvées dans le référentiel IDFM</a:t>
            </a:r>
            <a:endParaRPr lang="en-US" sz="1800" dirty="0"/>
          </a:p>
        </p:txBody>
      </p:sp>
      <p:sp>
        <p:nvSpPr>
          <p:cNvPr id="7" name="Text 5"/>
          <p:cNvSpPr txBox="1"/>
          <p:nvPr/>
        </p:nvSpPr>
        <p:spPr>
          <a:xfrm>
            <a:off x="548640" y="4800600"/>
            <a:ext cx="5303520" cy="731520"/>
          </a:xfrm>
          <a:prstGeom prst="rect">
            <a:avLst/>
          </a:prstGeom>
          <a:noFill/>
          <a:ln/>
        </p:spPr>
        <p:txBody>
          <a:bodyPr wrap="square" lIns="0" tIns="0" rIns="0" bIns="0" rtlCol="0" anchor="t"/>
          <a:lstStyle/>
          <a:p>
            <a:pPr indent="0" marL="0">
              <a:buNone/>
            </a:pPr>
            <a:r>
              <a:rPr lang="en-US" sz="1500" dirty="0">
                <a:solidFill>
                  <a:schemeClr val="bg2"/>
                </a:solidFill>
              </a:rPr>
              <a:t>Les quatre sources principales ont été testées le 5 octobre 2026 : accès, format et jointures vérifiés.</a:t>
            </a:r>
            <a:endParaRPr lang="en-US" sz="1500" dirty="0"/>
          </a:p>
        </p:txBody>
      </p:sp>
      <p:sp>
        <p:nvSpPr>
          <p:cNvPr id="8" name="Étape 1"/>
          <p:cNvSpPr/>
          <p:nvPr/>
        </p:nvSpPr>
        <p:spPr>
          <a:xfrm>
            <a:off x="6675120" y="1600200"/>
            <a:ext cx="731520" cy="731520"/>
          </a:xfrm>
          <a:prstGeom prst="ellipse">
            <a:avLst/>
          </a:prstGeom>
          <a:solidFill>
            <a:schemeClr val="accent1"/>
          </a:solidFill>
          <a:ln/>
        </p:spPr>
      </p:sp>
      <p:sp>
        <p:nvSpPr>
          <p:cNvPr id="9" name="Text 7"/>
          <p:cNvSpPr txBox="1"/>
          <p:nvPr/>
        </p:nvSpPr>
        <p:spPr>
          <a:xfrm>
            <a:off x="6675120" y="160020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1</a:t>
            </a:r>
            <a:endParaRPr lang="en-US" sz="2600" dirty="0"/>
          </a:p>
        </p:txBody>
      </p:sp>
      <p:sp>
        <p:nvSpPr>
          <p:cNvPr id="10" name="Text 8"/>
          <p:cNvSpPr txBox="1"/>
          <p:nvPr/>
        </p:nvSpPr>
        <p:spPr>
          <a:xfrm>
            <a:off x="7635240" y="1581912"/>
            <a:ext cx="4007815" cy="4114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Valider la fiche de cadrage</a:t>
            </a:r>
            <a:endParaRPr lang="en-US" sz="2000" dirty="0"/>
          </a:p>
        </p:txBody>
      </p:sp>
      <p:sp>
        <p:nvSpPr>
          <p:cNvPr id="11" name="Text 9"/>
          <p:cNvSpPr txBox="1"/>
          <p:nvPr/>
        </p:nvSpPr>
        <p:spPr>
          <a:xfrm>
            <a:off x="7635240" y="2011680"/>
            <a:ext cx="4007815" cy="365760"/>
          </a:xfrm>
          <a:prstGeom prst="rect">
            <a:avLst/>
          </a:prstGeom>
          <a:noFill/>
          <a:ln/>
        </p:spPr>
        <p:txBody>
          <a:bodyPr wrap="square" lIns="0" tIns="0" rIns="0" bIns="0" rtlCol="0" anchor="t"/>
          <a:lstStyle/>
          <a:p>
            <a:pPr indent="0" marL="0">
              <a:buNone/>
            </a:pPr>
            <a:r>
              <a:rPr lang="en-US" sz="1500" dirty="0">
                <a:solidFill>
                  <a:schemeClr val="bg2"/>
                </a:solidFill>
              </a:rPr>
              <a:t>Avant de construire quoi que ce soit</a:t>
            </a:r>
            <a:endParaRPr lang="en-US" sz="1500" dirty="0"/>
          </a:p>
        </p:txBody>
      </p:sp>
      <p:sp>
        <p:nvSpPr>
          <p:cNvPr id="12" name="Étape 2"/>
          <p:cNvSpPr/>
          <p:nvPr/>
        </p:nvSpPr>
        <p:spPr>
          <a:xfrm>
            <a:off x="6675120" y="2971800"/>
            <a:ext cx="731520" cy="731520"/>
          </a:xfrm>
          <a:prstGeom prst="ellipse">
            <a:avLst/>
          </a:prstGeom>
          <a:solidFill>
            <a:schemeClr val="accent1"/>
          </a:solidFill>
          <a:ln/>
        </p:spPr>
      </p:sp>
      <p:sp>
        <p:nvSpPr>
          <p:cNvPr id="13" name="Text 11"/>
          <p:cNvSpPr txBox="1"/>
          <p:nvPr/>
        </p:nvSpPr>
        <p:spPr>
          <a:xfrm>
            <a:off x="6675120" y="297180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2</a:t>
            </a:r>
            <a:endParaRPr lang="en-US" sz="2600" dirty="0"/>
          </a:p>
        </p:txBody>
      </p:sp>
      <p:sp>
        <p:nvSpPr>
          <p:cNvPr id="14" name="Text 12"/>
          <p:cNvSpPr txBox="1"/>
          <p:nvPr/>
        </p:nvSpPr>
        <p:spPr>
          <a:xfrm>
            <a:off x="7635240" y="2953512"/>
            <a:ext cx="4007815" cy="4114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Lancer la collecte dès le jour 1</a:t>
            </a:r>
            <a:endParaRPr lang="en-US" sz="2000" dirty="0"/>
          </a:p>
        </p:txBody>
      </p:sp>
      <p:sp>
        <p:nvSpPr>
          <p:cNvPr id="15" name="Text 13"/>
          <p:cNvSpPr txBox="1"/>
          <p:nvPr/>
        </p:nvSpPr>
        <p:spPr>
          <a:xfrm>
            <a:off x="7635240" y="3383280"/>
            <a:ext cx="4007815" cy="365760"/>
          </a:xfrm>
          <a:prstGeom prst="rect">
            <a:avLst/>
          </a:prstGeom>
          <a:noFill/>
          <a:ln/>
        </p:spPr>
        <p:txBody>
          <a:bodyPr wrap="square" lIns="0" tIns="0" rIns="0" bIns="0" rtlCol="0" anchor="t"/>
          <a:lstStyle/>
          <a:p>
            <a:pPr indent="0" marL="0">
              <a:buNone/>
            </a:pPr>
            <a:r>
              <a:rPr lang="en-US" sz="1500" dirty="0">
                <a:solidFill>
                  <a:schemeClr val="bg2"/>
                </a:solidFill>
              </a:rPr>
              <a:t>Vélib’ et perturbations toutes les 5 min</a:t>
            </a:r>
            <a:endParaRPr lang="en-US" sz="1500" dirty="0"/>
          </a:p>
        </p:txBody>
      </p:sp>
      <p:sp>
        <p:nvSpPr>
          <p:cNvPr id="16" name="Étape 3"/>
          <p:cNvSpPr/>
          <p:nvPr/>
        </p:nvSpPr>
        <p:spPr>
          <a:xfrm>
            <a:off x="6675120" y="4343400"/>
            <a:ext cx="731520" cy="731520"/>
          </a:xfrm>
          <a:prstGeom prst="ellipse">
            <a:avLst/>
          </a:prstGeom>
          <a:solidFill>
            <a:schemeClr val="accent1"/>
          </a:solidFill>
          <a:ln/>
        </p:spPr>
      </p:sp>
      <p:sp>
        <p:nvSpPr>
          <p:cNvPr id="17" name="Text 15"/>
          <p:cNvSpPr txBox="1"/>
          <p:nvPr/>
        </p:nvSpPr>
        <p:spPr>
          <a:xfrm>
            <a:off x="6675120" y="434340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3</a:t>
            </a:r>
            <a:endParaRPr lang="en-US" sz="2600" dirty="0"/>
          </a:p>
        </p:txBody>
      </p:sp>
      <p:sp>
        <p:nvSpPr>
          <p:cNvPr id="18" name="Text 16"/>
          <p:cNvSpPr txBox="1"/>
          <p:nvPr/>
        </p:nvSpPr>
        <p:spPr>
          <a:xfrm>
            <a:off x="7635240" y="4325112"/>
            <a:ext cx="4007815" cy="4114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Construire Bronze, Silver, Gold</a:t>
            </a:r>
            <a:endParaRPr lang="en-US" sz="2000" dirty="0"/>
          </a:p>
        </p:txBody>
      </p:sp>
      <p:sp>
        <p:nvSpPr>
          <p:cNvPr id="19" name="Text 17"/>
          <p:cNvSpPr txBox="1"/>
          <p:nvPr/>
        </p:nvSpPr>
        <p:spPr>
          <a:xfrm>
            <a:off x="7635240" y="4754880"/>
            <a:ext cx="4007815" cy="365760"/>
          </a:xfrm>
          <a:prstGeom prst="rect">
            <a:avLst/>
          </a:prstGeom>
          <a:noFill/>
          <a:ln/>
        </p:spPr>
        <p:txBody>
          <a:bodyPr wrap="square" lIns="0" tIns="0" rIns="0" bIns="0" rtlCol="0" anchor="t"/>
          <a:lstStyle/>
          <a:p>
            <a:pPr indent="0" marL="0">
              <a:buNone/>
            </a:pPr>
            <a:r>
              <a:rPr lang="en-US" sz="1500" dirty="0">
                <a:solidFill>
                  <a:schemeClr val="bg2"/>
                </a:solidFill>
              </a:rPr>
              <a:t>Puis le tableau de bord Power BI au jour 7</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Velib Meteo">
  <a:themeElements>
    <a:clrScheme name="Velib Meteo">
      <a:dk1>
        <a:srgbClr val="102A2C"/>
      </a:dk1>
      <a:lt1>
        <a:srgbClr val="FFFFFF"/>
      </a:lt1>
      <a:dk2>
        <a:srgbClr val="1F4E4A"/>
      </a:dk2>
      <a:lt2>
        <a:srgbClr val="EDF4F1"/>
      </a:lt2>
      <a:accent1>
        <a:srgbClr val="1E9E6E"/>
      </a:accent1>
      <a:accent2>
        <a:srgbClr val="2F78C4"/>
      </a:accent2>
      <a:accent3>
        <a:srgbClr val="D9A23A"/>
      </a:accent3>
      <a:accent4>
        <a:srgbClr val="D2504A"/>
      </a:accent4>
      <a:accent5>
        <a:srgbClr val="B5743C"/>
      </a:accent5>
      <a:accent6>
        <a:srgbClr val="8C9AA0"/>
      </a:accent6>
      <a:hlink>
        <a:srgbClr val="2F78C4"/>
      </a:hlink>
      <a:folHlink>
        <a:srgbClr val="1F4E4A"/>
      </a:folHlink>
    </a:clrScheme>
    <a:fontScheme name="Velib Mete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Pénuries et saturations des stations Vélib’ : météo et pannes de transport</dc:title>
  <dc:subject>Fiche sujet – Datalake Azure (M2 Data)</dc:subject>
  <dc:creator>PptxGenJS</dc:creator>
  <cp:lastModifiedBy>PptxGenJS</cp:lastModifiedBy>
  <cp:revision>1</cp:revision>
  <dcterms:created xsi:type="dcterms:W3CDTF">2026-10-05T10:38:11Z</dcterms:created>
  <dcterms:modified xsi:type="dcterms:W3CDTF">2026-10-05T10:38:11Z</dcterms:modified>
</cp:coreProperties>
</file>